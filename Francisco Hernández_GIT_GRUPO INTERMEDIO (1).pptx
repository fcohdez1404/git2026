
<file path=[Content_Types].xml><?xml version="1.0" encoding="utf-8"?>
<Types xmlns="http://schemas.openxmlformats.org/package/2006/content-types">
  <Default Extension="bin" ContentType="image/unknown"/>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4"/>
  </p:sldMasterIdLst>
  <p:notesMasterIdLst>
    <p:notesMasterId r:id="rId59"/>
  </p:notesMasterIdLst>
  <p:sldIdLst>
    <p:sldId id="556" r:id="rId5"/>
    <p:sldId id="269" r:id="rId6"/>
    <p:sldId id="263" r:id="rId7"/>
    <p:sldId id="291" r:id="rId8"/>
    <p:sldId id="292" r:id="rId9"/>
    <p:sldId id="305" r:id="rId10"/>
    <p:sldId id="501" r:id="rId11"/>
    <p:sldId id="502" r:id="rId12"/>
    <p:sldId id="509" r:id="rId13"/>
    <p:sldId id="503" r:id="rId14"/>
    <p:sldId id="504" r:id="rId15"/>
    <p:sldId id="505" r:id="rId16"/>
    <p:sldId id="506" r:id="rId17"/>
    <p:sldId id="507" r:id="rId18"/>
    <p:sldId id="375" r:id="rId19"/>
    <p:sldId id="510" r:id="rId20"/>
    <p:sldId id="515" r:id="rId21"/>
    <p:sldId id="516" r:id="rId22"/>
    <p:sldId id="517" r:id="rId23"/>
    <p:sldId id="518" r:id="rId24"/>
    <p:sldId id="519" r:id="rId25"/>
    <p:sldId id="520" r:id="rId26"/>
    <p:sldId id="521" r:id="rId27"/>
    <p:sldId id="529" r:id="rId28"/>
    <p:sldId id="538" r:id="rId29"/>
    <p:sldId id="308" r:id="rId30"/>
    <p:sldId id="309" r:id="rId31"/>
    <p:sldId id="310" r:id="rId32"/>
    <p:sldId id="533" r:id="rId33"/>
    <p:sldId id="540" r:id="rId34"/>
    <p:sldId id="541" r:id="rId35"/>
    <p:sldId id="542" r:id="rId36"/>
    <p:sldId id="298" r:id="rId37"/>
    <p:sldId id="553" r:id="rId38"/>
    <p:sldId id="549" r:id="rId39"/>
    <p:sldId id="550" r:id="rId40"/>
    <p:sldId id="551" r:id="rId41"/>
    <p:sldId id="293" r:id="rId42"/>
    <p:sldId id="294" r:id="rId43"/>
    <p:sldId id="547" r:id="rId44"/>
    <p:sldId id="530" r:id="rId45"/>
    <p:sldId id="552" r:id="rId46"/>
    <p:sldId id="300" r:id="rId47"/>
    <p:sldId id="297" r:id="rId48"/>
    <p:sldId id="307" r:id="rId49"/>
    <p:sldId id="306" r:id="rId50"/>
    <p:sldId id="311" r:id="rId51"/>
    <p:sldId id="555" r:id="rId52"/>
    <p:sldId id="548" r:id="rId53"/>
    <p:sldId id="534" r:id="rId54"/>
    <p:sldId id="527" r:id="rId55"/>
    <p:sldId id="532" r:id="rId56"/>
    <p:sldId id="314" r:id="rId57"/>
    <p:sldId id="283" r:id="rId58"/>
  </p:sldIdLst>
  <p:sldSz cx="9144000" cy="51450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s" id="{016EA776-4AB3-D840-95A1-1ADC90D39EC6}">
          <p14:sldIdLst>
            <p14:sldId id="556"/>
          </p14:sldIdLst>
        </p14:section>
        <p14:section name="Contenido" id="{FBDA4D2D-2ED9-2C40-AFB7-8E59A95FA3A6}">
          <p14:sldIdLst>
            <p14:sldId id="269"/>
            <p14:sldId id="263"/>
          </p14:sldIdLst>
        </p14:section>
        <p14:section name="Introducción" id="{6C79AF55-9D19-4261-A353-520446EB2460}">
          <p14:sldIdLst>
            <p14:sldId id="291"/>
            <p14:sldId id="292"/>
            <p14:sldId id="305"/>
          </p14:sldIdLst>
        </p14:section>
        <p14:section name="Versionamiento" id="{589B77CD-B32B-4A62-BFE5-1EE878EFC82A}">
          <p14:sldIdLst>
            <p14:sldId id="501"/>
            <p14:sldId id="502"/>
            <p14:sldId id="509"/>
            <p14:sldId id="503"/>
            <p14:sldId id="504"/>
            <p14:sldId id="505"/>
            <p14:sldId id="506"/>
            <p14:sldId id="507"/>
          </p14:sldIdLst>
        </p14:section>
        <p14:section name="Instalación" id="{078AABE7-729B-45D1-A754-9F39B62E0E89}">
          <p14:sldIdLst>
            <p14:sldId id="375"/>
            <p14:sldId id="510"/>
            <p14:sldId id="515"/>
            <p14:sldId id="516"/>
            <p14:sldId id="517"/>
            <p14:sldId id="518"/>
            <p14:sldId id="519"/>
            <p14:sldId id="520"/>
          </p14:sldIdLst>
        </p14:section>
        <p14:section name="Git" id="{12B233C1-643E-4F1C-9206-7BFBEBAA07C7}">
          <p14:sldIdLst>
            <p14:sldId id="521"/>
            <p14:sldId id="529"/>
            <p14:sldId id="538"/>
            <p14:sldId id="308"/>
            <p14:sldId id="309"/>
            <p14:sldId id="310"/>
            <p14:sldId id="533"/>
            <p14:sldId id="540"/>
            <p14:sldId id="541"/>
            <p14:sldId id="542"/>
          </p14:sldIdLst>
        </p14:section>
        <p14:section name="GitIgnore" id="{01D742F9-CCEA-4084-9244-685BDC063073}">
          <p14:sldIdLst>
            <p14:sldId id="298"/>
            <p14:sldId id="553"/>
          </p14:sldIdLst>
        </p14:section>
        <p14:section name="Repositorio" id="{2969D902-FAE6-4061-BF0B-8924B6D03085}">
          <p14:sldIdLst>
            <p14:sldId id="549"/>
            <p14:sldId id="550"/>
            <p14:sldId id="551"/>
            <p14:sldId id="293"/>
            <p14:sldId id="294"/>
            <p14:sldId id="547"/>
            <p14:sldId id="530"/>
            <p14:sldId id="552"/>
          </p14:sldIdLst>
        </p14:section>
        <p14:section name="Gitflow" id="{FA3E5D58-0AA1-4419-AFDE-5D5A2DDD4B54}">
          <p14:sldIdLst>
            <p14:sldId id="300"/>
          </p14:sldIdLst>
        </p14:section>
        <p14:section name="Buenas Practicas" id="{489B2473-EA02-4F75-9B1F-863543F75683}">
          <p14:sldIdLst>
            <p14:sldId id="297"/>
            <p14:sldId id="307"/>
            <p14:sldId id="306"/>
          </p14:sldIdLst>
        </p14:section>
        <p14:section name="Servidores" id="{05A6AB67-250A-46BB-A63B-508D14CB51AB}">
          <p14:sldIdLst>
            <p14:sldId id="311"/>
            <p14:sldId id="555"/>
            <p14:sldId id="548"/>
            <p14:sldId id="534"/>
          </p14:sldIdLst>
        </p14:section>
        <p14:section name="GUI para GIT" id="{62E48013-3238-440D-8854-B24249D39523}">
          <p14:sldIdLst>
            <p14:sldId id="527"/>
            <p14:sldId id="532"/>
          </p14:sldIdLst>
        </p14:section>
        <p14:section name="Ejercicio" id="{2A6E7421-F6F8-403B-A2E7-4B724EB7115D}">
          <p14:sldIdLst>
            <p14:sldId id="314"/>
          </p14:sldIdLst>
        </p14:section>
        <p14:section name="Cierre" id="{C6B675AB-9F83-9D44-BFCF-D5FC6BC33FA2}">
          <p14:sldIdLst>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2F3D"/>
    <a:srgbClr val="FF7A00"/>
    <a:srgbClr val="DF2DE6"/>
    <a:srgbClr val="5B0D8C"/>
    <a:srgbClr val="00D8A9"/>
    <a:srgbClr val="05D4FD"/>
    <a:srgbClr val="5300E3"/>
    <a:srgbClr val="FF0063"/>
    <a:srgbClr val="3C105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3" dt="2026-08-28T20:02:00.830"/>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880" autoAdjust="0"/>
  </p:normalViewPr>
  <p:slideViewPr>
    <p:cSldViewPr snapToGrid="0">
      <p:cViewPr varScale="1">
        <p:scale>
          <a:sx n="143" d="100"/>
          <a:sy n="143" d="100"/>
        </p:scale>
        <p:origin x="68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5" Type="http://schemas.openxmlformats.org/officeDocument/2006/relationships/slide" Target="slides/slide1.xml"/><Relationship Id="rId61"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7BD0E2-98AF-4B92-AE11-3E695A9D6B09}" type="datetimeFigureOut">
              <a:t>30/09/2026</a:t>
            </a:fld>
            <a:endParaRPr lang="es-ES"/>
          </a:p>
        </p:txBody>
      </p:sp>
      <p:sp>
        <p:nvSpPr>
          <p:cNvPr id="4" name="Marcador de imagen de diapositiva 3"/>
          <p:cNvSpPr>
            <a:spLocks noGrp="1" noRot="1" noChangeAspect="1"/>
          </p:cNvSpPr>
          <p:nvPr>
            <p:ph type="sldImg" idx="2"/>
          </p:nvPr>
        </p:nvSpPr>
        <p:spPr>
          <a:xfrm>
            <a:off x="687388" y="1143000"/>
            <a:ext cx="5483225"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145F33-40B0-4096-9B17-91DEC2F40C60}" type="slidenum">
              <a:t>‹Nº›</a:t>
            </a:fld>
            <a:endParaRPr lang="es-ES"/>
          </a:p>
        </p:txBody>
      </p:sp>
    </p:spTree>
    <p:extLst>
      <p:ext uri="{BB962C8B-B14F-4D97-AF65-F5344CB8AC3E}">
        <p14:creationId xmlns:p14="http://schemas.microsoft.com/office/powerpoint/2010/main" val="538369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F375E-805E-081A-0F50-BDB2199762B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D5979114-0118-F3A4-8E82-B13FBB26E0B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1311CAE-5DFE-13BA-05C0-CDC7BC885985}"/>
              </a:ext>
            </a:extLst>
          </p:cNvPr>
          <p:cNvSpPr>
            <a:spLocks noGrp="1"/>
          </p:cNvSpPr>
          <p:nvPr>
            <p:ph type="body" idx="1"/>
          </p:nvPr>
        </p:nvSpPr>
        <p:spPr/>
        <p:txBody>
          <a:bodyPr/>
          <a:lstStyle/>
          <a:p>
            <a:endParaRPr lang="es-MX"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3A9BFE63-6E0D-0B07-9CAB-05859A56751B}"/>
              </a:ext>
            </a:extLst>
          </p:cNvPr>
          <p:cNvSpPr>
            <a:spLocks noGrp="1"/>
          </p:cNvSpPr>
          <p:nvPr>
            <p:ph type="sldNum" sz="quarter" idx="5"/>
          </p:nvPr>
        </p:nvSpPr>
        <p:spPr/>
        <p:txBody>
          <a:bodyPr/>
          <a:lstStyle/>
          <a:p>
            <a:fld id="{B37DA25E-6716-1E41-AA50-34092A9BA802}" type="slidenum">
              <a:rPr lang="es-MX" smtClean="0"/>
              <a:t>34</a:t>
            </a:fld>
            <a:endParaRPr lang="es-MX"/>
          </a:p>
        </p:txBody>
      </p:sp>
    </p:spTree>
    <p:extLst>
      <p:ext uri="{BB962C8B-B14F-4D97-AF65-F5344CB8AC3E}">
        <p14:creationId xmlns:p14="http://schemas.microsoft.com/office/powerpoint/2010/main" val="17076745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23512-6E15-AFF6-7AE9-B460A6D1563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8884A8B-DADF-2CA0-9130-D31008BA04A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17DA9A5-B394-5287-D770-61AD53F0E765}"/>
              </a:ext>
            </a:extLst>
          </p:cNvPr>
          <p:cNvSpPr>
            <a:spLocks noGrp="1"/>
          </p:cNvSpPr>
          <p:nvPr>
            <p:ph type="body" idx="1"/>
          </p:nvPr>
        </p:nvSpPr>
        <p:spPr/>
        <p:txBody>
          <a:bodyPr/>
          <a:lstStyle/>
          <a:p>
            <a:endParaRPr lang="es-MX"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A47D85C6-EC32-BA26-39CD-3C1C302AF1DB}"/>
              </a:ext>
            </a:extLst>
          </p:cNvPr>
          <p:cNvSpPr>
            <a:spLocks noGrp="1"/>
          </p:cNvSpPr>
          <p:nvPr>
            <p:ph type="sldNum" sz="quarter" idx="5"/>
          </p:nvPr>
        </p:nvSpPr>
        <p:spPr/>
        <p:txBody>
          <a:bodyPr/>
          <a:lstStyle/>
          <a:p>
            <a:fld id="{B37DA25E-6716-1E41-AA50-34092A9BA802}" type="slidenum">
              <a:rPr lang="es-MX" smtClean="0"/>
              <a:t>35</a:t>
            </a:fld>
            <a:endParaRPr lang="es-MX"/>
          </a:p>
        </p:txBody>
      </p:sp>
    </p:spTree>
    <p:extLst>
      <p:ext uri="{BB962C8B-B14F-4D97-AF65-F5344CB8AC3E}">
        <p14:creationId xmlns:p14="http://schemas.microsoft.com/office/powerpoint/2010/main" val="21219024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491454-BE1E-B741-ADD7-37D1B1CC4CC2}"/>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E3FCBB2-8205-16BF-9236-734C0470A5D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9560E22-B00E-E4D6-51C2-3796F878E132}"/>
              </a:ext>
            </a:extLst>
          </p:cNvPr>
          <p:cNvSpPr>
            <a:spLocks noGrp="1"/>
          </p:cNvSpPr>
          <p:nvPr>
            <p:ph type="body" idx="1"/>
          </p:nvPr>
        </p:nvSpPr>
        <p:spPr/>
        <p:txBody>
          <a:bodyPr/>
          <a:lstStyle/>
          <a:p>
            <a:endParaRPr lang="es-MX"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7E4F9971-4C61-E470-A6EB-73EF937AD49D}"/>
              </a:ext>
            </a:extLst>
          </p:cNvPr>
          <p:cNvSpPr>
            <a:spLocks noGrp="1"/>
          </p:cNvSpPr>
          <p:nvPr>
            <p:ph type="sldNum" sz="quarter" idx="5"/>
          </p:nvPr>
        </p:nvSpPr>
        <p:spPr/>
        <p:txBody>
          <a:bodyPr/>
          <a:lstStyle/>
          <a:p>
            <a:fld id="{B37DA25E-6716-1E41-AA50-34092A9BA802}" type="slidenum">
              <a:rPr lang="es-MX" smtClean="0"/>
              <a:t>36</a:t>
            </a:fld>
            <a:endParaRPr lang="es-MX"/>
          </a:p>
        </p:txBody>
      </p:sp>
    </p:spTree>
    <p:extLst>
      <p:ext uri="{BB962C8B-B14F-4D97-AF65-F5344CB8AC3E}">
        <p14:creationId xmlns:p14="http://schemas.microsoft.com/office/powerpoint/2010/main" val="41073081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2E132-ACCD-DA47-43C0-4E196F9115D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72B47F8-07FB-0496-8F88-FFD3C128313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151C2EAD-054F-0F73-51C9-601CB716DBEC}"/>
              </a:ext>
            </a:extLst>
          </p:cNvPr>
          <p:cNvSpPr>
            <a:spLocks noGrp="1"/>
          </p:cNvSpPr>
          <p:nvPr>
            <p:ph type="body" idx="1"/>
          </p:nvPr>
        </p:nvSpPr>
        <p:spPr/>
        <p:txBody>
          <a:bodyPr/>
          <a:lstStyle/>
          <a:p>
            <a:endParaRPr lang="es-MX"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1DFC4E66-900C-BDB3-6F54-7A9BDA23A056}"/>
              </a:ext>
            </a:extLst>
          </p:cNvPr>
          <p:cNvSpPr>
            <a:spLocks noGrp="1"/>
          </p:cNvSpPr>
          <p:nvPr>
            <p:ph type="sldNum" sz="quarter" idx="5"/>
          </p:nvPr>
        </p:nvSpPr>
        <p:spPr/>
        <p:txBody>
          <a:bodyPr/>
          <a:lstStyle/>
          <a:p>
            <a:fld id="{B37DA25E-6716-1E41-AA50-34092A9BA802}" type="slidenum">
              <a:rPr lang="es-MX" smtClean="0"/>
              <a:t>37</a:t>
            </a:fld>
            <a:endParaRPr lang="es-MX"/>
          </a:p>
        </p:txBody>
      </p:sp>
    </p:spTree>
    <p:extLst>
      <p:ext uri="{BB962C8B-B14F-4D97-AF65-F5344CB8AC3E}">
        <p14:creationId xmlns:p14="http://schemas.microsoft.com/office/powerpoint/2010/main" val="21317460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775BF-797B-3923-A351-4A6A49F03E56}"/>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1868E0C-0072-9725-2D99-61A0FA0A7F2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6928B9D-62B8-46C7-AB52-0ECEB4D584AB}"/>
              </a:ext>
            </a:extLst>
          </p:cNvPr>
          <p:cNvSpPr>
            <a:spLocks noGrp="1"/>
          </p:cNvSpPr>
          <p:nvPr>
            <p:ph type="body" idx="1"/>
          </p:nvPr>
        </p:nvSpPr>
        <p:spPr/>
        <p:txBody>
          <a:bodyPr/>
          <a:lstStyle/>
          <a:p>
            <a:endParaRPr lang="es-MX" dirty="0"/>
          </a:p>
        </p:txBody>
      </p:sp>
      <p:sp>
        <p:nvSpPr>
          <p:cNvPr id="4" name="Marcador de número de diapositiva 3">
            <a:extLst>
              <a:ext uri="{FF2B5EF4-FFF2-40B4-BE49-F238E27FC236}">
                <a16:creationId xmlns:a16="http://schemas.microsoft.com/office/drawing/2014/main" id="{AEBD94F2-F268-79BB-62E8-ACEB0BF80C64}"/>
              </a:ext>
            </a:extLst>
          </p:cNvPr>
          <p:cNvSpPr>
            <a:spLocks noGrp="1"/>
          </p:cNvSpPr>
          <p:nvPr>
            <p:ph type="sldNum" sz="quarter" idx="5"/>
          </p:nvPr>
        </p:nvSpPr>
        <p:spPr/>
        <p:txBody>
          <a:bodyPr/>
          <a:lstStyle/>
          <a:p>
            <a:fld id="{B37DA25E-6716-1E41-AA50-34092A9BA802}" type="slidenum">
              <a:rPr lang="es-MX" smtClean="0"/>
              <a:t>38</a:t>
            </a:fld>
            <a:endParaRPr lang="es-MX"/>
          </a:p>
        </p:txBody>
      </p:sp>
    </p:spTree>
    <p:extLst>
      <p:ext uri="{BB962C8B-B14F-4D97-AF65-F5344CB8AC3E}">
        <p14:creationId xmlns:p14="http://schemas.microsoft.com/office/powerpoint/2010/main" val="36915838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933667-56DF-FD93-357D-05A899677B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50C570C-5C08-0DC2-3AE1-E7AD3B344D2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F1035C3D-985D-90F7-D5BC-7BDB6B14DE67}"/>
              </a:ext>
            </a:extLst>
          </p:cNvPr>
          <p:cNvSpPr>
            <a:spLocks noGrp="1"/>
          </p:cNvSpPr>
          <p:nvPr>
            <p:ph type="body" idx="1"/>
          </p:nvPr>
        </p:nvSpPr>
        <p:spPr/>
        <p:txBody>
          <a:bodyPr/>
          <a:lstStyle/>
          <a:p>
            <a:pPr lvl="1"/>
            <a:endParaRPr lang="es-MX" dirty="0"/>
          </a:p>
        </p:txBody>
      </p:sp>
      <p:sp>
        <p:nvSpPr>
          <p:cNvPr id="4" name="Marcador de número de diapositiva 3">
            <a:extLst>
              <a:ext uri="{FF2B5EF4-FFF2-40B4-BE49-F238E27FC236}">
                <a16:creationId xmlns:a16="http://schemas.microsoft.com/office/drawing/2014/main" id="{B7AC50C1-475A-8AB7-A088-47E39A20662C}"/>
              </a:ext>
            </a:extLst>
          </p:cNvPr>
          <p:cNvSpPr>
            <a:spLocks noGrp="1"/>
          </p:cNvSpPr>
          <p:nvPr>
            <p:ph type="sldNum" sz="quarter" idx="5"/>
          </p:nvPr>
        </p:nvSpPr>
        <p:spPr/>
        <p:txBody>
          <a:bodyPr/>
          <a:lstStyle/>
          <a:p>
            <a:fld id="{B37DA25E-6716-1E41-AA50-34092A9BA802}" type="slidenum">
              <a:rPr lang="es-MX" smtClean="0"/>
              <a:t>39</a:t>
            </a:fld>
            <a:endParaRPr lang="es-MX"/>
          </a:p>
        </p:txBody>
      </p:sp>
    </p:spTree>
    <p:extLst>
      <p:ext uri="{BB962C8B-B14F-4D97-AF65-F5344CB8AC3E}">
        <p14:creationId xmlns:p14="http://schemas.microsoft.com/office/powerpoint/2010/main" val="21972483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50BED-6BA0-2184-A88F-E8855D7C44A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08E0890-4F22-DBBC-B49D-C0DB8101709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97EE5C-8ABA-AC59-B047-97227A687060}"/>
              </a:ext>
            </a:extLst>
          </p:cNvPr>
          <p:cNvSpPr>
            <a:spLocks noGrp="1"/>
          </p:cNvSpPr>
          <p:nvPr>
            <p:ph type="body" idx="1"/>
          </p:nvPr>
        </p:nvSpPr>
        <p:spPr/>
        <p:txBody>
          <a:bodyPr/>
          <a:lstStyle/>
          <a:p>
            <a:endParaRPr lang="es-MX"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61153FA9-F4BC-3946-5A8E-4BDDB9513386}"/>
              </a:ext>
            </a:extLst>
          </p:cNvPr>
          <p:cNvSpPr>
            <a:spLocks noGrp="1"/>
          </p:cNvSpPr>
          <p:nvPr>
            <p:ph type="sldNum" sz="quarter" idx="5"/>
          </p:nvPr>
        </p:nvSpPr>
        <p:spPr/>
        <p:txBody>
          <a:bodyPr/>
          <a:lstStyle/>
          <a:p>
            <a:fld id="{B37DA25E-6716-1E41-AA50-34092A9BA802}" type="slidenum">
              <a:rPr lang="es-MX" smtClean="0"/>
              <a:t>42</a:t>
            </a:fld>
            <a:endParaRPr lang="es-MX"/>
          </a:p>
        </p:txBody>
      </p:sp>
    </p:spTree>
    <p:extLst>
      <p:ext uri="{BB962C8B-B14F-4D97-AF65-F5344CB8AC3E}">
        <p14:creationId xmlns:p14="http://schemas.microsoft.com/office/powerpoint/2010/main" val="2777290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ED5C63-A237-7E54-1BED-4B7E1016A7D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33A0A30-FA2C-18A4-3515-FBD6ECF1A08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58CCB4B-D932-0556-C04D-FCD5B90EEAE6}"/>
              </a:ext>
            </a:extLst>
          </p:cNvPr>
          <p:cNvSpPr>
            <a:spLocks noGrp="1"/>
          </p:cNvSpPr>
          <p:nvPr>
            <p:ph type="body" idx="1"/>
          </p:nvPr>
        </p:nvSpPr>
        <p:spPr/>
        <p:txBody>
          <a:bodyPr/>
          <a:lstStyle/>
          <a:p>
            <a:endParaRPr lang="es-MX"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F78914B1-2A22-3DCB-C8FE-8A56AFD029F2}"/>
              </a:ext>
            </a:extLst>
          </p:cNvPr>
          <p:cNvSpPr>
            <a:spLocks noGrp="1"/>
          </p:cNvSpPr>
          <p:nvPr>
            <p:ph type="sldNum" sz="quarter" idx="5"/>
          </p:nvPr>
        </p:nvSpPr>
        <p:spPr/>
        <p:txBody>
          <a:bodyPr/>
          <a:lstStyle/>
          <a:p>
            <a:fld id="{B37DA25E-6716-1E41-AA50-34092A9BA802}" type="slidenum">
              <a:rPr lang="es-MX" smtClean="0"/>
              <a:t>48</a:t>
            </a:fld>
            <a:endParaRPr lang="es-MX"/>
          </a:p>
        </p:txBody>
      </p:sp>
    </p:spTree>
    <p:extLst>
      <p:ext uri="{BB962C8B-B14F-4D97-AF65-F5344CB8AC3E}">
        <p14:creationId xmlns:p14="http://schemas.microsoft.com/office/powerpoint/2010/main" val="32706722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273F5-301D-A008-EC6C-47AD110A4C7B}"/>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5A0F40A-0664-C02D-1964-806CCFB90223}"/>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FECB43A-A448-5C5A-68F2-B54B5F90BAFF}"/>
              </a:ext>
            </a:extLst>
          </p:cNvPr>
          <p:cNvSpPr>
            <a:spLocks noGrp="1"/>
          </p:cNvSpPr>
          <p:nvPr>
            <p:ph type="body" idx="1"/>
          </p:nvPr>
        </p:nvSpPr>
        <p:spPr/>
        <p:txBody>
          <a:bodyPr/>
          <a:lstStyle/>
          <a:p>
            <a:endParaRPr lang="es-MX" sz="1200" b="0" i="0" kern="1200" dirty="0">
              <a:solidFill>
                <a:schemeClr val="tx1"/>
              </a:solidFill>
              <a:effectLst/>
              <a:latin typeface="+mn-lt"/>
              <a:ea typeface="+mn-ea"/>
              <a:cs typeface="+mn-cs"/>
            </a:endParaRPr>
          </a:p>
        </p:txBody>
      </p:sp>
      <p:sp>
        <p:nvSpPr>
          <p:cNvPr id="4" name="Marcador de número de diapositiva 3">
            <a:extLst>
              <a:ext uri="{FF2B5EF4-FFF2-40B4-BE49-F238E27FC236}">
                <a16:creationId xmlns:a16="http://schemas.microsoft.com/office/drawing/2014/main" id="{A6B2331E-D122-25B9-3D07-D0DED359E59C}"/>
              </a:ext>
            </a:extLst>
          </p:cNvPr>
          <p:cNvSpPr>
            <a:spLocks noGrp="1"/>
          </p:cNvSpPr>
          <p:nvPr>
            <p:ph type="sldNum" sz="quarter" idx="5"/>
          </p:nvPr>
        </p:nvSpPr>
        <p:spPr/>
        <p:txBody>
          <a:bodyPr/>
          <a:lstStyle/>
          <a:p>
            <a:fld id="{B37DA25E-6716-1E41-AA50-34092A9BA802}" type="slidenum">
              <a:rPr lang="es-MX" smtClean="0"/>
              <a:t>53</a:t>
            </a:fld>
            <a:endParaRPr lang="es-MX"/>
          </a:p>
        </p:txBody>
      </p:sp>
    </p:spTree>
    <p:extLst>
      <p:ext uri="{BB962C8B-B14F-4D97-AF65-F5344CB8AC3E}">
        <p14:creationId xmlns:p14="http://schemas.microsoft.com/office/powerpoint/2010/main" val="203702717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Portada Principal">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667933F3-74B4-84AC-CD8A-ECE2028BE261}"/>
              </a:ext>
            </a:extLst>
          </p:cNvPr>
          <p:cNvPicPr>
            <a:picLocks noChangeAspect="1"/>
          </p:cNvPicPr>
          <p:nvPr userDrawn="1"/>
        </p:nvPicPr>
        <p:blipFill>
          <a:blip r:embed="rId2"/>
          <a:stretch>
            <a:fillRect/>
          </a:stretch>
        </p:blipFill>
        <p:spPr>
          <a:xfrm>
            <a:off x="0" y="0"/>
            <a:ext cx="9144000" cy="5145088"/>
          </a:xfrm>
          <a:prstGeom prst="rect">
            <a:avLst/>
          </a:prstGeom>
        </p:spPr>
      </p:pic>
      <p:pic>
        <p:nvPicPr>
          <p:cNvPr id="4" name="Picture 9" descr="A logo with a snowflake&#10;&#10;Description automatically generated">
            <a:extLst>
              <a:ext uri="{FF2B5EF4-FFF2-40B4-BE49-F238E27FC236}">
                <a16:creationId xmlns:a16="http://schemas.microsoft.com/office/drawing/2014/main" id="{C0AB640D-EAB6-4DB2-229A-D10837F4B70A}"/>
              </a:ext>
            </a:extLst>
          </p:cNvPr>
          <p:cNvPicPr>
            <a:picLocks noChangeAspect="1"/>
          </p:cNvPicPr>
          <p:nvPr userDrawn="1"/>
        </p:nvPicPr>
        <p:blipFill>
          <a:blip r:embed="rId3"/>
          <a:stretch>
            <a:fillRect/>
          </a:stretch>
        </p:blipFill>
        <p:spPr>
          <a:xfrm>
            <a:off x="8346805" y="4620138"/>
            <a:ext cx="545974" cy="264069"/>
          </a:xfrm>
          <a:prstGeom prst="rect">
            <a:avLst/>
          </a:prstGeom>
        </p:spPr>
      </p:pic>
    </p:spTree>
    <p:extLst>
      <p:ext uri="{BB962C8B-B14F-4D97-AF65-F5344CB8AC3E}">
        <p14:creationId xmlns:p14="http://schemas.microsoft.com/office/powerpoint/2010/main" val="414562809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Portada Morada">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4BC07578-6974-51DF-F972-B7DE6904582C}"/>
              </a:ext>
            </a:extLst>
          </p:cNvPr>
          <p:cNvPicPr>
            <a:picLocks noChangeAspect="1"/>
          </p:cNvPicPr>
          <p:nvPr userDrawn="1"/>
        </p:nvPicPr>
        <p:blipFill>
          <a:blip r:embed="rId2"/>
          <a:stretch>
            <a:fillRect/>
          </a:stretch>
        </p:blipFill>
        <p:spPr>
          <a:xfrm>
            <a:off x="0" y="0"/>
            <a:ext cx="9144000" cy="5145088"/>
          </a:xfrm>
          <a:prstGeom prst="rect">
            <a:avLst/>
          </a:prstGeom>
        </p:spPr>
      </p:pic>
      <p:sp>
        <p:nvSpPr>
          <p:cNvPr id="2" name="Date Placeholder 3">
            <a:extLst>
              <a:ext uri="{FF2B5EF4-FFF2-40B4-BE49-F238E27FC236}">
                <a16:creationId xmlns:a16="http://schemas.microsoft.com/office/drawing/2014/main" id="{AE64E95E-56F7-BE10-3331-375B94E57D6A}"/>
              </a:ext>
            </a:extLst>
          </p:cNvPr>
          <p:cNvSpPr>
            <a:spLocks noGrp="1"/>
          </p:cNvSpPr>
          <p:nvPr>
            <p:ph type="dt" sz="half" idx="10"/>
          </p:nvPr>
        </p:nvSpPr>
        <p:spPr>
          <a:xfrm>
            <a:off x="251222" y="4624496"/>
            <a:ext cx="2031527" cy="270484"/>
          </a:xfrm>
          <a:prstGeom prst="rect">
            <a:avLst/>
          </a:prstGeom>
        </p:spPr>
        <p:txBody>
          <a:bodyPr anchor="ctr"/>
          <a:lstStyle>
            <a:lvl1pPr>
              <a:defRPr sz="45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fld id="{8B636DD7-9EC0-2343-87F4-811CC24B63A7}" type="datetimeFigureOut">
              <a:rPr lang="es-MX" smtClean="0"/>
              <a:pPr/>
              <a:t>30/09/2026</a:t>
            </a:fld>
            <a:endParaRPr lang="es-MX"/>
          </a:p>
        </p:txBody>
      </p:sp>
      <p:sp>
        <p:nvSpPr>
          <p:cNvPr id="3" name="Footer Placeholder 4">
            <a:extLst>
              <a:ext uri="{FF2B5EF4-FFF2-40B4-BE49-F238E27FC236}">
                <a16:creationId xmlns:a16="http://schemas.microsoft.com/office/drawing/2014/main" id="{7AC263B0-B287-C6AA-04DB-87721DF2AA9F}"/>
              </a:ext>
            </a:extLst>
          </p:cNvPr>
          <p:cNvSpPr>
            <a:spLocks noGrp="1"/>
          </p:cNvSpPr>
          <p:nvPr>
            <p:ph type="ftr" sz="quarter" idx="3"/>
          </p:nvPr>
        </p:nvSpPr>
        <p:spPr>
          <a:xfrm>
            <a:off x="5299514" y="4620137"/>
            <a:ext cx="3047291" cy="270484"/>
          </a:xfrm>
          <a:prstGeom prst="rect">
            <a:avLst/>
          </a:prstGeom>
        </p:spPr>
        <p:txBody>
          <a:bodyPr vert="horz" lIns="91440" tIns="45720" rIns="91440" bIns="45720" rtlCol="0" anchor="ctr"/>
          <a:lstStyle>
            <a:lvl1pPr algn="r">
              <a:defRPr sz="45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stStyle>
          <a:p>
            <a:r>
              <a:rPr lang="es-MX"/>
              <a:t>PORTAFOLIO DE SOLUCIONES AXITY</a:t>
            </a:r>
          </a:p>
        </p:txBody>
      </p:sp>
      <p:pic>
        <p:nvPicPr>
          <p:cNvPr id="4" name="Picture 9" descr="A logo with a snowflake&#10;&#10;Description automatically generated">
            <a:extLst>
              <a:ext uri="{FF2B5EF4-FFF2-40B4-BE49-F238E27FC236}">
                <a16:creationId xmlns:a16="http://schemas.microsoft.com/office/drawing/2014/main" id="{5A8018FB-5B22-9841-E1B2-1CEA41466924}"/>
              </a:ext>
            </a:extLst>
          </p:cNvPr>
          <p:cNvPicPr>
            <a:picLocks noChangeAspect="1"/>
          </p:cNvPicPr>
          <p:nvPr userDrawn="1"/>
        </p:nvPicPr>
        <p:blipFill>
          <a:blip r:embed="rId3"/>
          <a:stretch>
            <a:fillRect/>
          </a:stretch>
        </p:blipFill>
        <p:spPr>
          <a:xfrm>
            <a:off x="8346805" y="4620138"/>
            <a:ext cx="545974" cy="264069"/>
          </a:xfrm>
          <a:prstGeom prst="rect">
            <a:avLst/>
          </a:prstGeom>
        </p:spPr>
      </p:pic>
    </p:spTree>
    <p:extLst>
      <p:ext uri="{BB962C8B-B14F-4D97-AF65-F5344CB8AC3E}">
        <p14:creationId xmlns:p14="http://schemas.microsoft.com/office/powerpoint/2010/main" val="58357635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ada Blanca 2">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4BC07578-6974-51DF-F972-B7DE6904582C}"/>
              </a:ext>
            </a:extLst>
          </p:cNvPr>
          <p:cNvPicPr>
            <a:picLocks noChangeAspect="1"/>
          </p:cNvPicPr>
          <p:nvPr userDrawn="1"/>
        </p:nvPicPr>
        <p:blipFill>
          <a:blip r:embed="rId2"/>
          <a:srcRect/>
          <a:stretch/>
        </p:blipFill>
        <p:spPr>
          <a:xfrm>
            <a:off x="0" y="794"/>
            <a:ext cx="9144000" cy="5143500"/>
          </a:xfrm>
          <a:prstGeom prst="rect">
            <a:avLst/>
          </a:prstGeom>
        </p:spPr>
      </p:pic>
      <p:pic>
        <p:nvPicPr>
          <p:cNvPr id="3" name="Picture 9" descr="A logo with a snowflake&#10;&#10;Description automatically generated">
            <a:extLst>
              <a:ext uri="{FF2B5EF4-FFF2-40B4-BE49-F238E27FC236}">
                <a16:creationId xmlns:a16="http://schemas.microsoft.com/office/drawing/2014/main" id="{8D14B995-EB46-FC82-9D68-124552773738}"/>
              </a:ext>
            </a:extLst>
          </p:cNvPr>
          <p:cNvPicPr>
            <a:picLocks noChangeAspect="1"/>
          </p:cNvPicPr>
          <p:nvPr userDrawn="1"/>
        </p:nvPicPr>
        <p:blipFill>
          <a:blip r:embed="rId3"/>
          <a:stretch>
            <a:fillRect/>
          </a:stretch>
        </p:blipFill>
        <p:spPr>
          <a:xfrm>
            <a:off x="8346805" y="4620138"/>
            <a:ext cx="545974" cy="264069"/>
          </a:xfrm>
          <a:prstGeom prst="rect">
            <a:avLst/>
          </a:prstGeom>
        </p:spPr>
      </p:pic>
    </p:spTree>
    <p:extLst>
      <p:ext uri="{BB962C8B-B14F-4D97-AF65-F5344CB8AC3E}">
        <p14:creationId xmlns:p14="http://schemas.microsoft.com/office/powerpoint/2010/main" val="2427871828"/>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ondo Secundario 1">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4BC07578-6974-51DF-F972-B7DE6904582C}"/>
              </a:ext>
            </a:extLst>
          </p:cNvPr>
          <p:cNvPicPr>
            <a:picLocks noChangeAspect="1"/>
          </p:cNvPicPr>
          <p:nvPr userDrawn="1"/>
        </p:nvPicPr>
        <p:blipFill>
          <a:blip r:embed="rId2"/>
          <a:srcRect/>
          <a:stretch/>
        </p:blipFill>
        <p:spPr>
          <a:xfrm>
            <a:off x="0" y="0"/>
            <a:ext cx="9144000" cy="5145088"/>
          </a:xfrm>
          <a:prstGeom prst="rect">
            <a:avLst/>
          </a:prstGeom>
        </p:spPr>
      </p:pic>
      <p:sp>
        <p:nvSpPr>
          <p:cNvPr id="2" name="Date Placeholder 3">
            <a:extLst>
              <a:ext uri="{FF2B5EF4-FFF2-40B4-BE49-F238E27FC236}">
                <a16:creationId xmlns:a16="http://schemas.microsoft.com/office/drawing/2014/main" id="{B7291F20-DD76-1440-B76C-160B5CF06612}"/>
              </a:ext>
            </a:extLst>
          </p:cNvPr>
          <p:cNvSpPr>
            <a:spLocks noGrp="1"/>
          </p:cNvSpPr>
          <p:nvPr>
            <p:ph type="dt" sz="half" idx="10"/>
          </p:nvPr>
        </p:nvSpPr>
        <p:spPr>
          <a:xfrm>
            <a:off x="251222" y="4624496"/>
            <a:ext cx="2031527" cy="270484"/>
          </a:xfrm>
          <a:prstGeom prst="rect">
            <a:avLst/>
          </a:prstGeom>
        </p:spPr>
        <p:txBody>
          <a:bodyPr anchor="ctr"/>
          <a:lstStyle>
            <a:lvl1pPr>
              <a:defRPr sz="45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fld id="{8B636DD7-9EC0-2343-87F4-811CC24B63A7}" type="datetimeFigureOut">
              <a:rPr lang="es-MX" smtClean="0"/>
              <a:pPr/>
              <a:t>30/09/2026</a:t>
            </a:fld>
            <a:endParaRPr lang="es-MX"/>
          </a:p>
        </p:txBody>
      </p:sp>
      <p:pic>
        <p:nvPicPr>
          <p:cNvPr id="4" name="Picture 9" descr="A logo with a snowflake&#10;&#10;Description automatically generated">
            <a:extLst>
              <a:ext uri="{FF2B5EF4-FFF2-40B4-BE49-F238E27FC236}">
                <a16:creationId xmlns:a16="http://schemas.microsoft.com/office/drawing/2014/main" id="{5DE5B613-40D6-AAAF-5C90-8195463707D3}"/>
              </a:ext>
            </a:extLst>
          </p:cNvPr>
          <p:cNvPicPr>
            <a:picLocks noChangeAspect="1"/>
          </p:cNvPicPr>
          <p:nvPr userDrawn="1"/>
        </p:nvPicPr>
        <p:blipFill>
          <a:blip r:embed="rId3"/>
          <a:stretch>
            <a:fillRect/>
          </a:stretch>
        </p:blipFill>
        <p:spPr>
          <a:xfrm>
            <a:off x="8346805" y="4620138"/>
            <a:ext cx="545974" cy="264069"/>
          </a:xfrm>
          <a:prstGeom prst="rect">
            <a:avLst/>
          </a:prstGeom>
        </p:spPr>
      </p:pic>
      <p:sp>
        <p:nvSpPr>
          <p:cNvPr id="5" name="Slide Number Placeholder 5">
            <a:extLst>
              <a:ext uri="{FF2B5EF4-FFF2-40B4-BE49-F238E27FC236}">
                <a16:creationId xmlns:a16="http://schemas.microsoft.com/office/drawing/2014/main" id="{DCFF8A16-BC1D-755C-24A9-9C7859342754}"/>
              </a:ext>
            </a:extLst>
          </p:cNvPr>
          <p:cNvSpPr>
            <a:spLocks noGrp="1"/>
          </p:cNvSpPr>
          <p:nvPr>
            <p:ph type="sldNum" sz="quarter" idx="4"/>
          </p:nvPr>
        </p:nvSpPr>
        <p:spPr>
          <a:xfrm>
            <a:off x="8654791" y="250109"/>
            <a:ext cx="237988" cy="174532"/>
          </a:xfrm>
          <a:prstGeom prst="rect">
            <a:avLst/>
          </a:prstGeom>
        </p:spPr>
        <p:txBody>
          <a:bodyPr/>
          <a:lstStyle>
            <a:lvl1pPr algn="ctr">
              <a:defRPr sz="450">
                <a:solidFill>
                  <a:schemeClr val="bg1"/>
                </a:solidFill>
                <a:latin typeface="Century" panose="02040604050505020304" pitchFamily="18" charset="0"/>
              </a:defRPr>
            </a:lvl1pPr>
          </a:lstStyle>
          <a:p>
            <a:fld id="{B25F5A20-7E25-C84E-8766-4FA53A4AD820}" type="slidenum">
              <a:rPr lang="es-MX" smtClean="0"/>
              <a:pPr/>
              <a:t>‹Nº›</a:t>
            </a:fld>
            <a:endParaRPr lang="es-MX"/>
          </a:p>
        </p:txBody>
      </p:sp>
    </p:spTree>
    <p:extLst>
      <p:ext uri="{BB962C8B-B14F-4D97-AF65-F5344CB8AC3E}">
        <p14:creationId xmlns:p14="http://schemas.microsoft.com/office/powerpoint/2010/main" val="426363602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ido 1">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4BC07578-6974-51DF-F972-B7DE6904582C}"/>
              </a:ext>
            </a:extLst>
          </p:cNvPr>
          <p:cNvPicPr>
            <a:picLocks noChangeAspect="1"/>
          </p:cNvPicPr>
          <p:nvPr userDrawn="1"/>
        </p:nvPicPr>
        <p:blipFill>
          <a:blip r:embed="rId2"/>
          <a:srcRect/>
          <a:stretch/>
        </p:blipFill>
        <p:spPr>
          <a:xfrm>
            <a:off x="0" y="0"/>
            <a:ext cx="9144000" cy="5145088"/>
          </a:xfrm>
          <a:prstGeom prst="rect">
            <a:avLst/>
          </a:prstGeom>
        </p:spPr>
      </p:pic>
      <p:sp>
        <p:nvSpPr>
          <p:cNvPr id="2" name="Date Placeholder 3">
            <a:extLst>
              <a:ext uri="{FF2B5EF4-FFF2-40B4-BE49-F238E27FC236}">
                <a16:creationId xmlns:a16="http://schemas.microsoft.com/office/drawing/2014/main" id="{E6366446-5A98-D035-BD2E-8519D8D9F0BD}"/>
              </a:ext>
            </a:extLst>
          </p:cNvPr>
          <p:cNvSpPr>
            <a:spLocks noGrp="1"/>
          </p:cNvSpPr>
          <p:nvPr>
            <p:ph type="dt" sz="half" idx="10"/>
          </p:nvPr>
        </p:nvSpPr>
        <p:spPr>
          <a:xfrm>
            <a:off x="251222" y="4624496"/>
            <a:ext cx="2031527" cy="270484"/>
          </a:xfrm>
          <a:prstGeom prst="rect">
            <a:avLst/>
          </a:prstGeom>
        </p:spPr>
        <p:txBody>
          <a:bodyPr anchor="ctr"/>
          <a:lstStyle>
            <a:lvl1pPr>
              <a:defRPr sz="450">
                <a:solidFill>
                  <a:schemeClr val="tx1"/>
                </a:solidFill>
                <a:latin typeface="Verdana" panose="020B0604030504040204" pitchFamily="34" charset="0"/>
                <a:ea typeface="Verdana" panose="020B0604030504040204" pitchFamily="34" charset="0"/>
                <a:cs typeface="Verdana" panose="020B0604030504040204" pitchFamily="34" charset="0"/>
              </a:defRPr>
            </a:lvl1pPr>
          </a:lstStyle>
          <a:p>
            <a:fld id="{8B636DD7-9EC0-2343-87F4-811CC24B63A7}" type="datetimeFigureOut">
              <a:rPr lang="es-MX" smtClean="0"/>
              <a:pPr/>
              <a:t>30/09/2026</a:t>
            </a:fld>
            <a:endParaRPr lang="es-MX"/>
          </a:p>
        </p:txBody>
      </p:sp>
      <p:sp>
        <p:nvSpPr>
          <p:cNvPr id="3" name="Footer Placeholder 4">
            <a:extLst>
              <a:ext uri="{FF2B5EF4-FFF2-40B4-BE49-F238E27FC236}">
                <a16:creationId xmlns:a16="http://schemas.microsoft.com/office/drawing/2014/main" id="{A71D5714-8B9A-C9F8-E535-39F9FD8CDF3E}"/>
              </a:ext>
            </a:extLst>
          </p:cNvPr>
          <p:cNvSpPr>
            <a:spLocks noGrp="1"/>
          </p:cNvSpPr>
          <p:nvPr>
            <p:ph type="ftr" sz="quarter" idx="3"/>
          </p:nvPr>
        </p:nvSpPr>
        <p:spPr>
          <a:xfrm>
            <a:off x="5299514" y="4620137"/>
            <a:ext cx="3047291" cy="270484"/>
          </a:xfrm>
          <a:prstGeom prst="rect">
            <a:avLst/>
          </a:prstGeom>
        </p:spPr>
        <p:txBody>
          <a:bodyPr vert="horz" lIns="91440" tIns="45720" rIns="91440" bIns="45720" rtlCol="0" anchor="ctr"/>
          <a:lstStyle>
            <a:lvl1pPr algn="r">
              <a:defRPr sz="45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stStyle>
          <a:p>
            <a:r>
              <a:rPr lang="es-MX"/>
              <a:t>PORTAFOLIO DE SOLUCIONES AXITY</a:t>
            </a:r>
          </a:p>
        </p:txBody>
      </p:sp>
      <p:pic>
        <p:nvPicPr>
          <p:cNvPr id="4" name="Picture 9" descr="A logo with a snowflake&#10;&#10;Description automatically generated">
            <a:extLst>
              <a:ext uri="{FF2B5EF4-FFF2-40B4-BE49-F238E27FC236}">
                <a16:creationId xmlns:a16="http://schemas.microsoft.com/office/drawing/2014/main" id="{F86903DB-6B10-CA84-CB7F-0F24C3D74367}"/>
              </a:ext>
            </a:extLst>
          </p:cNvPr>
          <p:cNvPicPr>
            <a:picLocks noChangeAspect="1"/>
          </p:cNvPicPr>
          <p:nvPr userDrawn="1"/>
        </p:nvPicPr>
        <p:blipFill>
          <a:blip r:embed="rId3"/>
          <a:stretch>
            <a:fillRect/>
          </a:stretch>
        </p:blipFill>
        <p:spPr>
          <a:xfrm>
            <a:off x="8346805" y="4620138"/>
            <a:ext cx="545974" cy="264069"/>
          </a:xfrm>
          <a:prstGeom prst="rect">
            <a:avLst/>
          </a:prstGeom>
        </p:spPr>
      </p:pic>
      <p:sp>
        <p:nvSpPr>
          <p:cNvPr id="5" name="Slide Number Placeholder 5">
            <a:extLst>
              <a:ext uri="{FF2B5EF4-FFF2-40B4-BE49-F238E27FC236}">
                <a16:creationId xmlns:a16="http://schemas.microsoft.com/office/drawing/2014/main" id="{B6C09C09-5C61-E8CF-B7C4-9144432D1C7C}"/>
              </a:ext>
            </a:extLst>
          </p:cNvPr>
          <p:cNvSpPr>
            <a:spLocks noGrp="1"/>
          </p:cNvSpPr>
          <p:nvPr>
            <p:ph type="sldNum" sz="quarter" idx="4"/>
          </p:nvPr>
        </p:nvSpPr>
        <p:spPr>
          <a:xfrm>
            <a:off x="8654791" y="250109"/>
            <a:ext cx="237988" cy="174532"/>
          </a:xfrm>
          <a:prstGeom prst="rect">
            <a:avLst/>
          </a:prstGeom>
        </p:spPr>
        <p:txBody>
          <a:bodyPr/>
          <a:lstStyle>
            <a:lvl1pPr algn="ctr">
              <a:defRPr sz="450">
                <a:solidFill>
                  <a:schemeClr val="bg1"/>
                </a:solidFill>
                <a:latin typeface="Century" panose="02040604050505020304" pitchFamily="18" charset="0"/>
              </a:defRPr>
            </a:lvl1pPr>
          </a:lstStyle>
          <a:p>
            <a:fld id="{B25F5A20-7E25-C84E-8766-4FA53A4AD820}" type="slidenum">
              <a:rPr lang="es-MX" smtClean="0"/>
              <a:pPr/>
              <a:t>‹Nº›</a:t>
            </a:fld>
            <a:endParaRPr lang="es-MX"/>
          </a:p>
        </p:txBody>
      </p:sp>
    </p:spTree>
    <p:extLst>
      <p:ext uri="{BB962C8B-B14F-4D97-AF65-F5344CB8AC3E}">
        <p14:creationId xmlns:p14="http://schemas.microsoft.com/office/powerpoint/2010/main" val="232637592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ido 2">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4BC07578-6974-51DF-F972-B7DE6904582C}"/>
              </a:ext>
            </a:extLst>
          </p:cNvPr>
          <p:cNvPicPr>
            <a:picLocks noChangeAspect="1"/>
          </p:cNvPicPr>
          <p:nvPr userDrawn="1"/>
        </p:nvPicPr>
        <p:blipFill>
          <a:blip r:embed="rId2"/>
          <a:srcRect/>
          <a:stretch/>
        </p:blipFill>
        <p:spPr>
          <a:xfrm>
            <a:off x="0" y="0"/>
            <a:ext cx="9144000" cy="5145088"/>
          </a:xfrm>
          <a:prstGeom prst="rect">
            <a:avLst/>
          </a:prstGeom>
        </p:spPr>
      </p:pic>
      <p:pic>
        <p:nvPicPr>
          <p:cNvPr id="2" name="Imagen 1">
            <a:extLst>
              <a:ext uri="{FF2B5EF4-FFF2-40B4-BE49-F238E27FC236}">
                <a16:creationId xmlns:a16="http://schemas.microsoft.com/office/drawing/2014/main" id="{7CFEAE2F-773C-0938-2687-2F8C1F177D43}"/>
              </a:ext>
            </a:extLst>
          </p:cNvPr>
          <p:cNvPicPr>
            <a:picLocks noChangeAspect="1"/>
          </p:cNvPicPr>
          <p:nvPr userDrawn="1"/>
        </p:nvPicPr>
        <p:blipFill>
          <a:blip r:embed="rId3"/>
          <a:stretch>
            <a:fillRect/>
          </a:stretch>
        </p:blipFill>
        <p:spPr>
          <a:xfrm>
            <a:off x="8386033" y="4663403"/>
            <a:ext cx="467517" cy="177538"/>
          </a:xfrm>
          <a:prstGeom prst="rect">
            <a:avLst/>
          </a:prstGeom>
        </p:spPr>
      </p:pic>
    </p:spTree>
    <p:extLst>
      <p:ext uri="{BB962C8B-B14F-4D97-AF65-F5344CB8AC3E}">
        <p14:creationId xmlns:p14="http://schemas.microsoft.com/office/powerpoint/2010/main" val="222518217"/>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anners 1">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4BC07578-6974-51DF-F972-B7DE6904582C}"/>
              </a:ext>
            </a:extLst>
          </p:cNvPr>
          <p:cNvPicPr>
            <a:picLocks noChangeAspect="1"/>
          </p:cNvPicPr>
          <p:nvPr userDrawn="1"/>
        </p:nvPicPr>
        <p:blipFill>
          <a:blip r:embed="rId2"/>
          <a:stretch>
            <a:fillRect/>
          </a:stretch>
        </p:blipFill>
        <p:spPr>
          <a:xfrm>
            <a:off x="0" y="0"/>
            <a:ext cx="9144000" cy="5145088"/>
          </a:xfrm>
          <a:prstGeom prst="rect">
            <a:avLst/>
          </a:prstGeom>
        </p:spPr>
      </p:pic>
      <p:sp>
        <p:nvSpPr>
          <p:cNvPr id="2" name="Picture Placeholder 7">
            <a:extLst>
              <a:ext uri="{FF2B5EF4-FFF2-40B4-BE49-F238E27FC236}">
                <a16:creationId xmlns:a16="http://schemas.microsoft.com/office/drawing/2014/main" id="{5B45B21F-A924-439D-BAD3-7C8D8C722DFB}"/>
              </a:ext>
            </a:extLst>
          </p:cNvPr>
          <p:cNvSpPr>
            <a:spLocks noGrp="1"/>
          </p:cNvSpPr>
          <p:nvPr>
            <p:ph type="pic" sz="quarter" idx="11"/>
          </p:nvPr>
        </p:nvSpPr>
        <p:spPr>
          <a:xfrm>
            <a:off x="572617" y="2704469"/>
            <a:ext cx="1656233" cy="1653963"/>
          </a:xfrm>
          <a:prstGeom prst="roundRect">
            <a:avLst>
              <a:gd name="adj" fmla="val 11362"/>
            </a:avLst>
          </a:prstGeom>
          <a:solidFill>
            <a:schemeClr val="bg1"/>
          </a:solidFill>
        </p:spPr>
        <p:txBody>
          <a:bodyPr wrap="square">
            <a:noAutofit/>
          </a:bodyPr>
          <a:lstStyle>
            <a:lvl1pPr>
              <a:defRPr lang="en-ID" sz="825"/>
            </a:lvl1pPr>
          </a:lstStyle>
          <a:p>
            <a:pPr marL="0" lvl="0" indent="0" algn="ctr">
              <a:buNone/>
            </a:pPr>
            <a:endParaRPr lang="en-ID"/>
          </a:p>
        </p:txBody>
      </p:sp>
      <p:sp>
        <p:nvSpPr>
          <p:cNvPr id="3" name="Picture Placeholder 4">
            <a:extLst>
              <a:ext uri="{FF2B5EF4-FFF2-40B4-BE49-F238E27FC236}">
                <a16:creationId xmlns:a16="http://schemas.microsoft.com/office/drawing/2014/main" id="{C883305A-D5C5-1417-F51F-841FD235B4DC}"/>
              </a:ext>
            </a:extLst>
          </p:cNvPr>
          <p:cNvSpPr>
            <a:spLocks noGrp="1"/>
          </p:cNvSpPr>
          <p:nvPr>
            <p:ph type="pic" sz="quarter" idx="12"/>
          </p:nvPr>
        </p:nvSpPr>
        <p:spPr>
          <a:xfrm>
            <a:off x="2368431" y="789198"/>
            <a:ext cx="1656233" cy="1653963"/>
          </a:xfrm>
          <a:prstGeom prst="roundRect">
            <a:avLst>
              <a:gd name="adj" fmla="val 11362"/>
            </a:avLst>
          </a:prstGeom>
          <a:solidFill>
            <a:schemeClr val="bg1"/>
          </a:solidFill>
        </p:spPr>
        <p:txBody>
          <a:bodyPr wrap="square">
            <a:noAutofit/>
          </a:bodyPr>
          <a:lstStyle>
            <a:lvl1pPr>
              <a:defRPr lang="en-ID" sz="825"/>
            </a:lvl1pPr>
          </a:lstStyle>
          <a:p>
            <a:pPr marL="0" lvl="0" indent="0" algn="ctr">
              <a:buNone/>
            </a:pPr>
            <a:endParaRPr lang="en-ID"/>
          </a:p>
        </p:txBody>
      </p:sp>
      <p:sp>
        <p:nvSpPr>
          <p:cNvPr id="4" name="Date Placeholder 3">
            <a:extLst>
              <a:ext uri="{FF2B5EF4-FFF2-40B4-BE49-F238E27FC236}">
                <a16:creationId xmlns:a16="http://schemas.microsoft.com/office/drawing/2014/main" id="{81EEB082-976B-BC3F-2AA7-D5835D157B9A}"/>
              </a:ext>
            </a:extLst>
          </p:cNvPr>
          <p:cNvSpPr>
            <a:spLocks noGrp="1"/>
          </p:cNvSpPr>
          <p:nvPr>
            <p:ph type="dt" sz="half" idx="10"/>
          </p:nvPr>
        </p:nvSpPr>
        <p:spPr>
          <a:xfrm>
            <a:off x="251222" y="4624496"/>
            <a:ext cx="2031527" cy="270484"/>
          </a:xfrm>
          <a:prstGeom prst="rect">
            <a:avLst/>
          </a:prstGeom>
        </p:spPr>
        <p:txBody>
          <a:bodyPr anchor="ctr"/>
          <a:lstStyle>
            <a:lvl1pPr>
              <a:defRPr sz="45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fld id="{8B636DD7-9EC0-2343-87F4-811CC24B63A7}" type="datetimeFigureOut">
              <a:rPr lang="es-MX" smtClean="0"/>
              <a:pPr/>
              <a:t>30/09/2026</a:t>
            </a:fld>
            <a:endParaRPr lang="es-MX"/>
          </a:p>
        </p:txBody>
      </p:sp>
      <p:sp>
        <p:nvSpPr>
          <p:cNvPr id="5" name="Footer Placeholder 4">
            <a:extLst>
              <a:ext uri="{FF2B5EF4-FFF2-40B4-BE49-F238E27FC236}">
                <a16:creationId xmlns:a16="http://schemas.microsoft.com/office/drawing/2014/main" id="{2B2A322F-F9F8-2558-368F-3D78E64E1E07}"/>
              </a:ext>
            </a:extLst>
          </p:cNvPr>
          <p:cNvSpPr>
            <a:spLocks noGrp="1"/>
          </p:cNvSpPr>
          <p:nvPr>
            <p:ph type="ftr" sz="quarter" idx="3"/>
          </p:nvPr>
        </p:nvSpPr>
        <p:spPr>
          <a:xfrm>
            <a:off x="5299514" y="4620137"/>
            <a:ext cx="3047291" cy="270484"/>
          </a:xfrm>
          <a:prstGeom prst="rect">
            <a:avLst/>
          </a:prstGeom>
        </p:spPr>
        <p:txBody>
          <a:bodyPr vert="horz" lIns="91440" tIns="45720" rIns="91440" bIns="45720" rtlCol="0" anchor="ctr"/>
          <a:lstStyle>
            <a:lvl1pPr algn="r">
              <a:defRPr sz="45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stStyle>
          <a:p>
            <a:r>
              <a:rPr lang="es-MX"/>
              <a:t>PORTAFOLIO DE SOLUCIONES AXITY</a:t>
            </a:r>
          </a:p>
        </p:txBody>
      </p:sp>
      <p:pic>
        <p:nvPicPr>
          <p:cNvPr id="6" name="Picture 9" descr="A logo with a snowflake&#10;&#10;Description automatically generated">
            <a:extLst>
              <a:ext uri="{FF2B5EF4-FFF2-40B4-BE49-F238E27FC236}">
                <a16:creationId xmlns:a16="http://schemas.microsoft.com/office/drawing/2014/main" id="{F7B091CB-387E-FB33-C162-0B7B0884F257}"/>
              </a:ext>
            </a:extLst>
          </p:cNvPr>
          <p:cNvPicPr>
            <a:picLocks noChangeAspect="1"/>
          </p:cNvPicPr>
          <p:nvPr userDrawn="1"/>
        </p:nvPicPr>
        <p:blipFill>
          <a:blip r:embed="rId3"/>
          <a:stretch>
            <a:fillRect/>
          </a:stretch>
        </p:blipFill>
        <p:spPr>
          <a:xfrm>
            <a:off x="8346805" y="4620138"/>
            <a:ext cx="545974" cy="264069"/>
          </a:xfrm>
          <a:prstGeom prst="rect">
            <a:avLst/>
          </a:prstGeom>
        </p:spPr>
      </p:pic>
      <p:sp>
        <p:nvSpPr>
          <p:cNvPr id="8" name="Slide Number Placeholder 5">
            <a:extLst>
              <a:ext uri="{FF2B5EF4-FFF2-40B4-BE49-F238E27FC236}">
                <a16:creationId xmlns:a16="http://schemas.microsoft.com/office/drawing/2014/main" id="{1BF3EC8F-9030-B8BB-1BDB-CE57AF437985}"/>
              </a:ext>
            </a:extLst>
          </p:cNvPr>
          <p:cNvSpPr>
            <a:spLocks noGrp="1"/>
          </p:cNvSpPr>
          <p:nvPr>
            <p:ph type="sldNum" sz="quarter" idx="4"/>
          </p:nvPr>
        </p:nvSpPr>
        <p:spPr>
          <a:xfrm>
            <a:off x="8654791" y="250109"/>
            <a:ext cx="237988" cy="174532"/>
          </a:xfrm>
          <a:prstGeom prst="rect">
            <a:avLst/>
          </a:prstGeom>
        </p:spPr>
        <p:txBody>
          <a:bodyPr/>
          <a:lstStyle>
            <a:lvl1pPr algn="ctr">
              <a:defRPr sz="450">
                <a:solidFill>
                  <a:schemeClr val="bg1"/>
                </a:solidFill>
                <a:latin typeface="Century" panose="02040604050505020304" pitchFamily="18" charset="0"/>
              </a:defRPr>
            </a:lvl1pPr>
          </a:lstStyle>
          <a:p>
            <a:fld id="{B25F5A20-7E25-C84E-8766-4FA53A4AD820}" type="slidenum">
              <a:rPr lang="es-MX" smtClean="0"/>
              <a:pPr/>
              <a:t>‹Nº›</a:t>
            </a:fld>
            <a:endParaRPr lang="es-MX"/>
          </a:p>
        </p:txBody>
      </p:sp>
    </p:spTree>
    <p:extLst>
      <p:ext uri="{BB962C8B-B14F-4D97-AF65-F5344CB8AC3E}">
        <p14:creationId xmlns:p14="http://schemas.microsoft.com/office/powerpoint/2010/main" val="3005831516"/>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anners 2">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4BC07578-6974-51DF-F972-B7DE6904582C}"/>
              </a:ext>
            </a:extLst>
          </p:cNvPr>
          <p:cNvPicPr>
            <a:picLocks noChangeAspect="1"/>
          </p:cNvPicPr>
          <p:nvPr userDrawn="1"/>
        </p:nvPicPr>
        <p:blipFill>
          <a:blip r:embed="rId2"/>
          <a:stretch>
            <a:fillRect/>
          </a:stretch>
        </p:blipFill>
        <p:spPr>
          <a:xfrm>
            <a:off x="0" y="0"/>
            <a:ext cx="9144000" cy="5145088"/>
          </a:xfrm>
          <a:prstGeom prst="rect">
            <a:avLst/>
          </a:prstGeom>
        </p:spPr>
      </p:pic>
      <p:sp>
        <p:nvSpPr>
          <p:cNvPr id="4" name="Picture Placeholder 5">
            <a:extLst>
              <a:ext uri="{FF2B5EF4-FFF2-40B4-BE49-F238E27FC236}">
                <a16:creationId xmlns:a16="http://schemas.microsoft.com/office/drawing/2014/main" id="{E8C68904-845A-EF98-9A52-AF667AF94587}"/>
              </a:ext>
            </a:extLst>
          </p:cNvPr>
          <p:cNvSpPr>
            <a:spLocks noGrp="1"/>
          </p:cNvSpPr>
          <p:nvPr>
            <p:ph type="pic" sz="quarter" idx="11"/>
          </p:nvPr>
        </p:nvSpPr>
        <p:spPr>
          <a:xfrm>
            <a:off x="2888268" y="1781003"/>
            <a:ext cx="1147385" cy="1147739"/>
          </a:xfrm>
          <a:custGeom>
            <a:avLst/>
            <a:gdLst>
              <a:gd name="connsiteX0" fmla="*/ 549009 w 1098018"/>
              <a:gd name="connsiteY0" fmla="*/ 0 h 1098018"/>
              <a:gd name="connsiteX1" fmla="*/ 1098018 w 1098018"/>
              <a:gd name="connsiteY1" fmla="*/ 549009 h 1098018"/>
              <a:gd name="connsiteX2" fmla="*/ 549009 w 1098018"/>
              <a:gd name="connsiteY2" fmla="*/ 1098018 h 1098018"/>
              <a:gd name="connsiteX3" fmla="*/ 0 w 1098018"/>
              <a:gd name="connsiteY3" fmla="*/ 549009 h 1098018"/>
              <a:gd name="connsiteX4" fmla="*/ 549009 w 1098018"/>
              <a:gd name="connsiteY4" fmla="*/ 0 h 1098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8018" h="1098018">
                <a:moveTo>
                  <a:pt x="549009" y="0"/>
                </a:moveTo>
                <a:cubicBezTo>
                  <a:pt x="852218" y="0"/>
                  <a:pt x="1098018" y="245800"/>
                  <a:pt x="1098018" y="549009"/>
                </a:cubicBezTo>
                <a:cubicBezTo>
                  <a:pt x="1098018" y="852218"/>
                  <a:pt x="852218" y="1098018"/>
                  <a:pt x="549009" y="1098018"/>
                </a:cubicBezTo>
                <a:cubicBezTo>
                  <a:pt x="245800" y="1098018"/>
                  <a:pt x="0" y="852218"/>
                  <a:pt x="0" y="549009"/>
                </a:cubicBezTo>
                <a:cubicBezTo>
                  <a:pt x="0" y="245800"/>
                  <a:pt x="245800" y="0"/>
                  <a:pt x="549009" y="0"/>
                </a:cubicBezTo>
                <a:close/>
              </a:path>
            </a:pathLst>
          </a:custGeom>
          <a:solidFill>
            <a:schemeClr val="bg1"/>
          </a:solidFill>
        </p:spPr>
        <p:txBody>
          <a:bodyPr wrap="square">
            <a:noAutofit/>
          </a:bodyPr>
          <a:lstStyle>
            <a:lvl1pPr>
              <a:defRPr lang="en-ID" sz="825"/>
            </a:lvl1pPr>
          </a:lstStyle>
          <a:p>
            <a:pPr marL="0" lvl="0" indent="0" algn="ctr">
              <a:buNone/>
            </a:pPr>
            <a:endParaRPr lang="en-ID"/>
          </a:p>
        </p:txBody>
      </p:sp>
      <p:sp>
        <p:nvSpPr>
          <p:cNvPr id="5" name="Picture Placeholder 6">
            <a:extLst>
              <a:ext uri="{FF2B5EF4-FFF2-40B4-BE49-F238E27FC236}">
                <a16:creationId xmlns:a16="http://schemas.microsoft.com/office/drawing/2014/main" id="{7878B578-CEF6-B9D3-4A92-FB77C66C0116}"/>
              </a:ext>
            </a:extLst>
          </p:cNvPr>
          <p:cNvSpPr>
            <a:spLocks noGrp="1"/>
          </p:cNvSpPr>
          <p:nvPr>
            <p:ph type="pic" sz="quarter" idx="12"/>
          </p:nvPr>
        </p:nvSpPr>
        <p:spPr>
          <a:xfrm>
            <a:off x="5147582" y="1781003"/>
            <a:ext cx="1147385" cy="1147739"/>
          </a:xfrm>
          <a:custGeom>
            <a:avLst/>
            <a:gdLst>
              <a:gd name="connsiteX0" fmla="*/ 549009 w 1098018"/>
              <a:gd name="connsiteY0" fmla="*/ 0 h 1098018"/>
              <a:gd name="connsiteX1" fmla="*/ 1098018 w 1098018"/>
              <a:gd name="connsiteY1" fmla="*/ 549009 h 1098018"/>
              <a:gd name="connsiteX2" fmla="*/ 549009 w 1098018"/>
              <a:gd name="connsiteY2" fmla="*/ 1098018 h 1098018"/>
              <a:gd name="connsiteX3" fmla="*/ 0 w 1098018"/>
              <a:gd name="connsiteY3" fmla="*/ 549009 h 1098018"/>
              <a:gd name="connsiteX4" fmla="*/ 549009 w 1098018"/>
              <a:gd name="connsiteY4" fmla="*/ 0 h 1098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8018" h="1098018">
                <a:moveTo>
                  <a:pt x="549009" y="0"/>
                </a:moveTo>
                <a:cubicBezTo>
                  <a:pt x="852218" y="0"/>
                  <a:pt x="1098018" y="245800"/>
                  <a:pt x="1098018" y="549009"/>
                </a:cubicBezTo>
                <a:cubicBezTo>
                  <a:pt x="1098018" y="852218"/>
                  <a:pt x="852218" y="1098018"/>
                  <a:pt x="549009" y="1098018"/>
                </a:cubicBezTo>
                <a:cubicBezTo>
                  <a:pt x="245800" y="1098018"/>
                  <a:pt x="0" y="852218"/>
                  <a:pt x="0" y="549009"/>
                </a:cubicBezTo>
                <a:cubicBezTo>
                  <a:pt x="0" y="245800"/>
                  <a:pt x="245800" y="0"/>
                  <a:pt x="549009" y="0"/>
                </a:cubicBezTo>
                <a:close/>
              </a:path>
            </a:pathLst>
          </a:custGeom>
          <a:solidFill>
            <a:schemeClr val="bg1"/>
          </a:solidFill>
        </p:spPr>
        <p:txBody>
          <a:bodyPr wrap="square">
            <a:noAutofit/>
          </a:bodyPr>
          <a:lstStyle>
            <a:lvl1pPr>
              <a:defRPr lang="en-ID" sz="825"/>
            </a:lvl1pPr>
          </a:lstStyle>
          <a:p>
            <a:pPr marL="0" lvl="0" indent="0" algn="ctr">
              <a:buNone/>
            </a:pPr>
            <a:endParaRPr lang="en-ID"/>
          </a:p>
        </p:txBody>
      </p:sp>
      <p:sp>
        <p:nvSpPr>
          <p:cNvPr id="6" name="Picture Placeholder 7">
            <a:extLst>
              <a:ext uri="{FF2B5EF4-FFF2-40B4-BE49-F238E27FC236}">
                <a16:creationId xmlns:a16="http://schemas.microsoft.com/office/drawing/2014/main" id="{6C606554-3896-440A-54B7-4DE81625342A}"/>
              </a:ext>
            </a:extLst>
          </p:cNvPr>
          <p:cNvSpPr>
            <a:spLocks noGrp="1"/>
          </p:cNvSpPr>
          <p:nvPr>
            <p:ph type="pic" sz="quarter" idx="13"/>
          </p:nvPr>
        </p:nvSpPr>
        <p:spPr>
          <a:xfrm>
            <a:off x="7406896" y="1781003"/>
            <a:ext cx="1147385" cy="1147739"/>
          </a:xfrm>
          <a:custGeom>
            <a:avLst/>
            <a:gdLst>
              <a:gd name="connsiteX0" fmla="*/ 549009 w 1098018"/>
              <a:gd name="connsiteY0" fmla="*/ 0 h 1098018"/>
              <a:gd name="connsiteX1" fmla="*/ 1098018 w 1098018"/>
              <a:gd name="connsiteY1" fmla="*/ 549009 h 1098018"/>
              <a:gd name="connsiteX2" fmla="*/ 549009 w 1098018"/>
              <a:gd name="connsiteY2" fmla="*/ 1098018 h 1098018"/>
              <a:gd name="connsiteX3" fmla="*/ 0 w 1098018"/>
              <a:gd name="connsiteY3" fmla="*/ 549009 h 1098018"/>
              <a:gd name="connsiteX4" fmla="*/ 549009 w 1098018"/>
              <a:gd name="connsiteY4" fmla="*/ 0 h 1098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8018" h="1098018">
                <a:moveTo>
                  <a:pt x="549009" y="0"/>
                </a:moveTo>
                <a:cubicBezTo>
                  <a:pt x="852218" y="0"/>
                  <a:pt x="1098018" y="245800"/>
                  <a:pt x="1098018" y="549009"/>
                </a:cubicBezTo>
                <a:cubicBezTo>
                  <a:pt x="1098018" y="852218"/>
                  <a:pt x="852218" y="1098018"/>
                  <a:pt x="549009" y="1098018"/>
                </a:cubicBezTo>
                <a:cubicBezTo>
                  <a:pt x="245800" y="1098018"/>
                  <a:pt x="0" y="852218"/>
                  <a:pt x="0" y="549009"/>
                </a:cubicBezTo>
                <a:cubicBezTo>
                  <a:pt x="0" y="245800"/>
                  <a:pt x="245800" y="0"/>
                  <a:pt x="549009" y="0"/>
                </a:cubicBezTo>
                <a:close/>
              </a:path>
            </a:pathLst>
          </a:custGeom>
          <a:solidFill>
            <a:schemeClr val="bg1"/>
          </a:solidFill>
        </p:spPr>
        <p:txBody>
          <a:bodyPr wrap="square">
            <a:noAutofit/>
          </a:bodyPr>
          <a:lstStyle>
            <a:lvl1pPr>
              <a:defRPr lang="en-ID" sz="825" dirty="0"/>
            </a:lvl1pPr>
          </a:lstStyle>
          <a:p>
            <a:pPr marL="0" lvl="0" indent="0" algn="ctr">
              <a:buNone/>
            </a:pPr>
            <a:endParaRPr lang="en-ID"/>
          </a:p>
        </p:txBody>
      </p:sp>
      <p:sp>
        <p:nvSpPr>
          <p:cNvPr id="8" name="Picture Placeholder 4">
            <a:extLst>
              <a:ext uri="{FF2B5EF4-FFF2-40B4-BE49-F238E27FC236}">
                <a16:creationId xmlns:a16="http://schemas.microsoft.com/office/drawing/2014/main" id="{1F8E519E-014B-ABDA-22E0-F6CD8A218975}"/>
              </a:ext>
            </a:extLst>
          </p:cNvPr>
          <p:cNvSpPr>
            <a:spLocks noGrp="1"/>
          </p:cNvSpPr>
          <p:nvPr>
            <p:ph type="pic" sz="quarter" idx="14"/>
          </p:nvPr>
        </p:nvSpPr>
        <p:spPr>
          <a:xfrm>
            <a:off x="628954" y="1781003"/>
            <a:ext cx="1147385" cy="1147739"/>
          </a:xfrm>
          <a:custGeom>
            <a:avLst/>
            <a:gdLst>
              <a:gd name="connsiteX0" fmla="*/ 549009 w 1098018"/>
              <a:gd name="connsiteY0" fmla="*/ 0 h 1098018"/>
              <a:gd name="connsiteX1" fmla="*/ 1098018 w 1098018"/>
              <a:gd name="connsiteY1" fmla="*/ 549009 h 1098018"/>
              <a:gd name="connsiteX2" fmla="*/ 549009 w 1098018"/>
              <a:gd name="connsiteY2" fmla="*/ 1098018 h 1098018"/>
              <a:gd name="connsiteX3" fmla="*/ 0 w 1098018"/>
              <a:gd name="connsiteY3" fmla="*/ 549009 h 1098018"/>
              <a:gd name="connsiteX4" fmla="*/ 549009 w 1098018"/>
              <a:gd name="connsiteY4" fmla="*/ 0 h 10980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98018" h="1098018">
                <a:moveTo>
                  <a:pt x="549009" y="0"/>
                </a:moveTo>
                <a:cubicBezTo>
                  <a:pt x="852218" y="0"/>
                  <a:pt x="1098018" y="245800"/>
                  <a:pt x="1098018" y="549009"/>
                </a:cubicBezTo>
                <a:cubicBezTo>
                  <a:pt x="1098018" y="852218"/>
                  <a:pt x="852218" y="1098018"/>
                  <a:pt x="549009" y="1098018"/>
                </a:cubicBezTo>
                <a:cubicBezTo>
                  <a:pt x="245800" y="1098018"/>
                  <a:pt x="0" y="852218"/>
                  <a:pt x="0" y="549009"/>
                </a:cubicBezTo>
                <a:cubicBezTo>
                  <a:pt x="0" y="245800"/>
                  <a:pt x="245800" y="0"/>
                  <a:pt x="549009" y="0"/>
                </a:cubicBezTo>
                <a:close/>
              </a:path>
            </a:pathLst>
          </a:custGeom>
          <a:solidFill>
            <a:schemeClr val="bg1"/>
          </a:solidFill>
        </p:spPr>
        <p:txBody>
          <a:bodyPr wrap="square">
            <a:noAutofit/>
          </a:bodyPr>
          <a:lstStyle>
            <a:lvl1pPr>
              <a:defRPr lang="en-ID" sz="825"/>
            </a:lvl1pPr>
          </a:lstStyle>
          <a:p>
            <a:pPr marL="0" lvl="0" indent="0" algn="ctr">
              <a:buNone/>
            </a:pPr>
            <a:endParaRPr lang="en-ID"/>
          </a:p>
        </p:txBody>
      </p:sp>
      <p:sp>
        <p:nvSpPr>
          <p:cNvPr id="9" name="Date Placeholder 3">
            <a:extLst>
              <a:ext uri="{FF2B5EF4-FFF2-40B4-BE49-F238E27FC236}">
                <a16:creationId xmlns:a16="http://schemas.microsoft.com/office/drawing/2014/main" id="{1C7D3D56-86B6-74AE-7F9C-4BB222C4F148}"/>
              </a:ext>
            </a:extLst>
          </p:cNvPr>
          <p:cNvSpPr>
            <a:spLocks noGrp="1"/>
          </p:cNvSpPr>
          <p:nvPr>
            <p:ph type="dt" sz="half" idx="10"/>
          </p:nvPr>
        </p:nvSpPr>
        <p:spPr>
          <a:xfrm>
            <a:off x="251222" y="4624496"/>
            <a:ext cx="2031527" cy="270484"/>
          </a:xfrm>
          <a:prstGeom prst="rect">
            <a:avLst/>
          </a:prstGeom>
        </p:spPr>
        <p:txBody>
          <a:bodyPr anchor="ctr"/>
          <a:lstStyle>
            <a:lvl1pPr>
              <a:defRPr sz="45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fld id="{8B636DD7-9EC0-2343-87F4-811CC24B63A7}" type="datetimeFigureOut">
              <a:rPr lang="es-MX" smtClean="0"/>
              <a:pPr/>
              <a:t>30/09/2026</a:t>
            </a:fld>
            <a:endParaRPr lang="es-MX"/>
          </a:p>
        </p:txBody>
      </p:sp>
      <p:sp>
        <p:nvSpPr>
          <p:cNvPr id="10" name="Footer Placeholder 4">
            <a:extLst>
              <a:ext uri="{FF2B5EF4-FFF2-40B4-BE49-F238E27FC236}">
                <a16:creationId xmlns:a16="http://schemas.microsoft.com/office/drawing/2014/main" id="{32CBD62A-32DB-2934-08D4-D36BBC585746}"/>
              </a:ext>
            </a:extLst>
          </p:cNvPr>
          <p:cNvSpPr>
            <a:spLocks noGrp="1"/>
          </p:cNvSpPr>
          <p:nvPr>
            <p:ph type="ftr" sz="quarter" idx="3"/>
          </p:nvPr>
        </p:nvSpPr>
        <p:spPr>
          <a:xfrm>
            <a:off x="5299514" y="4620137"/>
            <a:ext cx="3047291" cy="270484"/>
          </a:xfrm>
          <a:prstGeom prst="rect">
            <a:avLst/>
          </a:prstGeom>
        </p:spPr>
        <p:txBody>
          <a:bodyPr vert="horz" lIns="91440" tIns="45720" rIns="91440" bIns="45720" rtlCol="0" anchor="ctr"/>
          <a:lstStyle>
            <a:lvl1pPr algn="r">
              <a:defRPr sz="45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stStyle>
          <a:p>
            <a:r>
              <a:rPr lang="es-MX"/>
              <a:t>PORTAFOLIO DE SOLUCIONES AXITY</a:t>
            </a:r>
          </a:p>
        </p:txBody>
      </p:sp>
      <p:pic>
        <p:nvPicPr>
          <p:cNvPr id="11" name="Picture 9" descr="A logo with a snowflake&#10;&#10;Description automatically generated">
            <a:extLst>
              <a:ext uri="{FF2B5EF4-FFF2-40B4-BE49-F238E27FC236}">
                <a16:creationId xmlns:a16="http://schemas.microsoft.com/office/drawing/2014/main" id="{81DD562D-DC8A-9659-C1A4-5DE7D3624B57}"/>
              </a:ext>
            </a:extLst>
          </p:cNvPr>
          <p:cNvPicPr>
            <a:picLocks noChangeAspect="1"/>
          </p:cNvPicPr>
          <p:nvPr userDrawn="1"/>
        </p:nvPicPr>
        <p:blipFill>
          <a:blip r:embed="rId3"/>
          <a:stretch>
            <a:fillRect/>
          </a:stretch>
        </p:blipFill>
        <p:spPr>
          <a:xfrm>
            <a:off x="8346805" y="4620138"/>
            <a:ext cx="545974" cy="264069"/>
          </a:xfrm>
          <a:prstGeom prst="rect">
            <a:avLst/>
          </a:prstGeom>
        </p:spPr>
      </p:pic>
      <p:sp>
        <p:nvSpPr>
          <p:cNvPr id="12" name="Slide Number Placeholder 5">
            <a:extLst>
              <a:ext uri="{FF2B5EF4-FFF2-40B4-BE49-F238E27FC236}">
                <a16:creationId xmlns:a16="http://schemas.microsoft.com/office/drawing/2014/main" id="{332B42C3-EB27-8BD6-00F2-801011C15D03}"/>
              </a:ext>
            </a:extLst>
          </p:cNvPr>
          <p:cNvSpPr>
            <a:spLocks noGrp="1"/>
          </p:cNvSpPr>
          <p:nvPr>
            <p:ph type="sldNum" sz="quarter" idx="4"/>
          </p:nvPr>
        </p:nvSpPr>
        <p:spPr>
          <a:xfrm>
            <a:off x="8654791" y="250109"/>
            <a:ext cx="237988" cy="174532"/>
          </a:xfrm>
          <a:prstGeom prst="rect">
            <a:avLst/>
          </a:prstGeom>
        </p:spPr>
        <p:txBody>
          <a:bodyPr/>
          <a:lstStyle>
            <a:lvl1pPr algn="ctr">
              <a:defRPr sz="450">
                <a:solidFill>
                  <a:schemeClr val="bg1"/>
                </a:solidFill>
                <a:latin typeface="Century" panose="02040604050505020304" pitchFamily="18" charset="0"/>
              </a:defRPr>
            </a:lvl1pPr>
          </a:lstStyle>
          <a:p>
            <a:fld id="{B25F5A20-7E25-C84E-8766-4FA53A4AD820}" type="slidenum">
              <a:rPr lang="es-MX" smtClean="0"/>
              <a:pPr/>
              <a:t>‹Nº›</a:t>
            </a:fld>
            <a:endParaRPr lang="es-MX"/>
          </a:p>
        </p:txBody>
      </p:sp>
    </p:spTree>
    <p:extLst>
      <p:ext uri="{BB962C8B-B14F-4D97-AF65-F5344CB8AC3E}">
        <p14:creationId xmlns:p14="http://schemas.microsoft.com/office/powerpoint/2010/main" val="75239481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anners 2">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4BC07578-6974-51DF-F972-B7DE6904582C}"/>
              </a:ext>
            </a:extLst>
          </p:cNvPr>
          <p:cNvPicPr>
            <a:picLocks noChangeAspect="1"/>
          </p:cNvPicPr>
          <p:nvPr userDrawn="1"/>
        </p:nvPicPr>
        <p:blipFill>
          <a:blip r:embed="rId2"/>
          <a:stretch>
            <a:fillRect/>
          </a:stretch>
        </p:blipFill>
        <p:spPr>
          <a:xfrm>
            <a:off x="0" y="0"/>
            <a:ext cx="9144000" cy="5145088"/>
          </a:xfrm>
          <a:prstGeom prst="rect">
            <a:avLst/>
          </a:prstGeom>
        </p:spPr>
      </p:pic>
      <p:sp>
        <p:nvSpPr>
          <p:cNvPr id="2" name="Picture Placeholder 4">
            <a:extLst>
              <a:ext uri="{FF2B5EF4-FFF2-40B4-BE49-F238E27FC236}">
                <a16:creationId xmlns:a16="http://schemas.microsoft.com/office/drawing/2014/main" id="{E700DF37-0D35-1B5D-DC54-AE066007C2DE}"/>
              </a:ext>
            </a:extLst>
          </p:cNvPr>
          <p:cNvSpPr>
            <a:spLocks noGrp="1"/>
          </p:cNvSpPr>
          <p:nvPr>
            <p:ph type="pic" sz="quarter" idx="11"/>
          </p:nvPr>
        </p:nvSpPr>
        <p:spPr>
          <a:xfrm>
            <a:off x="5816112" y="675819"/>
            <a:ext cx="2756663" cy="3793451"/>
          </a:xfrm>
          <a:custGeom>
            <a:avLst/>
            <a:gdLst>
              <a:gd name="connsiteX0" fmla="*/ 335144 w 4574719"/>
              <a:gd name="connsiteY0" fmla="*/ 0 h 5400675"/>
              <a:gd name="connsiteX1" fmla="*/ 4239575 w 4574719"/>
              <a:gd name="connsiteY1" fmla="*/ 0 h 5400675"/>
              <a:gd name="connsiteX2" fmla="*/ 4574719 w 4574719"/>
              <a:gd name="connsiteY2" fmla="*/ 335144 h 5400675"/>
              <a:gd name="connsiteX3" fmla="*/ 4574719 w 4574719"/>
              <a:gd name="connsiteY3" fmla="*/ 5065531 h 5400675"/>
              <a:gd name="connsiteX4" fmla="*/ 4239575 w 4574719"/>
              <a:gd name="connsiteY4" fmla="*/ 5400675 h 5400675"/>
              <a:gd name="connsiteX5" fmla="*/ 335144 w 4574719"/>
              <a:gd name="connsiteY5" fmla="*/ 5400675 h 5400675"/>
              <a:gd name="connsiteX6" fmla="*/ 0 w 4574719"/>
              <a:gd name="connsiteY6" fmla="*/ 5065531 h 5400675"/>
              <a:gd name="connsiteX7" fmla="*/ 0 w 4574719"/>
              <a:gd name="connsiteY7" fmla="*/ 335144 h 5400675"/>
              <a:gd name="connsiteX8" fmla="*/ 335144 w 4574719"/>
              <a:gd name="connsiteY8" fmla="*/ 0 h 5400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4719" h="5400675">
                <a:moveTo>
                  <a:pt x="335144" y="0"/>
                </a:moveTo>
                <a:lnTo>
                  <a:pt x="4239575" y="0"/>
                </a:lnTo>
                <a:cubicBezTo>
                  <a:pt x="4424670" y="0"/>
                  <a:pt x="4574719" y="150049"/>
                  <a:pt x="4574719" y="335144"/>
                </a:cubicBezTo>
                <a:lnTo>
                  <a:pt x="4574719" y="5065531"/>
                </a:lnTo>
                <a:cubicBezTo>
                  <a:pt x="4574719" y="5250626"/>
                  <a:pt x="4424670" y="5400675"/>
                  <a:pt x="4239575" y="5400675"/>
                </a:cubicBezTo>
                <a:lnTo>
                  <a:pt x="335144" y="5400675"/>
                </a:lnTo>
                <a:cubicBezTo>
                  <a:pt x="150049" y="5400675"/>
                  <a:pt x="0" y="5250626"/>
                  <a:pt x="0" y="5065531"/>
                </a:cubicBezTo>
                <a:lnTo>
                  <a:pt x="0" y="335144"/>
                </a:lnTo>
                <a:cubicBezTo>
                  <a:pt x="0" y="150049"/>
                  <a:pt x="150049" y="0"/>
                  <a:pt x="335144" y="0"/>
                </a:cubicBezTo>
                <a:close/>
              </a:path>
            </a:pathLst>
          </a:custGeom>
          <a:solidFill>
            <a:schemeClr val="bg1"/>
          </a:solidFill>
        </p:spPr>
        <p:txBody>
          <a:bodyPr wrap="square">
            <a:noAutofit/>
          </a:bodyPr>
          <a:lstStyle>
            <a:lvl1pPr>
              <a:defRPr lang="en-ID" sz="825" dirty="0"/>
            </a:lvl1pPr>
          </a:lstStyle>
          <a:p>
            <a:pPr marL="0" lvl="0" indent="0" algn="ctr">
              <a:buNone/>
            </a:pPr>
            <a:endParaRPr lang="en-ID"/>
          </a:p>
        </p:txBody>
      </p:sp>
      <p:sp>
        <p:nvSpPr>
          <p:cNvPr id="3" name="Date Placeholder 3">
            <a:extLst>
              <a:ext uri="{FF2B5EF4-FFF2-40B4-BE49-F238E27FC236}">
                <a16:creationId xmlns:a16="http://schemas.microsoft.com/office/drawing/2014/main" id="{62D39182-DA0A-AA55-A4BC-149411FF4D48}"/>
              </a:ext>
            </a:extLst>
          </p:cNvPr>
          <p:cNvSpPr>
            <a:spLocks noGrp="1"/>
          </p:cNvSpPr>
          <p:nvPr>
            <p:ph type="dt" sz="half" idx="10"/>
          </p:nvPr>
        </p:nvSpPr>
        <p:spPr>
          <a:xfrm>
            <a:off x="251222" y="4624496"/>
            <a:ext cx="2031527" cy="270484"/>
          </a:xfrm>
          <a:prstGeom prst="rect">
            <a:avLst/>
          </a:prstGeom>
        </p:spPr>
        <p:txBody>
          <a:bodyPr anchor="ctr"/>
          <a:lstStyle>
            <a:lvl1pPr>
              <a:defRPr sz="45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fld id="{8B636DD7-9EC0-2343-87F4-811CC24B63A7}" type="datetimeFigureOut">
              <a:rPr lang="es-MX" smtClean="0"/>
              <a:pPr/>
              <a:t>30/09/2026</a:t>
            </a:fld>
            <a:endParaRPr lang="es-MX"/>
          </a:p>
        </p:txBody>
      </p:sp>
      <p:sp>
        <p:nvSpPr>
          <p:cNvPr id="9" name="Footer Placeholder 4">
            <a:extLst>
              <a:ext uri="{FF2B5EF4-FFF2-40B4-BE49-F238E27FC236}">
                <a16:creationId xmlns:a16="http://schemas.microsoft.com/office/drawing/2014/main" id="{08DD1B04-A328-74DA-6CE2-A0F9EF165077}"/>
              </a:ext>
            </a:extLst>
          </p:cNvPr>
          <p:cNvSpPr>
            <a:spLocks noGrp="1"/>
          </p:cNvSpPr>
          <p:nvPr>
            <p:ph type="ftr" sz="quarter" idx="3"/>
          </p:nvPr>
        </p:nvSpPr>
        <p:spPr>
          <a:xfrm>
            <a:off x="5299514" y="4620137"/>
            <a:ext cx="3047291" cy="270484"/>
          </a:xfrm>
          <a:prstGeom prst="rect">
            <a:avLst/>
          </a:prstGeom>
        </p:spPr>
        <p:txBody>
          <a:bodyPr vert="horz" lIns="91440" tIns="45720" rIns="91440" bIns="45720" rtlCol="0" anchor="ctr"/>
          <a:lstStyle>
            <a:lvl1pPr algn="r">
              <a:defRPr sz="45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stStyle>
          <a:p>
            <a:r>
              <a:rPr lang="es-MX"/>
              <a:t>PORTAFOLIO DE SOLUCIONES AXITY</a:t>
            </a:r>
          </a:p>
        </p:txBody>
      </p:sp>
      <p:pic>
        <p:nvPicPr>
          <p:cNvPr id="10" name="Picture 9" descr="A logo with a snowflake&#10;&#10;Description automatically generated">
            <a:extLst>
              <a:ext uri="{FF2B5EF4-FFF2-40B4-BE49-F238E27FC236}">
                <a16:creationId xmlns:a16="http://schemas.microsoft.com/office/drawing/2014/main" id="{2299D874-E2AF-7C19-333C-091EC008443F}"/>
              </a:ext>
            </a:extLst>
          </p:cNvPr>
          <p:cNvPicPr>
            <a:picLocks noChangeAspect="1"/>
          </p:cNvPicPr>
          <p:nvPr userDrawn="1"/>
        </p:nvPicPr>
        <p:blipFill>
          <a:blip r:embed="rId3"/>
          <a:stretch>
            <a:fillRect/>
          </a:stretch>
        </p:blipFill>
        <p:spPr>
          <a:xfrm>
            <a:off x="8346805" y="4620138"/>
            <a:ext cx="545974" cy="264069"/>
          </a:xfrm>
          <a:prstGeom prst="rect">
            <a:avLst/>
          </a:prstGeom>
        </p:spPr>
      </p:pic>
      <p:sp>
        <p:nvSpPr>
          <p:cNvPr id="11" name="Slide Number Placeholder 5">
            <a:extLst>
              <a:ext uri="{FF2B5EF4-FFF2-40B4-BE49-F238E27FC236}">
                <a16:creationId xmlns:a16="http://schemas.microsoft.com/office/drawing/2014/main" id="{0B27137A-02F7-592B-883A-C7D5BFF02FBC}"/>
              </a:ext>
            </a:extLst>
          </p:cNvPr>
          <p:cNvSpPr>
            <a:spLocks noGrp="1"/>
          </p:cNvSpPr>
          <p:nvPr>
            <p:ph type="sldNum" sz="quarter" idx="4"/>
          </p:nvPr>
        </p:nvSpPr>
        <p:spPr>
          <a:xfrm>
            <a:off x="8654791" y="250109"/>
            <a:ext cx="237988" cy="174532"/>
          </a:xfrm>
          <a:prstGeom prst="rect">
            <a:avLst/>
          </a:prstGeom>
        </p:spPr>
        <p:txBody>
          <a:bodyPr/>
          <a:lstStyle>
            <a:lvl1pPr algn="ctr">
              <a:defRPr sz="450">
                <a:solidFill>
                  <a:schemeClr val="bg1"/>
                </a:solidFill>
                <a:latin typeface="Century" panose="02040604050505020304" pitchFamily="18" charset="0"/>
              </a:defRPr>
            </a:lvl1pPr>
          </a:lstStyle>
          <a:p>
            <a:fld id="{B25F5A20-7E25-C84E-8766-4FA53A4AD820}" type="slidenum">
              <a:rPr lang="es-MX" smtClean="0"/>
              <a:pPr/>
              <a:t>‹Nº›</a:t>
            </a:fld>
            <a:endParaRPr lang="es-MX"/>
          </a:p>
        </p:txBody>
      </p:sp>
    </p:spTree>
    <p:extLst>
      <p:ext uri="{BB962C8B-B14F-4D97-AF65-F5344CB8AC3E}">
        <p14:creationId xmlns:p14="http://schemas.microsoft.com/office/powerpoint/2010/main" val="1249381336"/>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1764689"/>
      </p:ext>
    </p:extLst>
  </p:cSld>
  <p:clrMap bg1="lt1" tx1="dk1" bg2="lt2" tx2="dk2" accent1="accent1" accent2="accent2" accent3="accent3" accent4="accent4" accent5="accent5" accent6="accent6" hlink="hlink" folHlink="folHlink"/>
  <p:sldLayoutIdLst>
    <p:sldLayoutId id="2147483674" r:id="rId1"/>
    <p:sldLayoutId id="2147483661" r:id="rId2"/>
    <p:sldLayoutId id="2147483675" r:id="rId3"/>
    <p:sldLayoutId id="2147483651" r:id="rId4"/>
    <p:sldLayoutId id="2147483655" r:id="rId5"/>
    <p:sldLayoutId id="2147483656" r:id="rId6"/>
    <p:sldLayoutId id="2147483658" r:id="rId7"/>
    <p:sldLayoutId id="2147483659" r:id="rId8"/>
    <p:sldLayoutId id="2147483660" r:id="rId9"/>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58">
          <p15:clr>
            <a:srgbClr val="F26B43"/>
          </p15:clr>
        </p15:guide>
        <p15:guide id="2" orient="horz" pos="158">
          <p15:clr>
            <a:srgbClr val="F26B43"/>
          </p15:clr>
        </p15:guide>
        <p15:guide id="3" pos="5602">
          <p15:clr>
            <a:srgbClr val="F26B43"/>
          </p15:clr>
        </p15:guide>
        <p15:guide id="4" orient="horz" pos="3083">
          <p15:clr>
            <a:srgbClr val="F26B43"/>
          </p15:clr>
        </p15:guide>
      </p15:sldGuideLst>
    </p:ext>
  </p:extLst>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3.png"/><Relationship Id="rId1" Type="http://schemas.openxmlformats.org/officeDocument/2006/relationships/slideLayout" Target="../slideLayouts/slideLayout5.xml"/><Relationship Id="rId5" Type="http://schemas.openxmlformats.org/officeDocument/2006/relationships/image" Target="../media/image14.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7" Type="http://schemas.openxmlformats.org/officeDocument/2006/relationships/image" Target="../media/image26.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27.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8" Type="http://schemas.openxmlformats.org/officeDocument/2006/relationships/image" Target="../media/image31.png"/><Relationship Id="rId3" Type="http://schemas.microsoft.com/office/2007/relationships/hdphoto" Target="../media/hdphoto1.wdp"/><Relationship Id="rId7" Type="http://schemas.openxmlformats.org/officeDocument/2006/relationships/image" Target="../media/image30.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32.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8" Type="http://schemas.openxmlformats.org/officeDocument/2006/relationships/image" Target="../media/image36.png"/><Relationship Id="rId3" Type="http://schemas.microsoft.com/office/2007/relationships/hdphoto" Target="../media/hdphoto1.wdp"/><Relationship Id="rId7" Type="http://schemas.openxmlformats.org/officeDocument/2006/relationships/image" Target="../media/image35.pn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34.jpg"/><Relationship Id="rId5" Type="http://schemas.openxmlformats.org/officeDocument/2006/relationships/image" Target="../media/image33.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image" Target="../media/image37.png"/><Relationship Id="rId7" Type="http://schemas.openxmlformats.org/officeDocument/2006/relationships/image" Target="../media/image39.png"/><Relationship Id="rId2" Type="http://schemas.openxmlformats.org/officeDocument/2006/relationships/hyperlink" Target="https://git-scm.com/download/win" TargetMode="External"/><Relationship Id="rId1" Type="http://schemas.openxmlformats.org/officeDocument/2006/relationships/slideLayout" Target="../slideLayouts/slideLayout6.xml"/><Relationship Id="rId6" Type="http://schemas.microsoft.com/office/2007/relationships/hdphoto" Target="../media/hdphoto3.wdp"/><Relationship Id="rId5" Type="http://schemas.openxmlformats.org/officeDocument/2006/relationships/image" Target="../media/image38.png"/><Relationship Id="rId4" Type="http://schemas.microsoft.com/office/2007/relationships/hdphoto" Target="../media/hdphoto2.wdp"/></Relationships>
</file>

<file path=ppt/slides/_rels/slide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40.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41.jp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42.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xml"/><Relationship Id="rId4" Type="http://schemas.openxmlformats.org/officeDocument/2006/relationships/image" Target="../media/image45.png"/></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4.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hyperlink" Target="https://github.com/libgit2/libgit2" TargetMode="External"/><Relationship Id="rId4" Type="http://schemas.openxmlformats.org/officeDocument/2006/relationships/image" Target="../media/image14.png"/></Relationships>
</file>

<file path=ppt/slides/_rels/slide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3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4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49.png"/><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53.jp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5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9.png"/><Relationship Id="rId1" Type="http://schemas.openxmlformats.org/officeDocument/2006/relationships/slideLayout" Target="../slideLayouts/slideLayout5.xml"/><Relationship Id="rId5" Type="http://schemas.openxmlformats.org/officeDocument/2006/relationships/image" Target="../media/image54.png"/><Relationship Id="rId4" Type="http://schemas.openxmlformats.org/officeDocument/2006/relationships/image" Target="../media/image14.png"/></Relationships>
</file>

<file path=ppt/slides/_rels/slide5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8" Type="http://schemas.openxmlformats.org/officeDocument/2006/relationships/image" Target="../media/image59.png"/><Relationship Id="rId3" Type="http://schemas.microsoft.com/office/2007/relationships/hdphoto" Target="../media/hdphoto1.wdp"/><Relationship Id="rId7" Type="http://schemas.openxmlformats.org/officeDocument/2006/relationships/image" Target="../media/image58.jpg"/><Relationship Id="rId2" Type="http://schemas.openxmlformats.org/officeDocument/2006/relationships/image" Target="../media/image9.png"/><Relationship Id="rId1" Type="http://schemas.openxmlformats.org/officeDocument/2006/relationships/slideLayout" Target="../slideLayouts/slideLayout5.xml"/><Relationship Id="rId6" Type="http://schemas.openxmlformats.org/officeDocument/2006/relationships/image" Target="../media/image57.bin"/><Relationship Id="rId5" Type="http://schemas.openxmlformats.org/officeDocument/2006/relationships/image" Target="../media/image56.png"/><Relationship Id="rId4" Type="http://schemas.openxmlformats.org/officeDocument/2006/relationships/image" Target="../media/image14.png"/></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ítulo 1">
            <a:extLst>
              <a:ext uri="{FF2B5EF4-FFF2-40B4-BE49-F238E27FC236}">
                <a16:creationId xmlns:a16="http://schemas.microsoft.com/office/drawing/2014/main" id="{07518EF3-F3A8-ACC4-8D98-AB3E96A0A656}"/>
              </a:ext>
            </a:extLst>
          </p:cNvPr>
          <p:cNvSpPr txBox="1">
            <a:spLocks/>
          </p:cNvSpPr>
          <p:nvPr/>
        </p:nvSpPr>
        <p:spPr>
          <a:xfrm>
            <a:off x="1085193" y="1764653"/>
            <a:ext cx="6320542" cy="791458"/>
          </a:xfrm>
          <a:prstGeom prst="rect">
            <a:avLst/>
          </a:prstGeom>
        </p:spPr>
        <p:txBody>
          <a:bodyPr lIns="91440" tIns="45720" rIns="91440" bIns="45720" anchor="t">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6600" dirty="0">
                <a:solidFill>
                  <a:schemeClr val="bg1"/>
                </a:solidFill>
                <a:ea typeface="Vita Std Bld" pitchFamily="2" charset="77"/>
                <a:cs typeface="Verdana" panose="020B0604030504040204" pitchFamily="34" charset="0"/>
              </a:rPr>
              <a:t>GIT</a:t>
            </a:r>
            <a:endParaRPr lang="es-MX" sz="6600" dirty="0">
              <a:solidFill>
                <a:srgbClr val="000000"/>
              </a:solidFill>
              <a:ea typeface="Vita Std Bld" pitchFamily="2" charset="77"/>
              <a:cs typeface="Verdana" panose="020B0604030504040204" pitchFamily="34" charset="0"/>
            </a:endParaRPr>
          </a:p>
        </p:txBody>
      </p:sp>
      <p:sp>
        <p:nvSpPr>
          <p:cNvPr id="7" name="Date Placeholder 3">
            <a:extLst>
              <a:ext uri="{FF2B5EF4-FFF2-40B4-BE49-F238E27FC236}">
                <a16:creationId xmlns:a16="http://schemas.microsoft.com/office/drawing/2014/main" id="{33C743B6-22DE-5AC1-5E12-0B930FA73BF8}"/>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solidFill>
                  <a:schemeClr val="bg1"/>
                </a:solidFill>
                <a:latin typeface="+mn-lt"/>
              </a:rPr>
              <a:pPr/>
              <a:t>30/09/2026</a:t>
            </a:fld>
            <a:endParaRPr lang="es-MX" sz="600">
              <a:solidFill>
                <a:schemeClr val="bg1"/>
              </a:solidFill>
              <a:latin typeface="+mn-lt"/>
            </a:endParaRPr>
          </a:p>
        </p:txBody>
      </p:sp>
      <p:sp>
        <p:nvSpPr>
          <p:cNvPr id="9" name="Footer Placeholder 4">
            <a:extLst>
              <a:ext uri="{FF2B5EF4-FFF2-40B4-BE49-F238E27FC236}">
                <a16:creationId xmlns:a16="http://schemas.microsoft.com/office/drawing/2014/main" id="{242E8D4C-E19A-E67A-3876-0CD95F72C71E}"/>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p>
        </p:txBody>
      </p:sp>
      <p:pic>
        <p:nvPicPr>
          <p:cNvPr id="11" name="Imagen 10" descr="Imagen que contiene oscuro, luz, iluminado&#10;&#10;El contenido generado por IA puede ser incorrecto.">
            <a:extLst>
              <a:ext uri="{FF2B5EF4-FFF2-40B4-BE49-F238E27FC236}">
                <a16:creationId xmlns:a16="http://schemas.microsoft.com/office/drawing/2014/main" id="{B39B0318-09E2-B3B9-65D1-2EE3E4C1D620}"/>
              </a:ext>
            </a:extLst>
          </p:cNvPr>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4343118" y="1306569"/>
            <a:ext cx="3840203" cy="3840203"/>
          </a:xfrm>
          <a:prstGeom prst="rect">
            <a:avLst/>
          </a:prstGeom>
        </p:spPr>
      </p:pic>
    </p:spTree>
    <p:extLst>
      <p:ext uri="{BB962C8B-B14F-4D97-AF65-F5344CB8AC3E}">
        <p14:creationId xmlns:p14="http://schemas.microsoft.com/office/powerpoint/2010/main" val="12771729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64B433F-15F5-BEA5-14B9-544C341F1916}"/>
              </a:ext>
            </a:extLst>
          </p:cNvPr>
          <p:cNvSpPr txBox="1"/>
          <p:nvPr/>
        </p:nvSpPr>
        <p:spPr>
          <a:xfrm>
            <a:off x="472186" y="1468050"/>
            <a:ext cx="3724187" cy="416974"/>
          </a:xfrm>
          <a:prstGeom prst="rect">
            <a:avLst/>
          </a:prstGeom>
          <a:noFill/>
        </p:spPr>
        <p:txBody>
          <a:bodyPr wrap="square" rtlCol="0">
            <a:spAutoFit/>
          </a:bodyPr>
          <a:lstStyle/>
          <a:p>
            <a:pPr algn="just">
              <a:lnSpc>
                <a:spcPct val="110000"/>
              </a:lnSpc>
            </a:pPr>
            <a:r>
              <a:rPr lang="es-MX" sz="1000" dirty="0"/>
              <a:t>Para el buen desarrollo del curso, solicitamos atentamente a los participantes</a:t>
            </a:r>
            <a:endParaRPr lang="es-MX" sz="1000" noProof="0" dirty="0">
              <a:ea typeface="Verdana" panose="020B0604030504040204" pitchFamily="34" charset="0"/>
              <a:cs typeface="Verdana" panose="020B0604030504040204" pitchFamily="34" charset="0"/>
            </a:endParaRPr>
          </a:p>
        </p:txBody>
      </p:sp>
      <p:sp>
        <p:nvSpPr>
          <p:cNvPr id="3" name="Título 1">
            <a:extLst>
              <a:ext uri="{FF2B5EF4-FFF2-40B4-BE49-F238E27FC236}">
                <a16:creationId xmlns:a16="http://schemas.microsoft.com/office/drawing/2014/main" id="{E296029A-0AF3-7722-CD48-DBB9EA97D867}"/>
              </a:ext>
            </a:extLst>
          </p:cNvPr>
          <p:cNvSpPr txBox="1">
            <a:spLocks/>
          </p:cNvSpPr>
          <p:nvPr/>
        </p:nvSpPr>
        <p:spPr>
          <a:xfrm>
            <a:off x="467772" y="771770"/>
            <a:ext cx="4106959" cy="947345"/>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3200" noProof="0" dirty="0">
                <a:ea typeface="Vita Std ExLt" pitchFamily="2" charset="77"/>
                <a:cs typeface="Verdana" panose="020B0604030504040204" pitchFamily="34" charset="0"/>
              </a:rPr>
              <a:t>Reglas del juego</a:t>
            </a:r>
          </a:p>
        </p:txBody>
      </p:sp>
      <p:sp>
        <p:nvSpPr>
          <p:cNvPr id="4" name="Rectangle: Rounded Corners 4">
            <a:extLst>
              <a:ext uri="{FF2B5EF4-FFF2-40B4-BE49-F238E27FC236}">
                <a16:creationId xmlns:a16="http://schemas.microsoft.com/office/drawing/2014/main" id="{220BDE01-142D-BC4C-8172-0B9C7AF7B38C}"/>
              </a:ext>
            </a:extLst>
          </p:cNvPr>
          <p:cNvSpPr/>
          <p:nvPr/>
        </p:nvSpPr>
        <p:spPr>
          <a:xfrm flipH="1">
            <a:off x="326802" y="2862111"/>
            <a:ext cx="1991611" cy="1409495"/>
          </a:xfrm>
          <a:prstGeom prst="roundRect">
            <a:avLst>
              <a:gd name="adj" fmla="val 14764"/>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latin typeface="Montserrat" pitchFamily="2" charset="77"/>
            </a:endParaRPr>
          </a:p>
        </p:txBody>
      </p:sp>
      <p:sp>
        <p:nvSpPr>
          <p:cNvPr id="5" name="CuadroTexto 26">
            <a:extLst>
              <a:ext uri="{FF2B5EF4-FFF2-40B4-BE49-F238E27FC236}">
                <a16:creationId xmlns:a16="http://schemas.microsoft.com/office/drawing/2014/main" id="{5C4BFEBC-3D50-4A90-3160-AF5FDDAFF711}"/>
              </a:ext>
            </a:extLst>
          </p:cNvPr>
          <p:cNvSpPr txBox="1"/>
          <p:nvPr/>
        </p:nvSpPr>
        <p:spPr>
          <a:xfrm>
            <a:off x="391796" y="2979827"/>
            <a:ext cx="1868905" cy="1175835"/>
          </a:xfrm>
          <a:prstGeom prst="rect">
            <a:avLst/>
          </a:prstGeom>
          <a:noFill/>
        </p:spPr>
        <p:txBody>
          <a:bodyPr wrap="square" rtlCol="0" anchor="t" anchorCtr="0">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MX" sz="1600" b="1" noProof="0" dirty="0">
                <a:solidFill>
                  <a:schemeClr val="bg1"/>
                </a:solidFill>
                <a:latin typeface="Century Gothic" panose="020B0502020202020204" pitchFamily="34" charset="0"/>
                <a:ea typeface="Verdana"/>
              </a:rPr>
              <a:t>Modo silencio</a:t>
            </a:r>
            <a:endParaRPr lang="es-MX" sz="2000" b="1" noProof="0" dirty="0">
              <a:solidFill>
                <a:schemeClr val="bg1"/>
              </a:solidFill>
              <a:latin typeface="Century Gothic" panose="020B0502020202020204" pitchFamily="34" charset="0"/>
              <a:ea typeface="Verdana"/>
            </a:endParaRPr>
          </a:p>
          <a:p>
            <a:pPr algn="just"/>
            <a:endParaRPr lang="es-MX" sz="700" noProof="0" dirty="0">
              <a:solidFill>
                <a:schemeClr val="bg1"/>
              </a:solidFill>
              <a:latin typeface="Century Gothic" panose="020B0502020202020204" pitchFamily="34" charset="0"/>
              <a:ea typeface="Verdana"/>
            </a:endParaRPr>
          </a:p>
          <a:p>
            <a:pPr marL="0" indent="0" algn="ctr">
              <a:lnSpc>
                <a:spcPct val="110000"/>
              </a:lnSpc>
              <a:buNone/>
            </a:pPr>
            <a:r>
              <a:rPr lang="es-MX" sz="1100" dirty="0">
                <a:solidFill>
                  <a:schemeClr val="bg1"/>
                </a:solidFill>
                <a:ea typeface="Verdana" panose="020B0604030504040204" pitchFamily="34" charset="0"/>
                <a:cs typeface="Verdana" panose="020B0604030504040204" pitchFamily="34" charset="0"/>
              </a:rPr>
              <a:t>Mantener sus micrófonos en modo silencio mientras no estén participando.</a:t>
            </a:r>
            <a:endParaRPr lang="es-MX" sz="1100" noProof="0" dirty="0">
              <a:solidFill>
                <a:schemeClr val="bg1"/>
              </a:solidFill>
              <a:ea typeface="Verdana" panose="020B0604030504040204" pitchFamily="34" charset="0"/>
              <a:cs typeface="Verdana" panose="020B0604030504040204" pitchFamily="34" charset="0"/>
            </a:endParaRPr>
          </a:p>
        </p:txBody>
      </p:sp>
      <p:sp>
        <p:nvSpPr>
          <p:cNvPr id="9" name="Rectangle: Rounded Corners 4">
            <a:extLst>
              <a:ext uri="{FF2B5EF4-FFF2-40B4-BE49-F238E27FC236}">
                <a16:creationId xmlns:a16="http://schemas.microsoft.com/office/drawing/2014/main" id="{8FF7EDD4-FCD1-1ADA-E331-318E2BC2E859}"/>
              </a:ext>
            </a:extLst>
          </p:cNvPr>
          <p:cNvSpPr/>
          <p:nvPr/>
        </p:nvSpPr>
        <p:spPr>
          <a:xfrm flipH="1">
            <a:off x="2503560" y="2862111"/>
            <a:ext cx="1991611" cy="1409495"/>
          </a:xfrm>
          <a:prstGeom prst="roundRect">
            <a:avLst>
              <a:gd name="adj" fmla="val 14764"/>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latin typeface="Montserrat" pitchFamily="2" charset="77"/>
            </a:endParaRPr>
          </a:p>
        </p:txBody>
      </p:sp>
      <p:sp>
        <p:nvSpPr>
          <p:cNvPr id="10" name="CuadroTexto 26">
            <a:extLst>
              <a:ext uri="{FF2B5EF4-FFF2-40B4-BE49-F238E27FC236}">
                <a16:creationId xmlns:a16="http://schemas.microsoft.com/office/drawing/2014/main" id="{2240C72A-A0C2-FE28-0B10-B5873E0964D2}"/>
              </a:ext>
            </a:extLst>
          </p:cNvPr>
          <p:cNvSpPr txBox="1"/>
          <p:nvPr/>
        </p:nvSpPr>
        <p:spPr>
          <a:xfrm>
            <a:off x="2568554" y="2979827"/>
            <a:ext cx="1868905" cy="1137812"/>
          </a:xfrm>
          <a:prstGeom prst="rect">
            <a:avLst/>
          </a:prstGeom>
          <a:noFill/>
        </p:spPr>
        <p:txBody>
          <a:bodyPr wrap="square" rtlCol="0" anchor="t" anchorCtr="0">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MX" sz="1600" b="1" noProof="0" dirty="0">
                <a:solidFill>
                  <a:schemeClr val="bg1"/>
                </a:solidFill>
                <a:latin typeface="Century Gothic" panose="020B0502020202020204" pitchFamily="34" charset="0"/>
                <a:ea typeface="Verdana"/>
              </a:rPr>
              <a:t>Puntualidad</a:t>
            </a:r>
            <a:endParaRPr lang="es-MX" sz="2000" b="1" noProof="0" dirty="0">
              <a:solidFill>
                <a:schemeClr val="bg1"/>
              </a:solidFill>
              <a:latin typeface="Century Gothic" panose="020B0502020202020204" pitchFamily="34" charset="0"/>
              <a:ea typeface="Verdana"/>
            </a:endParaRPr>
          </a:p>
          <a:p>
            <a:pPr algn="just"/>
            <a:endParaRPr lang="es-MX" sz="700" noProof="0" dirty="0">
              <a:solidFill>
                <a:schemeClr val="bg1"/>
              </a:solidFill>
              <a:latin typeface="Century Gothic" panose="020B0502020202020204" pitchFamily="34" charset="0"/>
              <a:ea typeface="Verdana"/>
            </a:endParaRPr>
          </a:p>
          <a:p>
            <a:pPr marL="0" indent="0" algn="ctr">
              <a:lnSpc>
                <a:spcPct val="110000"/>
              </a:lnSpc>
              <a:buNone/>
            </a:pPr>
            <a:r>
              <a:rPr lang="es-MX" sz="1400" noProof="0" dirty="0">
                <a:solidFill>
                  <a:schemeClr val="bg1"/>
                </a:solidFill>
                <a:ea typeface="Verdana" panose="020B0604030504040204" pitchFamily="34" charset="0"/>
                <a:cs typeface="Verdana" panose="020B0604030504040204" pitchFamily="34" charset="0"/>
              </a:rPr>
              <a:t>Ser puntuales en el inicio y regreso de los recesos.</a:t>
            </a:r>
          </a:p>
        </p:txBody>
      </p:sp>
      <p:sp>
        <p:nvSpPr>
          <p:cNvPr id="14" name="Rectangle: Rounded Corners 4">
            <a:extLst>
              <a:ext uri="{FF2B5EF4-FFF2-40B4-BE49-F238E27FC236}">
                <a16:creationId xmlns:a16="http://schemas.microsoft.com/office/drawing/2014/main" id="{F97B817D-5609-D4F5-13ED-EED84A8B51D1}"/>
              </a:ext>
            </a:extLst>
          </p:cNvPr>
          <p:cNvSpPr/>
          <p:nvPr/>
        </p:nvSpPr>
        <p:spPr>
          <a:xfrm flipH="1">
            <a:off x="4680318" y="2862111"/>
            <a:ext cx="1991611" cy="1409495"/>
          </a:xfrm>
          <a:prstGeom prst="roundRect">
            <a:avLst>
              <a:gd name="adj" fmla="val 14764"/>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latin typeface="Montserrat" pitchFamily="2" charset="77"/>
            </a:endParaRPr>
          </a:p>
        </p:txBody>
      </p:sp>
      <p:sp>
        <p:nvSpPr>
          <p:cNvPr id="15" name="CuadroTexto 26">
            <a:extLst>
              <a:ext uri="{FF2B5EF4-FFF2-40B4-BE49-F238E27FC236}">
                <a16:creationId xmlns:a16="http://schemas.microsoft.com/office/drawing/2014/main" id="{338A96AD-AF5D-A4BE-0A4F-B2FA13F247A7}"/>
              </a:ext>
            </a:extLst>
          </p:cNvPr>
          <p:cNvSpPr txBox="1"/>
          <p:nvPr/>
        </p:nvSpPr>
        <p:spPr>
          <a:xfrm>
            <a:off x="4745312" y="2979827"/>
            <a:ext cx="1868905" cy="1242200"/>
          </a:xfrm>
          <a:prstGeom prst="rect">
            <a:avLst/>
          </a:prstGeom>
          <a:noFill/>
        </p:spPr>
        <p:txBody>
          <a:bodyPr wrap="square" rtlCol="0" anchor="t" anchorCtr="0">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MX" sz="1600" noProof="0" dirty="0">
                <a:latin typeface="Century Gothic" panose="020B0502020202020204" pitchFamily="34" charset="0"/>
                <a:ea typeface="Verdana"/>
              </a:rPr>
              <a:t>Respeto </a:t>
            </a:r>
            <a:endParaRPr lang="es-MX" sz="2000" noProof="0" dirty="0">
              <a:latin typeface="Century Gothic" panose="020B0502020202020204" pitchFamily="34" charset="0"/>
              <a:ea typeface="Verdana"/>
            </a:endParaRPr>
          </a:p>
          <a:p>
            <a:pPr algn="just"/>
            <a:endParaRPr lang="es-MX" sz="700" noProof="0" dirty="0">
              <a:latin typeface="Century Gothic" panose="020B0502020202020204" pitchFamily="34" charset="0"/>
              <a:ea typeface="Verdana"/>
            </a:endParaRPr>
          </a:p>
          <a:p>
            <a:pPr marL="0" indent="0" algn="ctr">
              <a:lnSpc>
                <a:spcPct val="110000"/>
              </a:lnSpc>
              <a:buNone/>
            </a:pPr>
            <a:r>
              <a:rPr lang="es-MX" sz="1200" noProof="0" dirty="0">
                <a:ea typeface="Verdana" panose="020B0604030504040204" pitchFamily="34" charset="0"/>
                <a:cs typeface="Verdana" panose="020B0604030504040204" pitchFamily="34" charset="0"/>
              </a:rPr>
              <a:t>Mantener un ambiente de respeto hacia el instructor y compañeros.</a:t>
            </a:r>
          </a:p>
        </p:txBody>
      </p:sp>
      <p:sp>
        <p:nvSpPr>
          <p:cNvPr id="19" name="Rectangle: Rounded Corners 4">
            <a:extLst>
              <a:ext uri="{FF2B5EF4-FFF2-40B4-BE49-F238E27FC236}">
                <a16:creationId xmlns:a16="http://schemas.microsoft.com/office/drawing/2014/main" id="{0AFDAEEB-2CE1-18B1-AA0A-4643A591A7DA}"/>
              </a:ext>
            </a:extLst>
          </p:cNvPr>
          <p:cNvSpPr/>
          <p:nvPr/>
        </p:nvSpPr>
        <p:spPr>
          <a:xfrm flipH="1">
            <a:off x="6825587" y="2874916"/>
            <a:ext cx="1991611" cy="1409495"/>
          </a:xfrm>
          <a:prstGeom prst="roundRect">
            <a:avLst>
              <a:gd name="adj" fmla="val 14764"/>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noProof="0" dirty="0">
              <a:latin typeface="Montserrat" pitchFamily="2" charset="77"/>
            </a:endParaRPr>
          </a:p>
        </p:txBody>
      </p:sp>
      <p:sp>
        <p:nvSpPr>
          <p:cNvPr id="20" name="CuadroTexto 26">
            <a:extLst>
              <a:ext uri="{FF2B5EF4-FFF2-40B4-BE49-F238E27FC236}">
                <a16:creationId xmlns:a16="http://schemas.microsoft.com/office/drawing/2014/main" id="{99337B07-BED0-5D64-49DB-5E7CB122CFD3}"/>
              </a:ext>
            </a:extLst>
          </p:cNvPr>
          <p:cNvSpPr txBox="1"/>
          <p:nvPr/>
        </p:nvSpPr>
        <p:spPr>
          <a:xfrm>
            <a:off x="6890582" y="2986798"/>
            <a:ext cx="1868905" cy="1320361"/>
          </a:xfrm>
          <a:prstGeom prst="rect">
            <a:avLst/>
          </a:prstGeom>
          <a:noFill/>
        </p:spPr>
        <p:txBody>
          <a:bodyPr wrap="square" rtlCol="0" anchor="t" anchorCtr="0">
            <a:spAutoFit/>
          </a:bodyPr>
          <a:ls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s-MX" sz="1600" noProof="0" dirty="0">
                <a:latin typeface="Century Gothic" panose="020B0502020202020204" pitchFamily="34" charset="0"/>
                <a:ea typeface="Verdana"/>
              </a:rPr>
              <a:t>Participación</a:t>
            </a:r>
            <a:endParaRPr lang="es-MX" sz="2000" noProof="0" dirty="0">
              <a:latin typeface="Century Gothic" panose="020B0502020202020204" pitchFamily="34" charset="0"/>
              <a:ea typeface="Verdana"/>
            </a:endParaRPr>
          </a:p>
          <a:p>
            <a:pPr algn="just"/>
            <a:endParaRPr lang="es-MX" sz="700" noProof="0" dirty="0">
              <a:latin typeface="Century Gothic" panose="020B0502020202020204" pitchFamily="34" charset="0"/>
              <a:ea typeface="Verdana"/>
            </a:endParaRPr>
          </a:p>
          <a:p>
            <a:pPr marL="0" indent="0" algn="ctr">
              <a:lnSpc>
                <a:spcPct val="110000"/>
              </a:lnSpc>
              <a:buNone/>
            </a:pPr>
            <a:r>
              <a:rPr lang="es-MX" sz="1000" noProof="0" dirty="0">
                <a:ea typeface="Verdana" panose="020B0604030504040204" pitchFamily="34" charset="0"/>
                <a:cs typeface="Verdana" panose="020B0604030504040204" pitchFamily="34" charset="0"/>
              </a:rPr>
              <a:t>Fomentar la participación activa, levantando la mano o habilitando el micrófono cuando se ceda la palabra.</a:t>
            </a:r>
          </a:p>
        </p:txBody>
      </p:sp>
      <p:sp>
        <p:nvSpPr>
          <p:cNvPr id="28" name="Slide Number Placeholder 5">
            <a:extLst>
              <a:ext uri="{FF2B5EF4-FFF2-40B4-BE49-F238E27FC236}">
                <a16:creationId xmlns:a16="http://schemas.microsoft.com/office/drawing/2014/main" id="{269BF589-E7BE-B738-5AFB-8777D6B50014}"/>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noProof="0" smtClean="0">
                <a:latin typeface="+mn-lt"/>
              </a:rPr>
              <a:pPr/>
              <a:t>2</a:t>
            </a:fld>
            <a:endParaRPr lang="es-MX" sz="700" noProof="0" dirty="0">
              <a:latin typeface="+mn-lt"/>
            </a:endParaRPr>
          </a:p>
        </p:txBody>
      </p:sp>
      <p:sp>
        <p:nvSpPr>
          <p:cNvPr id="29" name="Date Placeholder 3">
            <a:extLst>
              <a:ext uri="{FF2B5EF4-FFF2-40B4-BE49-F238E27FC236}">
                <a16:creationId xmlns:a16="http://schemas.microsoft.com/office/drawing/2014/main" id="{6F16AEAB-D30B-87DF-4895-1E9DE634EB7F}"/>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noProof="0" smtClean="0">
                <a:latin typeface="+mn-lt"/>
              </a:rPr>
              <a:pPr/>
              <a:t>30/09/2026</a:t>
            </a:fld>
            <a:endParaRPr lang="es-MX" sz="600" noProof="0" dirty="0">
              <a:latin typeface="+mn-lt"/>
            </a:endParaRPr>
          </a:p>
        </p:txBody>
      </p:sp>
      <p:pic>
        <p:nvPicPr>
          <p:cNvPr id="33" name="Imagen 32" descr="Icono&#10;&#10;El contenido generado por IA puede ser incorrecto.">
            <a:extLst>
              <a:ext uri="{FF2B5EF4-FFF2-40B4-BE49-F238E27FC236}">
                <a16:creationId xmlns:a16="http://schemas.microsoft.com/office/drawing/2014/main" id="{8FEB3293-BBB6-B92F-934F-8249F84318BE}"/>
              </a:ext>
            </a:extLst>
          </p:cNvPr>
          <p:cNvPicPr>
            <a:picLocks noChangeAspect="1"/>
          </p:cNvPicPr>
          <p:nvPr/>
        </p:nvPicPr>
        <p:blipFill>
          <a:blip r:embed="rId2"/>
          <a:stretch>
            <a:fillRect/>
          </a:stretch>
        </p:blipFill>
        <p:spPr>
          <a:xfrm>
            <a:off x="2909057" y="2124344"/>
            <a:ext cx="896400" cy="896400"/>
          </a:xfrm>
          <a:prstGeom prst="rect">
            <a:avLst/>
          </a:prstGeom>
        </p:spPr>
      </p:pic>
      <p:pic>
        <p:nvPicPr>
          <p:cNvPr id="35" name="Imagen 34" descr="Icono&#10;&#10;El contenido generado por IA puede ser incorrecto.">
            <a:extLst>
              <a:ext uri="{FF2B5EF4-FFF2-40B4-BE49-F238E27FC236}">
                <a16:creationId xmlns:a16="http://schemas.microsoft.com/office/drawing/2014/main" id="{53000DEC-4CC9-ACF6-2C10-33206C232CEE}"/>
              </a:ext>
            </a:extLst>
          </p:cNvPr>
          <p:cNvPicPr>
            <a:picLocks noChangeAspect="1"/>
          </p:cNvPicPr>
          <p:nvPr/>
        </p:nvPicPr>
        <p:blipFill>
          <a:blip r:embed="rId3"/>
          <a:stretch>
            <a:fillRect/>
          </a:stretch>
        </p:blipFill>
        <p:spPr>
          <a:xfrm>
            <a:off x="5200879" y="2197259"/>
            <a:ext cx="896400" cy="896400"/>
          </a:xfrm>
          <a:prstGeom prst="rect">
            <a:avLst/>
          </a:prstGeom>
        </p:spPr>
      </p:pic>
      <p:pic>
        <p:nvPicPr>
          <p:cNvPr id="37" name="Imagen 36" descr="Icono&#10;&#10;El contenido generado por IA puede ser incorrecto.">
            <a:extLst>
              <a:ext uri="{FF2B5EF4-FFF2-40B4-BE49-F238E27FC236}">
                <a16:creationId xmlns:a16="http://schemas.microsoft.com/office/drawing/2014/main" id="{AF4D01E2-B7C0-A077-2440-B0F421CD3B55}"/>
              </a:ext>
            </a:extLst>
          </p:cNvPr>
          <p:cNvPicPr>
            <a:picLocks noChangeAspect="1"/>
          </p:cNvPicPr>
          <p:nvPr/>
        </p:nvPicPr>
        <p:blipFill>
          <a:blip r:embed="rId4"/>
          <a:stretch>
            <a:fillRect/>
          </a:stretch>
        </p:blipFill>
        <p:spPr>
          <a:xfrm>
            <a:off x="7416231" y="2124344"/>
            <a:ext cx="896400" cy="896400"/>
          </a:xfrm>
          <a:prstGeom prst="rect">
            <a:avLst/>
          </a:prstGeom>
        </p:spPr>
      </p:pic>
      <p:pic>
        <p:nvPicPr>
          <p:cNvPr id="39" name="Imagen 38" descr="Icono&#10;&#10;El contenido generado por IA puede ser incorrecto.">
            <a:extLst>
              <a:ext uri="{FF2B5EF4-FFF2-40B4-BE49-F238E27FC236}">
                <a16:creationId xmlns:a16="http://schemas.microsoft.com/office/drawing/2014/main" id="{F07092FA-D6FF-7239-D623-89162E981EA3}"/>
              </a:ext>
            </a:extLst>
          </p:cNvPr>
          <p:cNvPicPr>
            <a:picLocks noChangeAspect="1"/>
          </p:cNvPicPr>
          <p:nvPr/>
        </p:nvPicPr>
        <p:blipFill>
          <a:blip r:embed="rId5"/>
          <a:stretch>
            <a:fillRect/>
          </a:stretch>
        </p:blipFill>
        <p:spPr>
          <a:xfrm>
            <a:off x="797293" y="2124344"/>
            <a:ext cx="896400" cy="896400"/>
          </a:xfrm>
          <a:prstGeom prst="rect">
            <a:avLst/>
          </a:prstGeom>
        </p:spPr>
      </p:pic>
    </p:spTree>
    <p:extLst>
      <p:ext uri="{BB962C8B-B14F-4D97-AF65-F5344CB8AC3E}">
        <p14:creationId xmlns:p14="http://schemas.microsoft.com/office/powerpoint/2010/main" val="24375452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Rounded Corners 1">
            <a:extLst>
              <a:ext uri="{FF2B5EF4-FFF2-40B4-BE49-F238E27FC236}">
                <a16:creationId xmlns:a16="http://schemas.microsoft.com/office/drawing/2014/main" id="{982691F3-1685-D1C9-DE24-6ECD13FD283E}"/>
              </a:ext>
            </a:extLst>
          </p:cNvPr>
          <p:cNvSpPr/>
          <p:nvPr/>
        </p:nvSpPr>
        <p:spPr>
          <a:xfrm>
            <a:off x="5292699" y="2254296"/>
            <a:ext cx="2880000" cy="252000"/>
          </a:xfrm>
          <a:prstGeom prst="roundRect">
            <a:avLst>
              <a:gd name="adj" fmla="val 15517"/>
            </a:avLst>
          </a:prstGeom>
          <a:gradFill flip="none" rotWithShape="1">
            <a:gsLst>
              <a:gs pos="0">
                <a:schemeClr val="bg1">
                  <a:alpha val="12000"/>
                </a:schemeClr>
              </a:gs>
              <a:gs pos="50500">
                <a:schemeClr val="bg1">
                  <a:alpha val="0"/>
                </a:schemeClr>
              </a:gs>
              <a:gs pos="100000">
                <a:schemeClr val="bg1">
                  <a:alpha val="13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dirty="0"/>
          </a:p>
        </p:txBody>
      </p:sp>
      <p:sp>
        <p:nvSpPr>
          <p:cNvPr id="43" name="Rectangle: Rounded Corners 1">
            <a:extLst>
              <a:ext uri="{FF2B5EF4-FFF2-40B4-BE49-F238E27FC236}">
                <a16:creationId xmlns:a16="http://schemas.microsoft.com/office/drawing/2014/main" id="{982691F3-1685-D1C9-DE24-6ECD13FD283E}"/>
              </a:ext>
            </a:extLst>
          </p:cNvPr>
          <p:cNvSpPr/>
          <p:nvPr/>
        </p:nvSpPr>
        <p:spPr>
          <a:xfrm>
            <a:off x="5290157" y="1626481"/>
            <a:ext cx="2880000" cy="252000"/>
          </a:xfrm>
          <a:prstGeom prst="roundRect">
            <a:avLst>
              <a:gd name="adj" fmla="val 15517"/>
            </a:avLst>
          </a:prstGeom>
          <a:gradFill flip="none" rotWithShape="1">
            <a:gsLst>
              <a:gs pos="0">
                <a:schemeClr val="bg1">
                  <a:alpha val="12000"/>
                </a:schemeClr>
              </a:gs>
              <a:gs pos="50500">
                <a:schemeClr val="bg1">
                  <a:alpha val="0"/>
                </a:schemeClr>
              </a:gs>
              <a:gs pos="100000">
                <a:schemeClr val="bg1">
                  <a:alpha val="13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37" name="Rectangle: Rounded Corners 1">
            <a:extLst>
              <a:ext uri="{FF2B5EF4-FFF2-40B4-BE49-F238E27FC236}">
                <a16:creationId xmlns:a16="http://schemas.microsoft.com/office/drawing/2014/main" id="{982691F3-1685-D1C9-DE24-6ECD13FD283E}"/>
              </a:ext>
            </a:extLst>
          </p:cNvPr>
          <p:cNvSpPr/>
          <p:nvPr/>
        </p:nvSpPr>
        <p:spPr>
          <a:xfrm>
            <a:off x="809711" y="2910517"/>
            <a:ext cx="2880000" cy="252000"/>
          </a:xfrm>
          <a:prstGeom prst="roundRect">
            <a:avLst>
              <a:gd name="adj" fmla="val 15517"/>
            </a:avLst>
          </a:prstGeom>
          <a:gradFill flip="none" rotWithShape="1">
            <a:gsLst>
              <a:gs pos="0">
                <a:schemeClr val="bg1">
                  <a:alpha val="12000"/>
                </a:schemeClr>
              </a:gs>
              <a:gs pos="50500">
                <a:schemeClr val="bg1">
                  <a:alpha val="0"/>
                </a:schemeClr>
              </a:gs>
              <a:gs pos="100000">
                <a:schemeClr val="bg1">
                  <a:alpha val="13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36" name="Rectangle: Rounded Corners 1">
            <a:extLst>
              <a:ext uri="{FF2B5EF4-FFF2-40B4-BE49-F238E27FC236}">
                <a16:creationId xmlns:a16="http://schemas.microsoft.com/office/drawing/2014/main" id="{982691F3-1685-D1C9-DE24-6ECD13FD283E}"/>
              </a:ext>
            </a:extLst>
          </p:cNvPr>
          <p:cNvSpPr/>
          <p:nvPr/>
        </p:nvSpPr>
        <p:spPr>
          <a:xfrm>
            <a:off x="810023" y="2250712"/>
            <a:ext cx="2880000" cy="252000"/>
          </a:xfrm>
          <a:prstGeom prst="roundRect">
            <a:avLst>
              <a:gd name="adj" fmla="val 15517"/>
            </a:avLst>
          </a:prstGeom>
          <a:gradFill flip="none" rotWithShape="1">
            <a:gsLst>
              <a:gs pos="0">
                <a:schemeClr val="bg1">
                  <a:alpha val="12000"/>
                </a:schemeClr>
              </a:gs>
              <a:gs pos="50500">
                <a:schemeClr val="bg1">
                  <a:alpha val="0"/>
                </a:schemeClr>
              </a:gs>
              <a:gs pos="100000">
                <a:schemeClr val="bg1">
                  <a:alpha val="13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40" name="Rectangle: Rounded Corners 1">
            <a:extLst>
              <a:ext uri="{FF2B5EF4-FFF2-40B4-BE49-F238E27FC236}">
                <a16:creationId xmlns:a16="http://schemas.microsoft.com/office/drawing/2014/main" id="{982691F3-1685-D1C9-DE24-6ECD13FD283E}"/>
              </a:ext>
            </a:extLst>
          </p:cNvPr>
          <p:cNvSpPr/>
          <p:nvPr/>
        </p:nvSpPr>
        <p:spPr>
          <a:xfrm>
            <a:off x="810023" y="3574449"/>
            <a:ext cx="2880000" cy="252000"/>
          </a:xfrm>
          <a:prstGeom prst="roundRect">
            <a:avLst>
              <a:gd name="adj" fmla="val 15517"/>
            </a:avLst>
          </a:prstGeom>
          <a:gradFill flip="none" rotWithShape="1">
            <a:gsLst>
              <a:gs pos="0">
                <a:schemeClr val="bg1">
                  <a:alpha val="12000"/>
                </a:schemeClr>
              </a:gs>
              <a:gs pos="50500">
                <a:schemeClr val="bg1">
                  <a:alpha val="0"/>
                </a:schemeClr>
              </a:gs>
              <a:gs pos="100000">
                <a:schemeClr val="bg1">
                  <a:alpha val="13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2" name="Título 1">
            <a:extLst>
              <a:ext uri="{FF2B5EF4-FFF2-40B4-BE49-F238E27FC236}">
                <a16:creationId xmlns:a16="http://schemas.microsoft.com/office/drawing/2014/main" id="{22AE854A-3C2F-1A5D-D07B-A60170F16A94}"/>
              </a:ext>
            </a:extLst>
          </p:cNvPr>
          <p:cNvSpPr txBox="1">
            <a:spLocks/>
          </p:cNvSpPr>
          <p:nvPr/>
        </p:nvSpPr>
        <p:spPr>
          <a:xfrm>
            <a:off x="1166509" y="522598"/>
            <a:ext cx="2287708" cy="448222"/>
          </a:xfrm>
          <a:prstGeom prst="rect">
            <a:avLst/>
          </a:prstGeom>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3000" dirty="0">
                <a:ea typeface="Vita Std ExLt" pitchFamily="2" charset="77"/>
                <a:cs typeface="Verdana" panose="020B0604030504040204" pitchFamily="34" charset="0"/>
              </a:rPr>
              <a:t>Contenido</a:t>
            </a:r>
          </a:p>
        </p:txBody>
      </p:sp>
      <p:sp>
        <p:nvSpPr>
          <p:cNvPr id="3" name="Rectangle: Rounded Corners 1">
            <a:extLst>
              <a:ext uri="{FF2B5EF4-FFF2-40B4-BE49-F238E27FC236}">
                <a16:creationId xmlns:a16="http://schemas.microsoft.com/office/drawing/2014/main" id="{982691F3-1685-D1C9-DE24-6ECD13FD283E}"/>
              </a:ext>
            </a:extLst>
          </p:cNvPr>
          <p:cNvSpPr/>
          <p:nvPr/>
        </p:nvSpPr>
        <p:spPr>
          <a:xfrm>
            <a:off x="810023" y="1624400"/>
            <a:ext cx="2880000" cy="252000"/>
          </a:xfrm>
          <a:prstGeom prst="roundRect">
            <a:avLst>
              <a:gd name="adj" fmla="val 15517"/>
            </a:avLst>
          </a:prstGeom>
          <a:gradFill flip="none" rotWithShape="1">
            <a:gsLst>
              <a:gs pos="0">
                <a:schemeClr val="bg1">
                  <a:alpha val="12000"/>
                </a:schemeClr>
              </a:gs>
              <a:gs pos="50500">
                <a:schemeClr val="bg1">
                  <a:alpha val="0"/>
                </a:schemeClr>
              </a:gs>
              <a:gs pos="100000">
                <a:schemeClr val="bg1">
                  <a:alpha val="13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4" name="Oval 5">
            <a:extLst>
              <a:ext uri="{FF2B5EF4-FFF2-40B4-BE49-F238E27FC236}">
                <a16:creationId xmlns:a16="http://schemas.microsoft.com/office/drawing/2014/main" id="{5D83CA1D-220F-04EC-A048-61B252F7523E}"/>
              </a:ext>
            </a:extLst>
          </p:cNvPr>
          <p:cNvSpPr/>
          <p:nvPr/>
        </p:nvSpPr>
        <p:spPr>
          <a:xfrm>
            <a:off x="499763" y="1502288"/>
            <a:ext cx="504000" cy="504000"/>
          </a:xfrm>
          <a:prstGeom prst="ellipse">
            <a:avLst/>
          </a:prstGeom>
          <a:gradFill flip="none" rotWithShape="1">
            <a:gsLst>
              <a:gs pos="0">
                <a:schemeClr val="accent1"/>
              </a:gs>
              <a:gs pos="100000">
                <a:schemeClr val="accent2"/>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sp>
        <p:nvSpPr>
          <p:cNvPr id="11" name="TextBox 22">
            <a:extLst>
              <a:ext uri="{FF2B5EF4-FFF2-40B4-BE49-F238E27FC236}">
                <a16:creationId xmlns:a16="http://schemas.microsoft.com/office/drawing/2014/main" id="{455D3B1A-7EF8-63FC-75F8-04FE2E47E9C8}"/>
              </a:ext>
            </a:extLst>
          </p:cNvPr>
          <p:cNvSpPr txBox="1"/>
          <p:nvPr/>
        </p:nvSpPr>
        <p:spPr>
          <a:xfrm>
            <a:off x="965421" y="1619319"/>
            <a:ext cx="2520834" cy="261610"/>
          </a:xfrm>
          <a:prstGeom prst="rect">
            <a:avLst/>
          </a:prstGeom>
          <a:noFill/>
        </p:spPr>
        <p:txBody>
          <a:bodyPr wrap="square" lIns="91440" tIns="45720" rIns="91440" bIns="45720" rtlCol="0" anchor="t">
            <a:spAutoFit/>
          </a:bodyPr>
          <a:lstStyle/>
          <a:p>
            <a:r>
              <a:rPr lang="en-ID" sz="1100" dirty="0" err="1">
                <a:solidFill>
                  <a:schemeClr val="bg1"/>
                </a:solidFill>
              </a:rPr>
              <a:t>Introducción</a:t>
            </a:r>
            <a:r>
              <a:rPr lang="en-ID" sz="1100" dirty="0">
                <a:solidFill>
                  <a:schemeClr val="bg1"/>
                </a:solidFill>
              </a:rPr>
              <a:t>.</a:t>
            </a:r>
          </a:p>
        </p:txBody>
      </p:sp>
      <p:sp>
        <p:nvSpPr>
          <p:cNvPr id="12" name="TextBox 22">
            <a:extLst>
              <a:ext uri="{FF2B5EF4-FFF2-40B4-BE49-F238E27FC236}">
                <a16:creationId xmlns:a16="http://schemas.microsoft.com/office/drawing/2014/main" id="{19A8F700-95C0-031F-8CEF-CD9CED4E8573}"/>
              </a:ext>
            </a:extLst>
          </p:cNvPr>
          <p:cNvSpPr txBox="1"/>
          <p:nvPr/>
        </p:nvSpPr>
        <p:spPr>
          <a:xfrm>
            <a:off x="966496" y="2244144"/>
            <a:ext cx="2308290" cy="261610"/>
          </a:xfrm>
          <a:prstGeom prst="rect">
            <a:avLst/>
          </a:prstGeom>
          <a:noFill/>
        </p:spPr>
        <p:txBody>
          <a:bodyPr wrap="square" lIns="91440" tIns="45720" rIns="91440" bIns="45720" rtlCol="0" anchor="t">
            <a:spAutoFit/>
          </a:bodyPr>
          <a:lstStyle/>
          <a:p>
            <a:r>
              <a:rPr lang="en-ID" sz="1100" dirty="0" err="1">
                <a:solidFill>
                  <a:schemeClr val="bg1"/>
                </a:solidFill>
              </a:rPr>
              <a:t>Versionamiento</a:t>
            </a:r>
            <a:r>
              <a:rPr lang="en-ID" sz="1100" dirty="0">
                <a:solidFill>
                  <a:schemeClr val="bg1"/>
                </a:solidFill>
              </a:rPr>
              <a:t>.</a:t>
            </a:r>
          </a:p>
        </p:txBody>
      </p:sp>
      <p:sp>
        <p:nvSpPr>
          <p:cNvPr id="13" name="TextBox 22">
            <a:extLst>
              <a:ext uri="{FF2B5EF4-FFF2-40B4-BE49-F238E27FC236}">
                <a16:creationId xmlns:a16="http://schemas.microsoft.com/office/drawing/2014/main" id="{AA576D30-2798-73F7-651C-FE04A46E918A}"/>
              </a:ext>
            </a:extLst>
          </p:cNvPr>
          <p:cNvSpPr txBox="1"/>
          <p:nvPr/>
        </p:nvSpPr>
        <p:spPr>
          <a:xfrm>
            <a:off x="965421" y="2910517"/>
            <a:ext cx="2308290" cy="261610"/>
          </a:xfrm>
          <a:prstGeom prst="rect">
            <a:avLst/>
          </a:prstGeom>
          <a:noFill/>
        </p:spPr>
        <p:txBody>
          <a:bodyPr wrap="square" rtlCol="0">
            <a:spAutoFit/>
          </a:bodyPr>
          <a:lstStyle/>
          <a:p>
            <a:r>
              <a:rPr lang="en-ID" sz="1100" dirty="0" err="1">
                <a:solidFill>
                  <a:schemeClr val="bg1"/>
                </a:solidFill>
              </a:rPr>
              <a:t>Instalación</a:t>
            </a:r>
            <a:r>
              <a:rPr lang="en-ID" sz="1100" dirty="0">
                <a:solidFill>
                  <a:schemeClr val="bg1"/>
                </a:solidFill>
              </a:rPr>
              <a:t> y </a:t>
            </a:r>
            <a:r>
              <a:rPr lang="en-ID" sz="1100" dirty="0" err="1">
                <a:solidFill>
                  <a:schemeClr val="bg1"/>
                </a:solidFill>
              </a:rPr>
              <a:t>Configuración</a:t>
            </a:r>
            <a:r>
              <a:rPr lang="en-ID" sz="1100" dirty="0">
                <a:solidFill>
                  <a:schemeClr val="bg1"/>
                </a:solidFill>
              </a:rPr>
              <a:t>.</a:t>
            </a:r>
          </a:p>
        </p:txBody>
      </p:sp>
      <p:sp>
        <p:nvSpPr>
          <p:cNvPr id="14" name="TextBox 22">
            <a:extLst>
              <a:ext uri="{FF2B5EF4-FFF2-40B4-BE49-F238E27FC236}">
                <a16:creationId xmlns:a16="http://schemas.microsoft.com/office/drawing/2014/main" id="{2BB7802A-50F1-51D4-EAFE-DE84F7D6F242}"/>
              </a:ext>
            </a:extLst>
          </p:cNvPr>
          <p:cNvSpPr txBox="1"/>
          <p:nvPr/>
        </p:nvSpPr>
        <p:spPr>
          <a:xfrm>
            <a:off x="965421" y="3576890"/>
            <a:ext cx="2308290" cy="261610"/>
          </a:xfrm>
          <a:prstGeom prst="rect">
            <a:avLst/>
          </a:prstGeom>
          <a:noFill/>
        </p:spPr>
        <p:txBody>
          <a:bodyPr wrap="square" rtlCol="0">
            <a:spAutoFit/>
          </a:bodyPr>
          <a:lstStyle/>
          <a:p>
            <a:r>
              <a:rPr lang="en-ID" sz="1100" dirty="0" err="1">
                <a:solidFill>
                  <a:schemeClr val="bg1"/>
                </a:solidFill>
              </a:rPr>
              <a:t>Fundamentos</a:t>
            </a:r>
            <a:r>
              <a:rPr lang="en-ID" sz="1100" dirty="0">
                <a:solidFill>
                  <a:schemeClr val="bg1"/>
                </a:solidFill>
              </a:rPr>
              <a:t> de GIT.</a:t>
            </a:r>
          </a:p>
        </p:txBody>
      </p:sp>
      <p:sp>
        <p:nvSpPr>
          <p:cNvPr id="23" name="TextBox 22">
            <a:extLst>
              <a:ext uri="{FF2B5EF4-FFF2-40B4-BE49-F238E27FC236}">
                <a16:creationId xmlns:a16="http://schemas.microsoft.com/office/drawing/2014/main" id="{FE4ACD02-DF68-4286-4810-37945D61BA7C}"/>
              </a:ext>
            </a:extLst>
          </p:cNvPr>
          <p:cNvSpPr txBox="1"/>
          <p:nvPr/>
        </p:nvSpPr>
        <p:spPr>
          <a:xfrm>
            <a:off x="5481355" y="1622066"/>
            <a:ext cx="2308290" cy="261610"/>
          </a:xfrm>
          <a:prstGeom prst="rect">
            <a:avLst/>
          </a:prstGeom>
          <a:noFill/>
        </p:spPr>
        <p:txBody>
          <a:bodyPr wrap="square" lIns="91440" tIns="45720" rIns="91440" bIns="45720" rtlCol="0" anchor="t">
            <a:spAutoFit/>
          </a:bodyPr>
          <a:lstStyle/>
          <a:p>
            <a:r>
              <a:rPr lang="en-ID" sz="1100" dirty="0" err="1">
                <a:solidFill>
                  <a:schemeClr val="bg1"/>
                </a:solidFill>
              </a:rPr>
              <a:t>GitIgnore</a:t>
            </a:r>
            <a:r>
              <a:rPr lang="en-ID" sz="1100" dirty="0">
                <a:solidFill>
                  <a:schemeClr val="bg1"/>
                </a:solidFill>
              </a:rPr>
              <a:t>.</a:t>
            </a:r>
          </a:p>
        </p:txBody>
      </p:sp>
      <p:sp>
        <p:nvSpPr>
          <p:cNvPr id="24" name="TextBox 22">
            <a:extLst>
              <a:ext uri="{FF2B5EF4-FFF2-40B4-BE49-F238E27FC236}">
                <a16:creationId xmlns:a16="http://schemas.microsoft.com/office/drawing/2014/main" id="{D8935560-17FB-F41B-FA31-6883D5BC6558}"/>
              </a:ext>
            </a:extLst>
          </p:cNvPr>
          <p:cNvSpPr txBox="1"/>
          <p:nvPr/>
        </p:nvSpPr>
        <p:spPr>
          <a:xfrm>
            <a:off x="5481355" y="2251965"/>
            <a:ext cx="2308290" cy="261610"/>
          </a:xfrm>
          <a:prstGeom prst="rect">
            <a:avLst/>
          </a:prstGeom>
          <a:noFill/>
        </p:spPr>
        <p:txBody>
          <a:bodyPr wrap="square" lIns="91440" tIns="45720" rIns="91440" bIns="45720" rtlCol="0" anchor="t">
            <a:spAutoFit/>
          </a:bodyPr>
          <a:lstStyle/>
          <a:p>
            <a:r>
              <a:rPr lang="en-ID" sz="1100" dirty="0" err="1">
                <a:solidFill>
                  <a:schemeClr val="bg1"/>
                </a:solidFill>
              </a:rPr>
              <a:t>Repositorio</a:t>
            </a:r>
            <a:r>
              <a:rPr lang="en-ID" sz="1100" dirty="0">
                <a:solidFill>
                  <a:schemeClr val="bg1"/>
                </a:solidFill>
              </a:rPr>
              <a:t>.</a:t>
            </a:r>
          </a:p>
        </p:txBody>
      </p:sp>
      <p:pic>
        <p:nvPicPr>
          <p:cNvPr id="29" name="Picture 9" descr="A logo with a snowflake&#10;&#10;Description automatically generated">
            <a:extLst>
              <a:ext uri="{FF2B5EF4-FFF2-40B4-BE49-F238E27FC236}">
                <a16:creationId xmlns:a16="http://schemas.microsoft.com/office/drawing/2014/main" id="{64F1FDA9-094F-05E2-037E-7586A3F5F696}"/>
              </a:ext>
            </a:extLst>
          </p:cNvPr>
          <p:cNvPicPr>
            <a:picLocks noChangeAspect="1"/>
          </p:cNvPicPr>
          <p:nvPr/>
        </p:nvPicPr>
        <p:blipFill>
          <a:blip r:embed="rId2"/>
          <a:stretch>
            <a:fillRect/>
          </a:stretch>
        </p:blipFill>
        <p:spPr>
          <a:xfrm>
            <a:off x="8346805" y="4620138"/>
            <a:ext cx="545974" cy="264069"/>
          </a:xfrm>
          <a:prstGeom prst="rect">
            <a:avLst/>
          </a:prstGeom>
        </p:spPr>
      </p:pic>
      <p:sp>
        <p:nvSpPr>
          <p:cNvPr id="33" name="Slide Number Placeholder 5">
            <a:extLst>
              <a:ext uri="{FF2B5EF4-FFF2-40B4-BE49-F238E27FC236}">
                <a16:creationId xmlns:a16="http://schemas.microsoft.com/office/drawing/2014/main" id="{7FDA3433-E6F2-0B14-60F7-AD3653188A65}"/>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latin typeface="+mn-lt"/>
              </a:rPr>
              <a:pPr/>
              <a:t>3</a:t>
            </a:fld>
            <a:endParaRPr lang="es-MX" sz="700">
              <a:latin typeface="+mn-lt"/>
            </a:endParaRPr>
          </a:p>
        </p:txBody>
      </p:sp>
      <p:sp>
        <p:nvSpPr>
          <p:cNvPr id="34" name="Date Placeholder 3">
            <a:extLst>
              <a:ext uri="{FF2B5EF4-FFF2-40B4-BE49-F238E27FC236}">
                <a16:creationId xmlns:a16="http://schemas.microsoft.com/office/drawing/2014/main" id="{19CDF14E-0600-106B-D222-A70003253376}"/>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solidFill>
                  <a:schemeClr val="bg1"/>
                </a:solidFill>
                <a:latin typeface="+mn-lt"/>
              </a:rPr>
              <a:pPr/>
              <a:t>30/09/2026</a:t>
            </a:fld>
            <a:endParaRPr lang="es-MX" sz="600">
              <a:solidFill>
                <a:schemeClr val="bg1"/>
              </a:solidFill>
              <a:latin typeface="+mn-lt"/>
            </a:endParaRPr>
          </a:p>
        </p:txBody>
      </p:sp>
      <p:sp>
        <p:nvSpPr>
          <p:cNvPr id="35" name="Footer Placeholder 4">
            <a:extLst>
              <a:ext uri="{FF2B5EF4-FFF2-40B4-BE49-F238E27FC236}">
                <a16:creationId xmlns:a16="http://schemas.microsoft.com/office/drawing/2014/main" id="{A908021B-BA6A-9CEE-8A7B-09BE94CE3C77}"/>
              </a:ext>
            </a:extLst>
          </p:cNvPr>
          <p:cNvSpPr txBox="1">
            <a:spLocks/>
          </p:cNvSpPr>
          <p:nvPr/>
        </p:nvSpPr>
        <p:spPr>
          <a:xfrm>
            <a:off x="6940230" y="4620137"/>
            <a:ext cx="1406575"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bg1"/>
                </a:solidFill>
              </a:rPr>
              <a:t>[GIT]</a:t>
            </a:r>
          </a:p>
        </p:txBody>
      </p:sp>
      <p:sp>
        <p:nvSpPr>
          <p:cNvPr id="31"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32" name="Freeform 159">
            <a:extLst>
              <a:ext uri="{FF2B5EF4-FFF2-40B4-BE49-F238E27FC236}">
                <a16:creationId xmlns:a16="http://schemas.microsoft.com/office/drawing/2014/main" id="{A6B70EC7-FB0C-4CD2-9219-38F8932D850B}"/>
              </a:ext>
            </a:extLst>
          </p:cNvPr>
          <p:cNvSpPr>
            <a:spLocks noEditPoints="1"/>
          </p:cNvSpPr>
          <p:nvPr/>
        </p:nvSpPr>
        <p:spPr bwMode="auto">
          <a:xfrm>
            <a:off x="596122" y="561967"/>
            <a:ext cx="370374" cy="369484"/>
          </a:xfrm>
          <a:custGeom>
            <a:avLst/>
            <a:gdLst>
              <a:gd name="T0" fmla="*/ 140 w 176"/>
              <a:gd name="T1" fmla="*/ 72 h 176"/>
              <a:gd name="T2" fmla="*/ 140 w 176"/>
              <a:gd name="T3" fmla="*/ 64 h 176"/>
              <a:gd name="T4" fmla="*/ 96 w 176"/>
              <a:gd name="T5" fmla="*/ 68 h 176"/>
              <a:gd name="T6" fmla="*/ 100 w 176"/>
              <a:gd name="T7" fmla="*/ 56 h 176"/>
              <a:gd name="T8" fmla="*/ 128 w 176"/>
              <a:gd name="T9" fmla="*/ 52 h 176"/>
              <a:gd name="T10" fmla="*/ 100 w 176"/>
              <a:gd name="T11" fmla="*/ 48 h 176"/>
              <a:gd name="T12" fmla="*/ 100 w 176"/>
              <a:gd name="T13" fmla="*/ 56 h 176"/>
              <a:gd name="T14" fmla="*/ 116 w 176"/>
              <a:gd name="T15" fmla="*/ 88 h 176"/>
              <a:gd name="T16" fmla="*/ 116 w 176"/>
              <a:gd name="T17" fmla="*/ 80 h 176"/>
              <a:gd name="T18" fmla="*/ 96 w 176"/>
              <a:gd name="T19" fmla="*/ 84 h 176"/>
              <a:gd name="T20" fmla="*/ 40 w 176"/>
              <a:gd name="T21" fmla="*/ 104 h 176"/>
              <a:gd name="T22" fmla="*/ 80 w 176"/>
              <a:gd name="T23" fmla="*/ 96 h 176"/>
              <a:gd name="T24" fmla="*/ 72 w 176"/>
              <a:gd name="T25" fmla="*/ 48 h 176"/>
              <a:gd name="T26" fmla="*/ 32 w 176"/>
              <a:gd name="T27" fmla="*/ 56 h 176"/>
              <a:gd name="T28" fmla="*/ 40 w 176"/>
              <a:gd name="T29" fmla="*/ 104 h 176"/>
              <a:gd name="T30" fmla="*/ 72 w 176"/>
              <a:gd name="T31" fmla="*/ 56 h 176"/>
              <a:gd name="T32" fmla="*/ 40 w 176"/>
              <a:gd name="T33" fmla="*/ 96 h 176"/>
              <a:gd name="T34" fmla="*/ 100 w 176"/>
              <a:gd name="T35" fmla="*/ 104 h 176"/>
              <a:gd name="T36" fmla="*/ 144 w 176"/>
              <a:gd name="T37" fmla="*/ 100 h 176"/>
              <a:gd name="T38" fmla="*/ 100 w 176"/>
              <a:gd name="T39" fmla="*/ 96 h 176"/>
              <a:gd name="T40" fmla="*/ 100 w 176"/>
              <a:gd name="T41" fmla="*/ 104 h 176"/>
              <a:gd name="T42" fmla="*/ 96 w 176"/>
              <a:gd name="T43" fmla="*/ 8 h 176"/>
              <a:gd name="T44" fmla="*/ 80 w 176"/>
              <a:gd name="T45" fmla="*/ 8 h 176"/>
              <a:gd name="T46" fmla="*/ 0 w 176"/>
              <a:gd name="T47" fmla="*/ 16 h 176"/>
              <a:gd name="T48" fmla="*/ 8 w 176"/>
              <a:gd name="T49" fmla="*/ 32 h 176"/>
              <a:gd name="T50" fmla="*/ 16 w 176"/>
              <a:gd name="T51" fmla="*/ 136 h 176"/>
              <a:gd name="T52" fmla="*/ 84 w 176"/>
              <a:gd name="T53" fmla="*/ 146 h 176"/>
              <a:gd name="T54" fmla="*/ 60 w 176"/>
              <a:gd name="T55" fmla="*/ 172 h 176"/>
              <a:gd name="T56" fmla="*/ 67 w 176"/>
              <a:gd name="T57" fmla="*/ 175 h 176"/>
              <a:gd name="T58" fmla="*/ 109 w 176"/>
              <a:gd name="T59" fmla="*/ 175 h 176"/>
              <a:gd name="T60" fmla="*/ 116 w 176"/>
              <a:gd name="T61" fmla="*/ 172 h 176"/>
              <a:gd name="T62" fmla="*/ 92 w 176"/>
              <a:gd name="T63" fmla="*/ 146 h 176"/>
              <a:gd name="T64" fmla="*/ 160 w 176"/>
              <a:gd name="T65" fmla="*/ 136 h 176"/>
              <a:gd name="T66" fmla="*/ 168 w 176"/>
              <a:gd name="T67" fmla="*/ 32 h 176"/>
              <a:gd name="T68" fmla="*/ 176 w 176"/>
              <a:gd name="T69" fmla="*/ 16 h 176"/>
              <a:gd name="T70" fmla="*/ 160 w 176"/>
              <a:gd name="T71" fmla="*/ 128 h 176"/>
              <a:gd name="T72" fmla="*/ 16 w 176"/>
              <a:gd name="T73" fmla="*/ 32 h 176"/>
              <a:gd name="T74" fmla="*/ 160 w 176"/>
              <a:gd name="T75" fmla="*/ 128 h 176"/>
              <a:gd name="T76" fmla="*/ 8 w 176"/>
              <a:gd name="T77" fmla="*/ 24 h 176"/>
              <a:gd name="T78" fmla="*/ 168 w 176"/>
              <a:gd name="T79" fmla="*/ 1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76" h="176">
                <a:moveTo>
                  <a:pt x="100" y="72"/>
                </a:moveTo>
                <a:cubicBezTo>
                  <a:pt x="140" y="72"/>
                  <a:pt x="140" y="72"/>
                  <a:pt x="140" y="72"/>
                </a:cubicBezTo>
                <a:cubicBezTo>
                  <a:pt x="142" y="72"/>
                  <a:pt x="144" y="70"/>
                  <a:pt x="144" y="68"/>
                </a:cubicBezTo>
                <a:cubicBezTo>
                  <a:pt x="144" y="66"/>
                  <a:pt x="142" y="64"/>
                  <a:pt x="140" y="64"/>
                </a:cubicBezTo>
                <a:cubicBezTo>
                  <a:pt x="100" y="64"/>
                  <a:pt x="100" y="64"/>
                  <a:pt x="100" y="64"/>
                </a:cubicBezTo>
                <a:cubicBezTo>
                  <a:pt x="98" y="64"/>
                  <a:pt x="96" y="66"/>
                  <a:pt x="96" y="68"/>
                </a:cubicBezTo>
                <a:cubicBezTo>
                  <a:pt x="96" y="70"/>
                  <a:pt x="98" y="72"/>
                  <a:pt x="100" y="72"/>
                </a:cubicBezTo>
                <a:moveTo>
                  <a:pt x="100" y="56"/>
                </a:moveTo>
                <a:cubicBezTo>
                  <a:pt x="124" y="56"/>
                  <a:pt x="124" y="56"/>
                  <a:pt x="124" y="56"/>
                </a:cubicBezTo>
                <a:cubicBezTo>
                  <a:pt x="126" y="56"/>
                  <a:pt x="128" y="54"/>
                  <a:pt x="128" y="52"/>
                </a:cubicBezTo>
                <a:cubicBezTo>
                  <a:pt x="128" y="50"/>
                  <a:pt x="126" y="48"/>
                  <a:pt x="124" y="48"/>
                </a:cubicBezTo>
                <a:cubicBezTo>
                  <a:pt x="100" y="48"/>
                  <a:pt x="100" y="48"/>
                  <a:pt x="100" y="48"/>
                </a:cubicBezTo>
                <a:cubicBezTo>
                  <a:pt x="98" y="48"/>
                  <a:pt x="96" y="50"/>
                  <a:pt x="96" y="52"/>
                </a:cubicBezTo>
                <a:cubicBezTo>
                  <a:pt x="96" y="54"/>
                  <a:pt x="98" y="56"/>
                  <a:pt x="100" y="56"/>
                </a:cubicBezTo>
                <a:moveTo>
                  <a:pt x="100" y="88"/>
                </a:moveTo>
                <a:cubicBezTo>
                  <a:pt x="116" y="88"/>
                  <a:pt x="116" y="88"/>
                  <a:pt x="116" y="88"/>
                </a:cubicBezTo>
                <a:cubicBezTo>
                  <a:pt x="118" y="88"/>
                  <a:pt x="120" y="86"/>
                  <a:pt x="120" y="84"/>
                </a:cubicBezTo>
                <a:cubicBezTo>
                  <a:pt x="120" y="82"/>
                  <a:pt x="118" y="80"/>
                  <a:pt x="116" y="80"/>
                </a:cubicBezTo>
                <a:cubicBezTo>
                  <a:pt x="100" y="80"/>
                  <a:pt x="100" y="80"/>
                  <a:pt x="100" y="80"/>
                </a:cubicBezTo>
                <a:cubicBezTo>
                  <a:pt x="98" y="80"/>
                  <a:pt x="96" y="82"/>
                  <a:pt x="96" y="84"/>
                </a:cubicBezTo>
                <a:cubicBezTo>
                  <a:pt x="96" y="86"/>
                  <a:pt x="98" y="88"/>
                  <a:pt x="100" y="88"/>
                </a:cubicBezTo>
                <a:moveTo>
                  <a:pt x="40" y="104"/>
                </a:moveTo>
                <a:cubicBezTo>
                  <a:pt x="72" y="104"/>
                  <a:pt x="72" y="104"/>
                  <a:pt x="72" y="104"/>
                </a:cubicBezTo>
                <a:cubicBezTo>
                  <a:pt x="76" y="104"/>
                  <a:pt x="80" y="100"/>
                  <a:pt x="80" y="96"/>
                </a:cubicBezTo>
                <a:cubicBezTo>
                  <a:pt x="80" y="56"/>
                  <a:pt x="80" y="56"/>
                  <a:pt x="80" y="56"/>
                </a:cubicBezTo>
                <a:cubicBezTo>
                  <a:pt x="80" y="52"/>
                  <a:pt x="76" y="48"/>
                  <a:pt x="72" y="48"/>
                </a:cubicBezTo>
                <a:cubicBezTo>
                  <a:pt x="40" y="48"/>
                  <a:pt x="40" y="48"/>
                  <a:pt x="40" y="48"/>
                </a:cubicBezTo>
                <a:cubicBezTo>
                  <a:pt x="36" y="48"/>
                  <a:pt x="32" y="52"/>
                  <a:pt x="32" y="56"/>
                </a:cubicBezTo>
                <a:cubicBezTo>
                  <a:pt x="32" y="96"/>
                  <a:pt x="32" y="96"/>
                  <a:pt x="32" y="96"/>
                </a:cubicBezTo>
                <a:cubicBezTo>
                  <a:pt x="32" y="100"/>
                  <a:pt x="36" y="104"/>
                  <a:pt x="40" y="104"/>
                </a:cubicBezTo>
                <a:moveTo>
                  <a:pt x="40" y="56"/>
                </a:moveTo>
                <a:cubicBezTo>
                  <a:pt x="72" y="56"/>
                  <a:pt x="72" y="56"/>
                  <a:pt x="72" y="56"/>
                </a:cubicBezTo>
                <a:cubicBezTo>
                  <a:pt x="72" y="96"/>
                  <a:pt x="72" y="96"/>
                  <a:pt x="72" y="96"/>
                </a:cubicBezTo>
                <a:cubicBezTo>
                  <a:pt x="40" y="96"/>
                  <a:pt x="40" y="96"/>
                  <a:pt x="40" y="96"/>
                </a:cubicBezTo>
                <a:lnTo>
                  <a:pt x="40" y="56"/>
                </a:lnTo>
                <a:close/>
                <a:moveTo>
                  <a:pt x="100" y="104"/>
                </a:moveTo>
                <a:cubicBezTo>
                  <a:pt x="140" y="104"/>
                  <a:pt x="140" y="104"/>
                  <a:pt x="140" y="104"/>
                </a:cubicBezTo>
                <a:cubicBezTo>
                  <a:pt x="142" y="104"/>
                  <a:pt x="144" y="102"/>
                  <a:pt x="144" y="100"/>
                </a:cubicBezTo>
                <a:cubicBezTo>
                  <a:pt x="144" y="98"/>
                  <a:pt x="142" y="96"/>
                  <a:pt x="140" y="96"/>
                </a:cubicBezTo>
                <a:cubicBezTo>
                  <a:pt x="100" y="96"/>
                  <a:pt x="100" y="96"/>
                  <a:pt x="100" y="96"/>
                </a:cubicBezTo>
                <a:cubicBezTo>
                  <a:pt x="98" y="96"/>
                  <a:pt x="96" y="98"/>
                  <a:pt x="96" y="100"/>
                </a:cubicBezTo>
                <a:cubicBezTo>
                  <a:pt x="96" y="102"/>
                  <a:pt x="98" y="104"/>
                  <a:pt x="100" y="104"/>
                </a:cubicBezTo>
                <a:moveTo>
                  <a:pt x="168" y="8"/>
                </a:moveTo>
                <a:cubicBezTo>
                  <a:pt x="96" y="8"/>
                  <a:pt x="96" y="8"/>
                  <a:pt x="96" y="8"/>
                </a:cubicBezTo>
                <a:cubicBezTo>
                  <a:pt x="96" y="4"/>
                  <a:pt x="92" y="0"/>
                  <a:pt x="88" y="0"/>
                </a:cubicBezTo>
                <a:cubicBezTo>
                  <a:pt x="84" y="0"/>
                  <a:pt x="80" y="4"/>
                  <a:pt x="80" y="8"/>
                </a:cubicBezTo>
                <a:cubicBezTo>
                  <a:pt x="8" y="8"/>
                  <a:pt x="8" y="8"/>
                  <a:pt x="8" y="8"/>
                </a:cubicBezTo>
                <a:cubicBezTo>
                  <a:pt x="4" y="8"/>
                  <a:pt x="0" y="12"/>
                  <a:pt x="0" y="16"/>
                </a:cubicBezTo>
                <a:cubicBezTo>
                  <a:pt x="0" y="24"/>
                  <a:pt x="0" y="24"/>
                  <a:pt x="0" y="24"/>
                </a:cubicBezTo>
                <a:cubicBezTo>
                  <a:pt x="0" y="28"/>
                  <a:pt x="4" y="32"/>
                  <a:pt x="8" y="32"/>
                </a:cubicBezTo>
                <a:cubicBezTo>
                  <a:pt x="8" y="128"/>
                  <a:pt x="8" y="128"/>
                  <a:pt x="8" y="128"/>
                </a:cubicBezTo>
                <a:cubicBezTo>
                  <a:pt x="8" y="132"/>
                  <a:pt x="12" y="136"/>
                  <a:pt x="16" y="136"/>
                </a:cubicBezTo>
                <a:cubicBezTo>
                  <a:pt x="84" y="136"/>
                  <a:pt x="84" y="136"/>
                  <a:pt x="84" y="136"/>
                </a:cubicBezTo>
                <a:cubicBezTo>
                  <a:pt x="84" y="146"/>
                  <a:pt x="84" y="146"/>
                  <a:pt x="84" y="146"/>
                </a:cubicBezTo>
                <a:cubicBezTo>
                  <a:pt x="61" y="169"/>
                  <a:pt x="61" y="169"/>
                  <a:pt x="61" y="169"/>
                </a:cubicBezTo>
                <a:cubicBezTo>
                  <a:pt x="60" y="170"/>
                  <a:pt x="60" y="171"/>
                  <a:pt x="60" y="172"/>
                </a:cubicBezTo>
                <a:cubicBezTo>
                  <a:pt x="60" y="174"/>
                  <a:pt x="62" y="176"/>
                  <a:pt x="64" y="176"/>
                </a:cubicBezTo>
                <a:cubicBezTo>
                  <a:pt x="65" y="176"/>
                  <a:pt x="66" y="176"/>
                  <a:pt x="67" y="175"/>
                </a:cubicBezTo>
                <a:cubicBezTo>
                  <a:pt x="88" y="154"/>
                  <a:pt x="88" y="154"/>
                  <a:pt x="88" y="154"/>
                </a:cubicBezTo>
                <a:cubicBezTo>
                  <a:pt x="109" y="175"/>
                  <a:pt x="109" y="175"/>
                  <a:pt x="109" y="175"/>
                </a:cubicBezTo>
                <a:cubicBezTo>
                  <a:pt x="110" y="176"/>
                  <a:pt x="111" y="176"/>
                  <a:pt x="112" y="176"/>
                </a:cubicBezTo>
                <a:cubicBezTo>
                  <a:pt x="114" y="176"/>
                  <a:pt x="116" y="174"/>
                  <a:pt x="116" y="172"/>
                </a:cubicBezTo>
                <a:cubicBezTo>
                  <a:pt x="116" y="171"/>
                  <a:pt x="116" y="170"/>
                  <a:pt x="115" y="169"/>
                </a:cubicBezTo>
                <a:cubicBezTo>
                  <a:pt x="92" y="146"/>
                  <a:pt x="92" y="146"/>
                  <a:pt x="92" y="146"/>
                </a:cubicBezTo>
                <a:cubicBezTo>
                  <a:pt x="92" y="136"/>
                  <a:pt x="92" y="136"/>
                  <a:pt x="92" y="136"/>
                </a:cubicBezTo>
                <a:cubicBezTo>
                  <a:pt x="160" y="136"/>
                  <a:pt x="160" y="136"/>
                  <a:pt x="160" y="136"/>
                </a:cubicBezTo>
                <a:cubicBezTo>
                  <a:pt x="164" y="136"/>
                  <a:pt x="168" y="132"/>
                  <a:pt x="168" y="128"/>
                </a:cubicBezTo>
                <a:cubicBezTo>
                  <a:pt x="168" y="32"/>
                  <a:pt x="168" y="32"/>
                  <a:pt x="168" y="32"/>
                </a:cubicBezTo>
                <a:cubicBezTo>
                  <a:pt x="172" y="32"/>
                  <a:pt x="176" y="28"/>
                  <a:pt x="176" y="24"/>
                </a:cubicBezTo>
                <a:cubicBezTo>
                  <a:pt x="176" y="16"/>
                  <a:pt x="176" y="16"/>
                  <a:pt x="176" y="16"/>
                </a:cubicBezTo>
                <a:cubicBezTo>
                  <a:pt x="176" y="12"/>
                  <a:pt x="172" y="8"/>
                  <a:pt x="168" y="8"/>
                </a:cubicBezTo>
                <a:moveTo>
                  <a:pt x="160" y="128"/>
                </a:moveTo>
                <a:cubicBezTo>
                  <a:pt x="16" y="128"/>
                  <a:pt x="16" y="128"/>
                  <a:pt x="16" y="128"/>
                </a:cubicBezTo>
                <a:cubicBezTo>
                  <a:pt x="16" y="32"/>
                  <a:pt x="16" y="32"/>
                  <a:pt x="16" y="32"/>
                </a:cubicBezTo>
                <a:cubicBezTo>
                  <a:pt x="160" y="32"/>
                  <a:pt x="160" y="32"/>
                  <a:pt x="160" y="32"/>
                </a:cubicBezTo>
                <a:lnTo>
                  <a:pt x="160" y="128"/>
                </a:lnTo>
                <a:close/>
                <a:moveTo>
                  <a:pt x="168" y="24"/>
                </a:moveTo>
                <a:cubicBezTo>
                  <a:pt x="8" y="24"/>
                  <a:pt x="8" y="24"/>
                  <a:pt x="8" y="24"/>
                </a:cubicBezTo>
                <a:cubicBezTo>
                  <a:pt x="8" y="16"/>
                  <a:pt x="8" y="16"/>
                  <a:pt x="8" y="16"/>
                </a:cubicBezTo>
                <a:cubicBezTo>
                  <a:pt x="168" y="16"/>
                  <a:pt x="168" y="16"/>
                  <a:pt x="168" y="16"/>
                </a:cubicBezTo>
                <a:lnTo>
                  <a:pt x="168" y="24"/>
                </a:lnTo>
                <a:close/>
              </a:path>
            </a:pathLst>
          </a:custGeom>
          <a:solidFill>
            <a:srgbClr val="3C1053"/>
          </a:solidFill>
          <a:ln>
            <a:noFill/>
          </a:ln>
        </p:spPr>
        <p:txBody>
          <a:bodyPr vert="horz" wrap="square" lIns="68580" tIns="34290" rIns="68580" bIns="34290" numCol="1" anchor="t" anchorCtr="0" compatLnSpc="1">
            <a:prstTxWarp prst="textNoShape">
              <a:avLst/>
            </a:prstTxWarp>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685800"/>
            <a:endParaRPr lang="en-US" sz="1350">
              <a:solidFill>
                <a:srgbClr val="262626"/>
              </a:solidFill>
            </a:endParaRPr>
          </a:p>
        </p:txBody>
      </p:sp>
      <p:sp>
        <p:nvSpPr>
          <p:cNvPr id="6" name="Oval 5">
            <a:extLst>
              <a:ext uri="{FF2B5EF4-FFF2-40B4-BE49-F238E27FC236}">
                <a16:creationId xmlns:a16="http://schemas.microsoft.com/office/drawing/2014/main" id="{0B009B80-0A81-3D7E-AD31-A8010164BED0}"/>
              </a:ext>
            </a:extLst>
          </p:cNvPr>
          <p:cNvSpPr/>
          <p:nvPr/>
        </p:nvSpPr>
        <p:spPr>
          <a:xfrm>
            <a:off x="499763" y="2131024"/>
            <a:ext cx="504000" cy="504000"/>
          </a:xfrm>
          <a:prstGeom prst="ellipse">
            <a:avLst/>
          </a:prstGeom>
          <a:gradFill flip="none" rotWithShape="1">
            <a:gsLst>
              <a:gs pos="0">
                <a:schemeClr val="accent1"/>
              </a:gs>
              <a:gs pos="100000">
                <a:schemeClr val="accent2"/>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sp>
        <p:nvSpPr>
          <p:cNvPr id="8" name="Oval 5">
            <a:extLst>
              <a:ext uri="{FF2B5EF4-FFF2-40B4-BE49-F238E27FC236}">
                <a16:creationId xmlns:a16="http://schemas.microsoft.com/office/drawing/2014/main" id="{13F94F56-7F44-FB52-166B-4D6DC10C14CC}"/>
              </a:ext>
            </a:extLst>
          </p:cNvPr>
          <p:cNvSpPr/>
          <p:nvPr/>
        </p:nvSpPr>
        <p:spPr>
          <a:xfrm>
            <a:off x="498688" y="2791668"/>
            <a:ext cx="504000" cy="504000"/>
          </a:xfrm>
          <a:prstGeom prst="ellipse">
            <a:avLst/>
          </a:prstGeom>
          <a:gradFill flip="none" rotWithShape="1">
            <a:gsLst>
              <a:gs pos="0">
                <a:schemeClr val="accent1"/>
              </a:gs>
              <a:gs pos="100000">
                <a:schemeClr val="accent2"/>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sp>
        <p:nvSpPr>
          <p:cNvPr id="10" name="Oval 5">
            <a:extLst>
              <a:ext uri="{FF2B5EF4-FFF2-40B4-BE49-F238E27FC236}">
                <a16:creationId xmlns:a16="http://schemas.microsoft.com/office/drawing/2014/main" id="{D75D94DF-67EE-0ECF-0C99-FD22DB2E07D5}"/>
              </a:ext>
            </a:extLst>
          </p:cNvPr>
          <p:cNvSpPr/>
          <p:nvPr/>
        </p:nvSpPr>
        <p:spPr>
          <a:xfrm>
            <a:off x="504819" y="3460035"/>
            <a:ext cx="504000" cy="504000"/>
          </a:xfrm>
          <a:prstGeom prst="ellipse">
            <a:avLst/>
          </a:prstGeom>
          <a:gradFill flip="none" rotWithShape="1">
            <a:gsLst>
              <a:gs pos="0">
                <a:schemeClr val="accent1"/>
              </a:gs>
              <a:gs pos="100000">
                <a:schemeClr val="accent2"/>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sp>
        <p:nvSpPr>
          <p:cNvPr id="44" name="Oval 5">
            <a:extLst>
              <a:ext uri="{FF2B5EF4-FFF2-40B4-BE49-F238E27FC236}">
                <a16:creationId xmlns:a16="http://schemas.microsoft.com/office/drawing/2014/main" id="{5D83CA1D-220F-04EC-A048-61B252F7523E}"/>
              </a:ext>
            </a:extLst>
          </p:cNvPr>
          <p:cNvSpPr/>
          <p:nvPr/>
        </p:nvSpPr>
        <p:spPr>
          <a:xfrm>
            <a:off x="4979897" y="1497791"/>
            <a:ext cx="504000" cy="504000"/>
          </a:xfrm>
          <a:prstGeom prst="ellipse">
            <a:avLst/>
          </a:prstGeom>
          <a:gradFill flip="none" rotWithShape="1">
            <a:gsLst>
              <a:gs pos="0">
                <a:schemeClr val="accent1"/>
              </a:gs>
              <a:gs pos="100000">
                <a:schemeClr val="accent2"/>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sp>
        <p:nvSpPr>
          <p:cNvPr id="46" name="Oval 5">
            <a:extLst>
              <a:ext uri="{FF2B5EF4-FFF2-40B4-BE49-F238E27FC236}">
                <a16:creationId xmlns:a16="http://schemas.microsoft.com/office/drawing/2014/main" id="{5D83CA1D-220F-04EC-A048-61B252F7523E}"/>
              </a:ext>
            </a:extLst>
          </p:cNvPr>
          <p:cNvSpPr/>
          <p:nvPr/>
        </p:nvSpPr>
        <p:spPr>
          <a:xfrm>
            <a:off x="4982439" y="2132184"/>
            <a:ext cx="504000" cy="504000"/>
          </a:xfrm>
          <a:prstGeom prst="ellipse">
            <a:avLst/>
          </a:prstGeom>
          <a:gradFill flip="none" rotWithShape="1">
            <a:gsLst>
              <a:gs pos="0">
                <a:schemeClr val="accent1"/>
              </a:gs>
              <a:gs pos="100000">
                <a:schemeClr val="accent2"/>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sp>
        <p:nvSpPr>
          <p:cNvPr id="30" name="Rectangle: Rounded Corners 1">
            <a:extLst>
              <a:ext uri="{FF2B5EF4-FFF2-40B4-BE49-F238E27FC236}">
                <a16:creationId xmlns:a16="http://schemas.microsoft.com/office/drawing/2014/main" id="{982691F3-1685-D1C9-DE24-6ECD13FD283E}"/>
              </a:ext>
            </a:extLst>
          </p:cNvPr>
          <p:cNvSpPr/>
          <p:nvPr/>
        </p:nvSpPr>
        <p:spPr>
          <a:xfrm>
            <a:off x="5290157" y="2913780"/>
            <a:ext cx="2880000" cy="252000"/>
          </a:xfrm>
          <a:prstGeom prst="roundRect">
            <a:avLst>
              <a:gd name="adj" fmla="val 15517"/>
            </a:avLst>
          </a:prstGeom>
          <a:gradFill flip="none" rotWithShape="1">
            <a:gsLst>
              <a:gs pos="0">
                <a:schemeClr val="bg1">
                  <a:alpha val="12000"/>
                </a:schemeClr>
              </a:gs>
              <a:gs pos="50500">
                <a:schemeClr val="bg1">
                  <a:alpha val="0"/>
                </a:schemeClr>
              </a:gs>
              <a:gs pos="100000">
                <a:schemeClr val="bg1">
                  <a:alpha val="13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38" name="Oval 5">
            <a:extLst>
              <a:ext uri="{FF2B5EF4-FFF2-40B4-BE49-F238E27FC236}">
                <a16:creationId xmlns:a16="http://schemas.microsoft.com/office/drawing/2014/main" id="{5D83CA1D-220F-04EC-A048-61B252F7523E}"/>
              </a:ext>
            </a:extLst>
          </p:cNvPr>
          <p:cNvSpPr/>
          <p:nvPr/>
        </p:nvSpPr>
        <p:spPr>
          <a:xfrm>
            <a:off x="4979897" y="2791668"/>
            <a:ext cx="504000" cy="504000"/>
          </a:xfrm>
          <a:prstGeom prst="ellipse">
            <a:avLst/>
          </a:prstGeom>
          <a:gradFill flip="none" rotWithShape="1">
            <a:gsLst>
              <a:gs pos="0">
                <a:schemeClr val="accent1"/>
              </a:gs>
              <a:gs pos="100000">
                <a:schemeClr val="accent2"/>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sp>
        <p:nvSpPr>
          <p:cNvPr id="47" name="Rectangle: Rounded Corners 1">
            <a:extLst>
              <a:ext uri="{FF2B5EF4-FFF2-40B4-BE49-F238E27FC236}">
                <a16:creationId xmlns:a16="http://schemas.microsoft.com/office/drawing/2014/main" id="{982691F3-1685-D1C9-DE24-6ECD13FD283E}"/>
              </a:ext>
            </a:extLst>
          </p:cNvPr>
          <p:cNvSpPr/>
          <p:nvPr/>
        </p:nvSpPr>
        <p:spPr>
          <a:xfrm>
            <a:off x="5305466" y="3588124"/>
            <a:ext cx="2880000" cy="252000"/>
          </a:xfrm>
          <a:prstGeom prst="roundRect">
            <a:avLst>
              <a:gd name="adj" fmla="val 15517"/>
            </a:avLst>
          </a:prstGeom>
          <a:gradFill flip="none" rotWithShape="1">
            <a:gsLst>
              <a:gs pos="0">
                <a:schemeClr val="bg1">
                  <a:alpha val="12000"/>
                </a:schemeClr>
              </a:gs>
              <a:gs pos="50500">
                <a:schemeClr val="bg1">
                  <a:alpha val="0"/>
                </a:schemeClr>
              </a:gs>
              <a:gs pos="100000">
                <a:schemeClr val="bg1">
                  <a:alpha val="13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48" name="Oval 5">
            <a:extLst>
              <a:ext uri="{FF2B5EF4-FFF2-40B4-BE49-F238E27FC236}">
                <a16:creationId xmlns:a16="http://schemas.microsoft.com/office/drawing/2014/main" id="{5D83CA1D-220F-04EC-A048-61B252F7523E}"/>
              </a:ext>
            </a:extLst>
          </p:cNvPr>
          <p:cNvSpPr/>
          <p:nvPr/>
        </p:nvSpPr>
        <p:spPr>
          <a:xfrm>
            <a:off x="4995206" y="3466012"/>
            <a:ext cx="504000" cy="504000"/>
          </a:xfrm>
          <a:prstGeom prst="ellipse">
            <a:avLst/>
          </a:prstGeom>
          <a:gradFill flip="none" rotWithShape="1">
            <a:gsLst>
              <a:gs pos="0">
                <a:schemeClr val="accent1"/>
              </a:gs>
              <a:gs pos="100000">
                <a:schemeClr val="accent2"/>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sp>
        <p:nvSpPr>
          <p:cNvPr id="49" name="TextBox 22">
            <a:extLst>
              <a:ext uri="{FF2B5EF4-FFF2-40B4-BE49-F238E27FC236}">
                <a16:creationId xmlns:a16="http://schemas.microsoft.com/office/drawing/2014/main" id="{8C64CC47-C114-387D-683F-1A720CC62628}"/>
              </a:ext>
            </a:extLst>
          </p:cNvPr>
          <p:cNvSpPr txBox="1"/>
          <p:nvPr/>
        </p:nvSpPr>
        <p:spPr>
          <a:xfrm>
            <a:off x="5481355" y="3584540"/>
            <a:ext cx="2136795" cy="261610"/>
          </a:xfrm>
          <a:prstGeom prst="rect">
            <a:avLst/>
          </a:prstGeom>
          <a:noFill/>
        </p:spPr>
        <p:txBody>
          <a:bodyPr wrap="square" lIns="91440" tIns="45720" rIns="91440" bIns="45720" rtlCol="0" anchor="t">
            <a:spAutoFit/>
          </a:bodyPr>
          <a:lstStyle/>
          <a:p>
            <a:r>
              <a:rPr lang="en-ID" sz="1100" dirty="0" err="1">
                <a:solidFill>
                  <a:schemeClr val="bg1"/>
                </a:solidFill>
              </a:rPr>
              <a:t>Servidores</a:t>
            </a:r>
            <a:r>
              <a:rPr lang="en-ID" sz="1100" dirty="0">
                <a:solidFill>
                  <a:schemeClr val="bg1"/>
                </a:solidFill>
              </a:rPr>
              <a:t>.</a:t>
            </a:r>
          </a:p>
        </p:txBody>
      </p:sp>
      <p:sp>
        <p:nvSpPr>
          <p:cNvPr id="50" name="TextBox 22">
            <a:extLst>
              <a:ext uri="{FF2B5EF4-FFF2-40B4-BE49-F238E27FC236}">
                <a16:creationId xmlns:a16="http://schemas.microsoft.com/office/drawing/2014/main" id="{D8935560-17FB-F41B-FA31-6883D5BC6558}"/>
              </a:ext>
            </a:extLst>
          </p:cNvPr>
          <p:cNvSpPr txBox="1"/>
          <p:nvPr/>
        </p:nvSpPr>
        <p:spPr>
          <a:xfrm>
            <a:off x="5481355" y="2912057"/>
            <a:ext cx="2308290" cy="261610"/>
          </a:xfrm>
          <a:prstGeom prst="rect">
            <a:avLst/>
          </a:prstGeom>
          <a:noFill/>
        </p:spPr>
        <p:txBody>
          <a:bodyPr wrap="square" lIns="91440" tIns="45720" rIns="91440" bIns="45720" rtlCol="0" anchor="t">
            <a:spAutoFit/>
          </a:bodyPr>
          <a:lstStyle/>
          <a:p>
            <a:r>
              <a:rPr lang="en-ID" sz="1100" dirty="0" err="1">
                <a:solidFill>
                  <a:schemeClr val="bg1"/>
                </a:solidFill>
              </a:rPr>
              <a:t>Gitflow</a:t>
            </a:r>
            <a:r>
              <a:rPr lang="en-ID" sz="1100" dirty="0">
                <a:solidFill>
                  <a:schemeClr val="bg1"/>
                </a:solidFill>
              </a:rPr>
              <a:t>.</a:t>
            </a:r>
          </a:p>
        </p:txBody>
      </p:sp>
    </p:spTree>
    <p:extLst>
      <p:ext uri="{BB962C8B-B14F-4D97-AF65-F5344CB8AC3E}">
        <p14:creationId xmlns:p14="http://schemas.microsoft.com/office/powerpoint/2010/main" val="3932308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mph" presetSubtype="0" fill="hold" grpId="0" nodeType="withEffect">
                                  <p:stCondLst>
                                    <p:cond delay="0"/>
                                  </p:stCondLst>
                                  <p:childTnLst>
                                    <p:animEffect transition="out" filter="fade">
                                      <p:cBhvr>
                                        <p:cTn id="6" dur="500" tmFilter="0, 0; .2, .5; .8, .5; 1, 0"/>
                                        <p:tgtEl>
                                          <p:spTgt spid="32"/>
                                        </p:tgtEl>
                                      </p:cBhvr>
                                    </p:animEffect>
                                    <p:animScale>
                                      <p:cBhvr>
                                        <p:cTn id="7" dur="250" autoRev="1" fill="hold"/>
                                        <p:tgtEl>
                                          <p:spTgt spid="3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4</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5313805" cy="495989"/>
          </a:xfrm>
          <a:prstGeom prst="rect">
            <a:avLst/>
          </a:prstGeom>
          <a:noFill/>
        </p:spPr>
        <p:txBody>
          <a:bodyPr lIns="91440" tIns="45720" rIns="91440" bIns="45720" anchor="t">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3000">
                <a:ea typeface="Vita Std ExLt" pitchFamily="2" charset="77"/>
                <a:cs typeface="Verdana" panose="020B0604030504040204" pitchFamily="34" charset="0"/>
              </a:rPr>
              <a:t>Introducción.</a:t>
            </a:r>
            <a:endParaRPr lang="es-MX"/>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2" name="Imagen 11"/>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51367" y="498713"/>
            <a:ext cx="476987" cy="476987"/>
          </a:xfrm>
          <a:prstGeom prst="rect">
            <a:avLst/>
          </a:prstGeom>
        </p:spPr>
      </p:pic>
      <p:sp>
        <p:nvSpPr>
          <p:cNvPr id="3" name="Rectángulo 2"/>
          <p:cNvSpPr/>
          <p:nvPr/>
        </p:nvSpPr>
        <p:spPr>
          <a:xfrm>
            <a:off x="299318" y="1304196"/>
            <a:ext cx="5654150" cy="2677656"/>
          </a:xfrm>
          <a:prstGeom prst="rect">
            <a:avLst/>
          </a:prstGeom>
        </p:spPr>
        <p:txBody>
          <a:bodyPr wrap="square">
            <a:spAutoFit/>
          </a:bodyPr>
          <a:lstStyle/>
          <a:p>
            <a:pPr marL="285750" indent="-285750" algn="just">
              <a:buFont typeface="Wingdings" panose="05000000000000000000" pitchFamily="2" charset="2"/>
              <a:buChar char="§"/>
            </a:pPr>
            <a:r>
              <a:rPr lang="es-MX" sz="1400" dirty="0" err="1"/>
              <a:t>Git</a:t>
            </a:r>
            <a:r>
              <a:rPr lang="es-MX" sz="1400" dirty="0"/>
              <a:t> es un sistema de control de versiones distribuido que permite gestionar y registrar los cambios realizados en el código fuente de un proyecto.</a:t>
            </a:r>
          </a:p>
          <a:p>
            <a:pPr marL="285750" indent="-285750" algn="just">
              <a:buFont typeface="Wingdings" panose="05000000000000000000" pitchFamily="2" charset="2"/>
              <a:buChar char="§"/>
            </a:pPr>
            <a:endParaRPr lang="es-MX" sz="1400" dirty="0"/>
          </a:p>
          <a:p>
            <a:pPr marL="285750" indent="-285750" algn="just">
              <a:buFont typeface="Wingdings" panose="05000000000000000000" pitchFamily="2" charset="2"/>
              <a:buChar char="§"/>
            </a:pPr>
            <a:r>
              <a:rPr lang="es-MX" sz="1400" dirty="0"/>
              <a:t>Fue creado por </a:t>
            </a:r>
            <a:r>
              <a:rPr lang="es-MX" sz="1400" dirty="0" err="1"/>
              <a:t>Linus</a:t>
            </a:r>
            <a:r>
              <a:rPr lang="es-MX" sz="1400" dirty="0"/>
              <a:t> </a:t>
            </a:r>
            <a:r>
              <a:rPr lang="es-MX" sz="1400" dirty="0" err="1"/>
              <a:t>Torvalds</a:t>
            </a:r>
            <a:r>
              <a:rPr lang="es-MX" sz="1400" dirty="0"/>
              <a:t> en 2005 y es ampliamente utilizado en el desarrollo de software para facilitar el trabajo colaborativo, el seguimiento de cambios y la recuperación de versiones anteriores.</a:t>
            </a:r>
          </a:p>
          <a:p>
            <a:pPr marL="285750" indent="-285750" algn="just">
              <a:buFont typeface="Wingdings" panose="05000000000000000000" pitchFamily="2" charset="2"/>
              <a:buChar char="§"/>
            </a:pPr>
            <a:endParaRPr lang="es-MX" sz="1400" dirty="0"/>
          </a:p>
          <a:p>
            <a:pPr marL="285750" indent="-285750" algn="just">
              <a:buFont typeface="Wingdings" panose="05000000000000000000" pitchFamily="2" charset="2"/>
              <a:buChar char="§"/>
            </a:pPr>
            <a:r>
              <a:rPr lang="es-MX" sz="1400" dirty="0" err="1"/>
              <a:t>Git</a:t>
            </a:r>
            <a:r>
              <a:rPr lang="es-MX" sz="1400" dirty="0"/>
              <a:t> permite que múltiples desarrolladores trabajen simultáneamente en un mismo proyecto sin perder información ni sobrescribir el trabajo de otros.</a:t>
            </a:r>
          </a:p>
        </p:txBody>
      </p:sp>
    </p:spTree>
    <p:extLst>
      <p:ext uri="{BB962C8B-B14F-4D97-AF65-F5344CB8AC3E}">
        <p14:creationId xmlns:p14="http://schemas.microsoft.com/office/powerpoint/2010/main" val="10417607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A6C636BB-E7D0-FE55-C2F5-FC57A88AB9F0}"/>
              </a:ext>
            </a:extLst>
          </p:cNvPr>
          <p:cNvSpPr txBox="1">
            <a:spLocks/>
          </p:cNvSpPr>
          <p:nvPr/>
        </p:nvSpPr>
        <p:spPr>
          <a:xfrm>
            <a:off x="666975" y="550472"/>
            <a:ext cx="5587828" cy="577171"/>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3200" dirty="0"/>
              <a:t>Introducción a Git</a:t>
            </a:r>
          </a:p>
        </p:txBody>
      </p:sp>
      <p:sp>
        <p:nvSpPr>
          <p:cNvPr id="9" name="Slide Number Placeholder 5">
            <a:extLst>
              <a:ext uri="{FF2B5EF4-FFF2-40B4-BE49-F238E27FC236}">
                <a16:creationId xmlns:a16="http://schemas.microsoft.com/office/drawing/2014/main" id="{7AA4D592-1C24-9678-675B-5592FEE70AED}"/>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5</a:t>
            </a:fld>
            <a:endParaRPr lang="es-MX" sz="700">
              <a:solidFill>
                <a:schemeClr val="tx1"/>
              </a:solidFill>
              <a:latin typeface="+mn-lt"/>
            </a:endParaRPr>
          </a:p>
        </p:txBody>
      </p:sp>
      <p:sp>
        <p:nvSpPr>
          <p:cNvPr id="10" name="Date Placeholder 3">
            <a:extLst>
              <a:ext uri="{FF2B5EF4-FFF2-40B4-BE49-F238E27FC236}">
                <a16:creationId xmlns:a16="http://schemas.microsoft.com/office/drawing/2014/main" id="{01B32BC8-1722-304F-0282-503A51C392A4}"/>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16" name="Footer Placeholder 4">
            <a:extLst>
              <a:ext uri="{FF2B5EF4-FFF2-40B4-BE49-F238E27FC236}">
                <a16:creationId xmlns:a16="http://schemas.microsoft.com/office/drawing/2014/main" id="{EAE13ECB-7911-B012-DA67-027E1A7CF8DF}"/>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solidFill>
                <a:latin typeface="+mn-lt"/>
              </a:rPr>
              <a:t>GIT</a:t>
            </a:r>
          </a:p>
        </p:txBody>
      </p:sp>
      <p:sp>
        <p:nvSpPr>
          <p:cNvPr id="48" name="CuadroTexto 47">
            <a:extLst>
              <a:ext uri="{FF2B5EF4-FFF2-40B4-BE49-F238E27FC236}">
                <a16:creationId xmlns:a16="http://schemas.microsoft.com/office/drawing/2014/main" id="{8575C360-9127-462C-8CA3-35F06B7759E1}"/>
              </a:ext>
            </a:extLst>
          </p:cNvPr>
          <p:cNvSpPr txBox="1"/>
          <p:nvPr/>
        </p:nvSpPr>
        <p:spPr>
          <a:xfrm>
            <a:off x="666975" y="1156966"/>
            <a:ext cx="7679830" cy="247697"/>
          </a:xfrm>
          <a:prstGeom prst="rect">
            <a:avLst/>
          </a:prstGeom>
          <a:noFill/>
        </p:spPr>
        <p:txBody>
          <a:bodyPr wrap="square" lIns="91440" tIns="45720" rIns="91440" bIns="45720" rtlCol="0" anchor="t">
            <a:spAutoFit/>
          </a:bodyPr>
          <a:lstStyle/>
          <a:p>
            <a:pPr marL="0" indent="0" algn="just">
              <a:lnSpc>
                <a:spcPct val="110000"/>
              </a:lnSpc>
              <a:buNone/>
            </a:pPr>
            <a:r>
              <a:rPr lang="es-MX" sz="1000">
                <a:ea typeface="Verdana"/>
                <a:cs typeface="Verdana" panose="020B0604030504040204" pitchFamily="34" charset="0"/>
              </a:rPr>
              <a:t>Software de control de versiones que facilita a los usuarios llevar d</a:t>
            </a:r>
            <a:r>
              <a:rPr lang="es-MX" sz="1000" dirty="0">
                <a:ea typeface="Verdana"/>
                <a:cs typeface="Verdana" panose="020B0604030504040204" pitchFamily="34" charset="0"/>
              </a:rPr>
              <a:t>e seguimiento de los cambios de un archivo.</a:t>
            </a:r>
          </a:p>
        </p:txBody>
      </p:sp>
      <p:sp>
        <p:nvSpPr>
          <p:cNvPr id="49" name="Rectangle: Rounded Corners 19">
            <a:extLst>
              <a:ext uri="{FF2B5EF4-FFF2-40B4-BE49-F238E27FC236}">
                <a16:creationId xmlns:a16="http://schemas.microsoft.com/office/drawing/2014/main" id="{3BA9C0D4-1A25-4B2F-9DE6-10A639789722}"/>
              </a:ext>
            </a:extLst>
          </p:cNvPr>
          <p:cNvSpPr/>
          <p:nvPr/>
        </p:nvSpPr>
        <p:spPr>
          <a:xfrm>
            <a:off x="905180" y="1444052"/>
            <a:ext cx="5172892" cy="767363"/>
          </a:xfrm>
          <a:prstGeom prst="roundRect">
            <a:avLst>
              <a:gd name="adj" fmla="val 15517"/>
            </a:avLst>
          </a:prstGeom>
          <a:gradFill flip="none" rotWithShape="1">
            <a:gsLst>
              <a:gs pos="0">
                <a:schemeClr val="tx1">
                  <a:alpha val="5000"/>
                </a:schemeClr>
              </a:gs>
              <a:gs pos="50500">
                <a:schemeClr val="accent2">
                  <a:alpha val="5000"/>
                </a:schemeClr>
              </a:gs>
              <a:gs pos="100000">
                <a:schemeClr val="tx1">
                  <a:alpha val="5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50" name="Oval 20">
            <a:extLst>
              <a:ext uri="{FF2B5EF4-FFF2-40B4-BE49-F238E27FC236}">
                <a16:creationId xmlns:a16="http://schemas.microsoft.com/office/drawing/2014/main" id="{24CDAAEA-C30D-4899-9CF1-7EF8E030F6A4}"/>
              </a:ext>
            </a:extLst>
          </p:cNvPr>
          <p:cNvSpPr/>
          <p:nvPr/>
        </p:nvSpPr>
        <p:spPr>
          <a:xfrm>
            <a:off x="1050196" y="1580035"/>
            <a:ext cx="510221" cy="510221"/>
          </a:xfrm>
          <a:prstGeom prst="ellipse">
            <a:avLst/>
          </a:prstGeom>
          <a:gradFill>
            <a:gsLst>
              <a:gs pos="0">
                <a:schemeClr val="accent1"/>
              </a:gs>
              <a:gs pos="100000">
                <a:schemeClr val="accent2"/>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grpSp>
        <p:nvGrpSpPr>
          <p:cNvPr id="51" name="Group 21">
            <a:extLst>
              <a:ext uri="{FF2B5EF4-FFF2-40B4-BE49-F238E27FC236}">
                <a16:creationId xmlns:a16="http://schemas.microsoft.com/office/drawing/2014/main" id="{402FE0DB-D10F-4B54-869D-7CF8E78D19CD}"/>
              </a:ext>
            </a:extLst>
          </p:cNvPr>
          <p:cNvGrpSpPr/>
          <p:nvPr/>
        </p:nvGrpSpPr>
        <p:grpSpPr>
          <a:xfrm>
            <a:off x="1649285" y="1512718"/>
            <a:ext cx="4991663" cy="907753"/>
            <a:chOff x="1987550" y="4491298"/>
            <a:chExt cx="2024967" cy="2923404"/>
          </a:xfrm>
        </p:grpSpPr>
        <p:sp>
          <p:nvSpPr>
            <p:cNvPr id="52" name="TextBox 22">
              <a:extLst>
                <a:ext uri="{FF2B5EF4-FFF2-40B4-BE49-F238E27FC236}">
                  <a16:creationId xmlns:a16="http://schemas.microsoft.com/office/drawing/2014/main" id="{6ED179F0-ADE1-439C-9D36-37333BCBFEEA}"/>
                </a:ext>
              </a:extLst>
            </p:cNvPr>
            <p:cNvSpPr txBox="1"/>
            <p:nvPr/>
          </p:nvSpPr>
          <p:spPr>
            <a:xfrm>
              <a:off x="1987550" y="4491298"/>
              <a:ext cx="1828800" cy="2923404"/>
            </a:xfrm>
            <a:prstGeom prst="rect">
              <a:avLst/>
            </a:prstGeom>
            <a:noFill/>
          </p:spPr>
          <p:txBody>
            <a:bodyPr wrap="square" rtlCol="0">
              <a:spAutoFit/>
            </a:bodyPr>
            <a:lstStyle/>
            <a:p>
              <a:r>
                <a:rPr lang="en-US" sz="2400" dirty="0"/>
                <a:t>Control de </a:t>
              </a:r>
              <a:r>
                <a:rPr lang="en-US" sz="2400" dirty="0" err="1"/>
                <a:t>versiones</a:t>
              </a:r>
              <a:endParaRPr lang="en-ID" sz="2400" dirty="0"/>
            </a:p>
          </p:txBody>
        </p:sp>
        <p:sp>
          <p:nvSpPr>
            <p:cNvPr id="53" name="TextBox 23">
              <a:extLst>
                <a:ext uri="{FF2B5EF4-FFF2-40B4-BE49-F238E27FC236}">
                  <a16:creationId xmlns:a16="http://schemas.microsoft.com/office/drawing/2014/main" id="{89F9846A-25FF-45B6-AC96-F6811AEAB829}"/>
                </a:ext>
              </a:extLst>
            </p:cNvPr>
            <p:cNvSpPr txBox="1"/>
            <p:nvPr/>
          </p:nvSpPr>
          <p:spPr>
            <a:xfrm>
              <a:off x="1987550" y="5588533"/>
              <a:ext cx="2024967" cy="348025"/>
            </a:xfrm>
            <a:prstGeom prst="rect">
              <a:avLst/>
            </a:prstGeom>
            <a:noFill/>
          </p:spPr>
          <p:txBody>
            <a:bodyPr wrap="square" rtlCol="0">
              <a:spAutoFit/>
            </a:bodyPr>
            <a:lstStyle/>
            <a:p>
              <a:r>
                <a:rPr lang="en-US" sz="900" dirty="0" err="1"/>
                <a:t>Permite</a:t>
              </a:r>
              <a:r>
                <a:rPr lang="en-US" sz="900" dirty="0"/>
                <a:t> </a:t>
              </a:r>
              <a:r>
                <a:rPr lang="en-US" sz="900" dirty="0" err="1"/>
                <a:t>llevar</a:t>
              </a:r>
              <a:r>
                <a:rPr lang="en-US" sz="900" dirty="0"/>
                <a:t> un </a:t>
              </a:r>
              <a:r>
                <a:rPr lang="en-US" sz="900" dirty="0" err="1"/>
                <a:t>resgitro</a:t>
              </a:r>
              <a:r>
                <a:rPr lang="en-US" sz="900" dirty="0"/>
                <a:t> de los </a:t>
              </a:r>
              <a:r>
                <a:rPr lang="en-US" sz="900" dirty="0" err="1"/>
                <a:t>cambios</a:t>
              </a:r>
              <a:r>
                <a:rPr lang="en-US" sz="900" dirty="0"/>
                <a:t> </a:t>
              </a:r>
              <a:r>
                <a:rPr lang="en-US" sz="900" dirty="0" err="1"/>
                <a:t>realizados</a:t>
              </a:r>
              <a:r>
                <a:rPr lang="en-US" sz="900" dirty="0"/>
                <a:t> </a:t>
              </a:r>
              <a:r>
                <a:rPr lang="en-US" sz="900" dirty="0" err="1"/>
                <a:t>en</a:t>
              </a:r>
              <a:r>
                <a:rPr lang="en-US" sz="900" dirty="0"/>
                <a:t> </a:t>
              </a:r>
              <a:r>
                <a:rPr lang="en-US" sz="900" dirty="0" err="1"/>
                <a:t>el</a:t>
              </a:r>
              <a:r>
                <a:rPr lang="en-US" sz="900" dirty="0"/>
                <a:t> </a:t>
              </a:r>
              <a:r>
                <a:rPr lang="en-US" sz="900" dirty="0" err="1"/>
                <a:t>código</a:t>
              </a:r>
              <a:endParaRPr lang="en-ID" sz="900" dirty="0"/>
            </a:p>
          </p:txBody>
        </p:sp>
      </p:grpSp>
      <p:pic>
        <p:nvPicPr>
          <p:cNvPr id="6" name="Imagen 5">
            <a:extLst>
              <a:ext uri="{FF2B5EF4-FFF2-40B4-BE49-F238E27FC236}">
                <a16:creationId xmlns:a16="http://schemas.microsoft.com/office/drawing/2014/main" id="{DC47405A-EA0C-4BDC-B2AD-A7FD72BD2A73}"/>
              </a:ext>
            </a:extLst>
          </p:cNvPr>
          <p:cNvPicPr>
            <a:picLocks noChangeAspect="1"/>
          </p:cNvPicPr>
          <p:nvPr/>
        </p:nvPicPr>
        <p:blipFill>
          <a:blip r:embed="rId2"/>
          <a:stretch>
            <a:fillRect/>
          </a:stretch>
        </p:blipFill>
        <p:spPr>
          <a:xfrm>
            <a:off x="1122095" y="1659790"/>
            <a:ext cx="346986" cy="360000"/>
          </a:xfrm>
          <a:prstGeom prst="rect">
            <a:avLst/>
          </a:prstGeom>
        </p:spPr>
      </p:pic>
      <p:sp>
        <p:nvSpPr>
          <p:cNvPr id="54" name="Rectangle: Rounded Corners 19">
            <a:extLst>
              <a:ext uri="{FF2B5EF4-FFF2-40B4-BE49-F238E27FC236}">
                <a16:creationId xmlns:a16="http://schemas.microsoft.com/office/drawing/2014/main" id="{56F4459A-D745-4F1A-A444-EAF9EE9FF84E}"/>
              </a:ext>
            </a:extLst>
          </p:cNvPr>
          <p:cNvSpPr/>
          <p:nvPr/>
        </p:nvSpPr>
        <p:spPr>
          <a:xfrm>
            <a:off x="905180" y="2269816"/>
            <a:ext cx="5172892" cy="767363"/>
          </a:xfrm>
          <a:prstGeom prst="roundRect">
            <a:avLst>
              <a:gd name="adj" fmla="val 15517"/>
            </a:avLst>
          </a:prstGeom>
          <a:gradFill flip="none" rotWithShape="1">
            <a:gsLst>
              <a:gs pos="0">
                <a:schemeClr val="tx1">
                  <a:alpha val="5000"/>
                </a:schemeClr>
              </a:gs>
              <a:gs pos="50500">
                <a:schemeClr val="accent2">
                  <a:alpha val="5000"/>
                </a:schemeClr>
              </a:gs>
              <a:gs pos="100000">
                <a:schemeClr val="tx1">
                  <a:alpha val="5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55" name="Oval 20">
            <a:extLst>
              <a:ext uri="{FF2B5EF4-FFF2-40B4-BE49-F238E27FC236}">
                <a16:creationId xmlns:a16="http://schemas.microsoft.com/office/drawing/2014/main" id="{00A6ADC1-034D-42D0-AD45-C27A434BAC97}"/>
              </a:ext>
            </a:extLst>
          </p:cNvPr>
          <p:cNvSpPr/>
          <p:nvPr/>
        </p:nvSpPr>
        <p:spPr>
          <a:xfrm>
            <a:off x="1050196" y="2405799"/>
            <a:ext cx="510221" cy="510221"/>
          </a:xfrm>
          <a:prstGeom prst="ellipse">
            <a:avLst/>
          </a:prstGeom>
          <a:gradFill>
            <a:gsLst>
              <a:gs pos="0">
                <a:schemeClr val="accent1"/>
              </a:gs>
              <a:gs pos="100000">
                <a:schemeClr val="accent2"/>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grpSp>
        <p:nvGrpSpPr>
          <p:cNvPr id="56" name="Group 21">
            <a:extLst>
              <a:ext uri="{FF2B5EF4-FFF2-40B4-BE49-F238E27FC236}">
                <a16:creationId xmlns:a16="http://schemas.microsoft.com/office/drawing/2014/main" id="{C5498B39-15C3-446F-BA18-037B1DFA0F81}"/>
              </a:ext>
            </a:extLst>
          </p:cNvPr>
          <p:cNvGrpSpPr/>
          <p:nvPr/>
        </p:nvGrpSpPr>
        <p:grpSpPr>
          <a:xfrm>
            <a:off x="1649285" y="2338482"/>
            <a:ext cx="4428787" cy="571537"/>
            <a:chOff x="1987550" y="4491298"/>
            <a:chExt cx="2024967" cy="1840626"/>
          </a:xfrm>
        </p:grpSpPr>
        <p:sp>
          <p:nvSpPr>
            <p:cNvPr id="57" name="TextBox 22">
              <a:extLst>
                <a:ext uri="{FF2B5EF4-FFF2-40B4-BE49-F238E27FC236}">
                  <a16:creationId xmlns:a16="http://schemas.microsoft.com/office/drawing/2014/main" id="{50C3D3C6-F0A2-44B8-BE92-A427957560AA}"/>
                </a:ext>
              </a:extLst>
            </p:cNvPr>
            <p:cNvSpPr txBox="1"/>
            <p:nvPr/>
          </p:nvSpPr>
          <p:spPr>
            <a:xfrm>
              <a:off x="1987550" y="4491298"/>
              <a:ext cx="2000373" cy="1486785"/>
            </a:xfrm>
            <a:prstGeom prst="rect">
              <a:avLst/>
            </a:prstGeom>
            <a:noFill/>
          </p:spPr>
          <p:txBody>
            <a:bodyPr wrap="square" rtlCol="0">
              <a:spAutoFit/>
            </a:bodyPr>
            <a:lstStyle/>
            <a:p>
              <a:r>
                <a:rPr lang="en-US" sz="2400" dirty="0" err="1"/>
                <a:t>Registro</a:t>
              </a:r>
              <a:r>
                <a:rPr lang="en-US" sz="2400" dirty="0"/>
                <a:t> </a:t>
              </a:r>
              <a:r>
                <a:rPr lang="en-US" sz="2400" dirty="0" err="1"/>
                <a:t>histórico</a:t>
              </a:r>
              <a:r>
                <a:rPr lang="en-US" sz="2400" dirty="0"/>
                <a:t> de </a:t>
              </a:r>
              <a:r>
                <a:rPr lang="en-US" sz="2400" dirty="0" err="1"/>
                <a:t>código</a:t>
              </a:r>
              <a:endParaRPr lang="en-ID" sz="2400" dirty="0"/>
            </a:p>
          </p:txBody>
        </p:sp>
        <p:sp>
          <p:nvSpPr>
            <p:cNvPr id="58" name="TextBox 23">
              <a:extLst>
                <a:ext uri="{FF2B5EF4-FFF2-40B4-BE49-F238E27FC236}">
                  <a16:creationId xmlns:a16="http://schemas.microsoft.com/office/drawing/2014/main" id="{76E1F076-4F26-4212-B106-9AD37F13DCC8}"/>
                </a:ext>
              </a:extLst>
            </p:cNvPr>
            <p:cNvSpPr txBox="1"/>
            <p:nvPr/>
          </p:nvSpPr>
          <p:spPr>
            <a:xfrm>
              <a:off x="1987550" y="5588533"/>
              <a:ext cx="2024967" cy="743391"/>
            </a:xfrm>
            <a:prstGeom prst="rect">
              <a:avLst/>
            </a:prstGeom>
            <a:noFill/>
          </p:spPr>
          <p:txBody>
            <a:bodyPr wrap="square" rtlCol="0">
              <a:spAutoFit/>
            </a:bodyPr>
            <a:lstStyle/>
            <a:p>
              <a:r>
                <a:rPr lang="en-US" sz="900" dirty="0" err="1"/>
                <a:t>Mantiene</a:t>
              </a:r>
              <a:r>
                <a:rPr lang="en-US" sz="900" dirty="0"/>
                <a:t> un </a:t>
              </a:r>
              <a:r>
                <a:rPr lang="en-US" sz="900" dirty="0" err="1"/>
                <a:t>historial</a:t>
              </a:r>
              <a:r>
                <a:rPr lang="en-US" sz="900" dirty="0"/>
                <a:t> complete de las </a:t>
              </a:r>
              <a:r>
                <a:rPr lang="en-US" sz="900" dirty="0" err="1"/>
                <a:t>modificaciones</a:t>
              </a:r>
              <a:endParaRPr lang="en-ID" sz="900" dirty="0"/>
            </a:p>
          </p:txBody>
        </p:sp>
      </p:grpSp>
      <p:sp>
        <p:nvSpPr>
          <p:cNvPr id="60" name="Rectangle: Rounded Corners 19">
            <a:extLst>
              <a:ext uri="{FF2B5EF4-FFF2-40B4-BE49-F238E27FC236}">
                <a16:creationId xmlns:a16="http://schemas.microsoft.com/office/drawing/2014/main" id="{70A1BCCA-A851-48D6-9988-23A2C1204D01}"/>
              </a:ext>
            </a:extLst>
          </p:cNvPr>
          <p:cNvSpPr/>
          <p:nvPr/>
        </p:nvSpPr>
        <p:spPr>
          <a:xfrm>
            <a:off x="905180" y="3117454"/>
            <a:ext cx="5172892" cy="767363"/>
          </a:xfrm>
          <a:prstGeom prst="roundRect">
            <a:avLst>
              <a:gd name="adj" fmla="val 15517"/>
            </a:avLst>
          </a:prstGeom>
          <a:gradFill flip="none" rotWithShape="1">
            <a:gsLst>
              <a:gs pos="0">
                <a:schemeClr val="tx1">
                  <a:alpha val="5000"/>
                </a:schemeClr>
              </a:gs>
              <a:gs pos="50500">
                <a:schemeClr val="accent2">
                  <a:alpha val="5000"/>
                </a:schemeClr>
              </a:gs>
              <a:gs pos="100000">
                <a:schemeClr val="tx1">
                  <a:alpha val="5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61" name="Oval 20">
            <a:extLst>
              <a:ext uri="{FF2B5EF4-FFF2-40B4-BE49-F238E27FC236}">
                <a16:creationId xmlns:a16="http://schemas.microsoft.com/office/drawing/2014/main" id="{DD98A7DC-ADC7-4C32-B5D3-D57E981CD9DA}"/>
              </a:ext>
            </a:extLst>
          </p:cNvPr>
          <p:cNvSpPr/>
          <p:nvPr/>
        </p:nvSpPr>
        <p:spPr>
          <a:xfrm>
            <a:off x="1050196" y="3253437"/>
            <a:ext cx="510221" cy="510221"/>
          </a:xfrm>
          <a:prstGeom prst="ellipse">
            <a:avLst/>
          </a:prstGeom>
          <a:gradFill>
            <a:gsLst>
              <a:gs pos="0">
                <a:schemeClr val="accent1"/>
              </a:gs>
              <a:gs pos="100000">
                <a:schemeClr val="accent2"/>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grpSp>
        <p:nvGrpSpPr>
          <p:cNvPr id="62" name="Group 21">
            <a:extLst>
              <a:ext uri="{FF2B5EF4-FFF2-40B4-BE49-F238E27FC236}">
                <a16:creationId xmlns:a16="http://schemas.microsoft.com/office/drawing/2014/main" id="{E5CD6705-90F0-4D0C-AC59-BFF92AEF28C5}"/>
              </a:ext>
            </a:extLst>
          </p:cNvPr>
          <p:cNvGrpSpPr/>
          <p:nvPr/>
        </p:nvGrpSpPr>
        <p:grpSpPr>
          <a:xfrm>
            <a:off x="1649285" y="3186120"/>
            <a:ext cx="4991663" cy="571537"/>
            <a:chOff x="1987550" y="4491298"/>
            <a:chExt cx="2024967" cy="1840626"/>
          </a:xfrm>
        </p:grpSpPr>
        <p:sp>
          <p:nvSpPr>
            <p:cNvPr id="63" name="TextBox 22">
              <a:extLst>
                <a:ext uri="{FF2B5EF4-FFF2-40B4-BE49-F238E27FC236}">
                  <a16:creationId xmlns:a16="http://schemas.microsoft.com/office/drawing/2014/main" id="{07F02177-711C-4F4B-A76F-4445CBE9FD08}"/>
                </a:ext>
              </a:extLst>
            </p:cNvPr>
            <p:cNvSpPr txBox="1"/>
            <p:nvPr/>
          </p:nvSpPr>
          <p:spPr>
            <a:xfrm>
              <a:off x="1987550" y="4491298"/>
              <a:ext cx="1828800" cy="1486785"/>
            </a:xfrm>
            <a:prstGeom prst="rect">
              <a:avLst/>
            </a:prstGeom>
            <a:noFill/>
          </p:spPr>
          <p:txBody>
            <a:bodyPr wrap="square" rtlCol="0">
              <a:spAutoFit/>
            </a:bodyPr>
            <a:lstStyle/>
            <a:p>
              <a:r>
                <a:rPr lang="en-US" sz="2400" dirty="0" err="1"/>
                <a:t>Trabajo</a:t>
              </a:r>
              <a:r>
                <a:rPr lang="en-US" sz="2400" dirty="0"/>
                <a:t> </a:t>
              </a:r>
              <a:r>
                <a:rPr lang="en-US" sz="2400" dirty="0" err="1"/>
                <a:t>colaborativo</a:t>
              </a:r>
              <a:endParaRPr lang="en-ID" sz="2400" dirty="0"/>
            </a:p>
          </p:txBody>
        </p:sp>
        <p:sp>
          <p:nvSpPr>
            <p:cNvPr id="64" name="TextBox 23">
              <a:extLst>
                <a:ext uri="{FF2B5EF4-FFF2-40B4-BE49-F238E27FC236}">
                  <a16:creationId xmlns:a16="http://schemas.microsoft.com/office/drawing/2014/main" id="{8C186568-F154-46BF-B225-F484FDDDAAB0}"/>
                </a:ext>
              </a:extLst>
            </p:cNvPr>
            <p:cNvSpPr txBox="1"/>
            <p:nvPr/>
          </p:nvSpPr>
          <p:spPr>
            <a:xfrm>
              <a:off x="1987550" y="5588533"/>
              <a:ext cx="2024967" cy="743391"/>
            </a:xfrm>
            <a:prstGeom prst="rect">
              <a:avLst/>
            </a:prstGeom>
            <a:noFill/>
          </p:spPr>
          <p:txBody>
            <a:bodyPr wrap="square" rtlCol="0">
              <a:spAutoFit/>
            </a:bodyPr>
            <a:lstStyle/>
            <a:p>
              <a:r>
                <a:rPr lang="en-US" sz="900" dirty="0" err="1"/>
                <a:t>Facilita</a:t>
              </a:r>
              <a:r>
                <a:rPr lang="en-US" sz="900" dirty="0"/>
                <a:t> que </a:t>
              </a:r>
              <a:r>
                <a:rPr lang="en-US" sz="900" dirty="0" err="1"/>
                <a:t>varios</a:t>
              </a:r>
              <a:r>
                <a:rPr lang="en-US" sz="900" dirty="0"/>
                <a:t> </a:t>
              </a:r>
              <a:r>
                <a:rPr lang="en-US" sz="900" dirty="0" err="1"/>
                <a:t>desarrolladores</a:t>
              </a:r>
              <a:r>
                <a:rPr lang="en-US" sz="900" dirty="0"/>
                <a:t> </a:t>
              </a:r>
              <a:r>
                <a:rPr lang="en-US" sz="900" dirty="0" err="1"/>
                <a:t>trabajen</a:t>
              </a:r>
              <a:r>
                <a:rPr lang="en-US" sz="900" dirty="0"/>
                <a:t> </a:t>
              </a:r>
              <a:r>
                <a:rPr lang="en-US" sz="900" dirty="0" err="1"/>
                <a:t>en</a:t>
              </a:r>
              <a:r>
                <a:rPr lang="en-US" sz="900" dirty="0"/>
                <a:t> </a:t>
              </a:r>
              <a:r>
                <a:rPr lang="en-US" sz="900" dirty="0" err="1"/>
                <a:t>el</a:t>
              </a:r>
              <a:r>
                <a:rPr lang="en-US" sz="900" dirty="0"/>
                <a:t> </a:t>
              </a:r>
              <a:r>
                <a:rPr lang="en-US" sz="900" dirty="0" err="1"/>
                <a:t>mismo</a:t>
              </a:r>
              <a:r>
                <a:rPr lang="en-US" sz="900" dirty="0"/>
                <a:t> </a:t>
              </a:r>
              <a:r>
                <a:rPr lang="en-US" sz="900" dirty="0" err="1"/>
                <a:t>proyecto</a:t>
              </a:r>
              <a:endParaRPr lang="en-ID" sz="900" dirty="0"/>
            </a:p>
          </p:txBody>
        </p:sp>
      </p:grpSp>
      <p:sp>
        <p:nvSpPr>
          <p:cNvPr id="66" name="Rectangle: Rounded Corners 19">
            <a:extLst>
              <a:ext uri="{FF2B5EF4-FFF2-40B4-BE49-F238E27FC236}">
                <a16:creationId xmlns:a16="http://schemas.microsoft.com/office/drawing/2014/main" id="{534E4BD8-536E-48C4-ACD3-899FF01428CC}"/>
              </a:ext>
            </a:extLst>
          </p:cNvPr>
          <p:cNvSpPr/>
          <p:nvPr/>
        </p:nvSpPr>
        <p:spPr>
          <a:xfrm>
            <a:off x="905180" y="3965603"/>
            <a:ext cx="5172892" cy="767363"/>
          </a:xfrm>
          <a:prstGeom prst="roundRect">
            <a:avLst>
              <a:gd name="adj" fmla="val 15517"/>
            </a:avLst>
          </a:prstGeom>
          <a:gradFill flip="none" rotWithShape="1">
            <a:gsLst>
              <a:gs pos="0">
                <a:schemeClr val="tx1">
                  <a:alpha val="5000"/>
                </a:schemeClr>
              </a:gs>
              <a:gs pos="50500">
                <a:schemeClr val="accent2">
                  <a:alpha val="5000"/>
                </a:schemeClr>
              </a:gs>
              <a:gs pos="100000">
                <a:schemeClr val="tx1">
                  <a:alpha val="5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67" name="Oval 20">
            <a:extLst>
              <a:ext uri="{FF2B5EF4-FFF2-40B4-BE49-F238E27FC236}">
                <a16:creationId xmlns:a16="http://schemas.microsoft.com/office/drawing/2014/main" id="{EBDAFDB1-FF79-4A7D-98A5-2CA18A767831}"/>
              </a:ext>
            </a:extLst>
          </p:cNvPr>
          <p:cNvSpPr/>
          <p:nvPr/>
        </p:nvSpPr>
        <p:spPr>
          <a:xfrm>
            <a:off x="1050196" y="4101586"/>
            <a:ext cx="510221" cy="510221"/>
          </a:xfrm>
          <a:prstGeom prst="ellipse">
            <a:avLst/>
          </a:prstGeom>
          <a:gradFill>
            <a:gsLst>
              <a:gs pos="0">
                <a:schemeClr val="accent1"/>
              </a:gs>
              <a:gs pos="100000">
                <a:schemeClr val="accent2"/>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grpSp>
        <p:nvGrpSpPr>
          <p:cNvPr id="68" name="Group 21">
            <a:extLst>
              <a:ext uri="{FF2B5EF4-FFF2-40B4-BE49-F238E27FC236}">
                <a16:creationId xmlns:a16="http://schemas.microsoft.com/office/drawing/2014/main" id="{E599C070-FF5E-42F6-8D08-FA7E51B32412}"/>
              </a:ext>
            </a:extLst>
          </p:cNvPr>
          <p:cNvGrpSpPr/>
          <p:nvPr/>
        </p:nvGrpSpPr>
        <p:grpSpPr>
          <a:xfrm>
            <a:off x="1649285" y="4034269"/>
            <a:ext cx="4991663" cy="571537"/>
            <a:chOff x="1987550" y="4491298"/>
            <a:chExt cx="2024967" cy="1840626"/>
          </a:xfrm>
        </p:grpSpPr>
        <p:sp>
          <p:nvSpPr>
            <p:cNvPr id="69" name="TextBox 22">
              <a:extLst>
                <a:ext uri="{FF2B5EF4-FFF2-40B4-BE49-F238E27FC236}">
                  <a16:creationId xmlns:a16="http://schemas.microsoft.com/office/drawing/2014/main" id="{46368F0D-9E95-4935-8F42-0A63D17CDD15}"/>
                </a:ext>
              </a:extLst>
            </p:cNvPr>
            <p:cNvSpPr txBox="1"/>
            <p:nvPr/>
          </p:nvSpPr>
          <p:spPr>
            <a:xfrm>
              <a:off x="1987550" y="4491298"/>
              <a:ext cx="1828800" cy="1486785"/>
            </a:xfrm>
            <a:prstGeom prst="rect">
              <a:avLst/>
            </a:prstGeom>
            <a:noFill/>
          </p:spPr>
          <p:txBody>
            <a:bodyPr wrap="square" rtlCol="0">
              <a:spAutoFit/>
            </a:bodyPr>
            <a:lstStyle/>
            <a:p>
              <a:r>
                <a:rPr lang="en-US" sz="2400" dirty="0" err="1"/>
                <a:t>Creación</a:t>
              </a:r>
              <a:r>
                <a:rPr lang="en-US" sz="2400" dirty="0"/>
                <a:t> de </a:t>
              </a:r>
              <a:r>
                <a:rPr lang="en-US" sz="2400" dirty="0" err="1"/>
                <a:t>ramas</a:t>
              </a:r>
              <a:endParaRPr lang="en-ID" sz="2400" dirty="0"/>
            </a:p>
          </p:txBody>
        </p:sp>
        <p:sp>
          <p:nvSpPr>
            <p:cNvPr id="70" name="TextBox 23">
              <a:extLst>
                <a:ext uri="{FF2B5EF4-FFF2-40B4-BE49-F238E27FC236}">
                  <a16:creationId xmlns:a16="http://schemas.microsoft.com/office/drawing/2014/main" id="{66AE36C3-965A-4326-AD3A-7F757E1A5CEF}"/>
                </a:ext>
              </a:extLst>
            </p:cNvPr>
            <p:cNvSpPr txBox="1"/>
            <p:nvPr/>
          </p:nvSpPr>
          <p:spPr>
            <a:xfrm>
              <a:off x="1987550" y="5588533"/>
              <a:ext cx="2024967" cy="743391"/>
            </a:xfrm>
            <a:prstGeom prst="rect">
              <a:avLst/>
            </a:prstGeom>
            <a:noFill/>
          </p:spPr>
          <p:txBody>
            <a:bodyPr wrap="square" rtlCol="0">
              <a:spAutoFit/>
            </a:bodyPr>
            <a:lstStyle/>
            <a:p>
              <a:r>
                <a:rPr lang="en-US" sz="900" dirty="0" err="1"/>
                <a:t>Permite</a:t>
              </a:r>
              <a:r>
                <a:rPr lang="en-US" sz="900" dirty="0"/>
                <a:t> </a:t>
              </a:r>
              <a:r>
                <a:rPr lang="en-US" sz="900" dirty="0" err="1"/>
                <a:t>crear</a:t>
              </a:r>
              <a:r>
                <a:rPr lang="en-US" sz="900" dirty="0"/>
                <a:t> </a:t>
              </a:r>
              <a:r>
                <a:rPr lang="en-US" sz="900" dirty="0" err="1"/>
                <a:t>ramas</a:t>
              </a:r>
              <a:r>
                <a:rPr lang="en-US" sz="900" dirty="0"/>
                <a:t> para </a:t>
              </a:r>
              <a:r>
                <a:rPr lang="en-US" sz="900" dirty="0" err="1"/>
                <a:t>trabajar</a:t>
              </a:r>
              <a:r>
                <a:rPr lang="en-US" sz="900" dirty="0"/>
                <a:t> </a:t>
              </a:r>
              <a:r>
                <a:rPr lang="en-US" sz="900" dirty="0" err="1"/>
                <a:t>en</a:t>
              </a:r>
              <a:r>
                <a:rPr lang="en-US" sz="900" dirty="0"/>
                <a:t> </a:t>
              </a:r>
              <a:r>
                <a:rPr lang="en-US" sz="900" dirty="0" err="1"/>
                <a:t>difrentes</a:t>
              </a:r>
              <a:r>
                <a:rPr lang="en-US" sz="900" dirty="0"/>
                <a:t> </a:t>
              </a:r>
              <a:r>
                <a:rPr lang="en-US" sz="900" dirty="0" err="1"/>
                <a:t>funcionalidades</a:t>
              </a:r>
              <a:endParaRPr lang="en-ID" sz="900" dirty="0"/>
            </a:p>
          </p:txBody>
        </p:sp>
      </p:grpSp>
      <p:pic>
        <p:nvPicPr>
          <p:cNvPr id="8" name="Imagen 7">
            <a:extLst>
              <a:ext uri="{FF2B5EF4-FFF2-40B4-BE49-F238E27FC236}">
                <a16:creationId xmlns:a16="http://schemas.microsoft.com/office/drawing/2014/main" id="{69870F8D-393C-4441-9F60-61F300C3F105}"/>
              </a:ext>
            </a:extLst>
          </p:cNvPr>
          <p:cNvPicPr>
            <a:picLocks noChangeAspect="1"/>
          </p:cNvPicPr>
          <p:nvPr/>
        </p:nvPicPr>
        <p:blipFill>
          <a:blip r:embed="rId3"/>
          <a:stretch>
            <a:fillRect/>
          </a:stretch>
        </p:blipFill>
        <p:spPr>
          <a:xfrm>
            <a:off x="1167685" y="2484277"/>
            <a:ext cx="301396" cy="324000"/>
          </a:xfrm>
          <a:prstGeom prst="rect">
            <a:avLst/>
          </a:prstGeom>
        </p:spPr>
      </p:pic>
      <p:pic>
        <p:nvPicPr>
          <p:cNvPr id="12" name="Imagen 11">
            <a:extLst>
              <a:ext uri="{FF2B5EF4-FFF2-40B4-BE49-F238E27FC236}">
                <a16:creationId xmlns:a16="http://schemas.microsoft.com/office/drawing/2014/main" id="{5DC2EE69-3235-481A-AD25-001FA4D2169F}"/>
              </a:ext>
            </a:extLst>
          </p:cNvPr>
          <p:cNvPicPr>
            <a:picLocks noChangeAspect="1"/>
          </p:cNvPicPr>
          <p:nvPr/>
        </p:nvPicPr>
        <p:blipFill>
          <a:blip r:embed="rId4"/>
          <a:stretch>
            <a:fillRect/>
          </a:stretch>
        </p:blipFill>
        <p:spPr>
          <a:xfrm>
            <a:off x="1148778" y="3341578"/>
            <a:ext cx="327724" cy="324000"/>
          </a:xfrm>
          <a:prstGeom prst="rect">
            <a:avLst/>
          </a:prstGeom>
        </p:spPr>
      </p:pic>
      <p:pic>
        <p:nvPicPr>
          <p:cNvPr id="14" name="Imagen 13">
            <a:extLst>
              <a:ext uri="{FF2B5EF4-FFF2-40B4-BE49-F238E27FC236}">
                <a16:creationId xmlns:a16="http://schemas.microsoft.com/office/drawing/2014/main" id="{F2650706-88D6-48B3-916F-F1BA715F1F67}"/>
              </a:ext>
            </a:extLst>
          </p:cNvPr>
          <p:cNvPicPr>
            <a:picLocks noChangeAspect="1"/>
          </p:cNvPicPr>
          <p:nvPr/>
        </p:nvPicPr>
        <p:blipFill>
          <a:blip r:embed="rId5"/>
          <a:stretch>
            <a:fillRect/>
          </a:stretch>
        </p:blipFill>
        <p:spPr>
          <a:xfrm>
            <a:off x="1158920" y="4181583"/>
            <a:ext cx="292771" cy="324000"/>
          </a:xfrm>
          <a:prstGeom prst="rect">
            <a:avLst/>
          </a:prstGeom>
        </p:spPr>
      </p:pic>
      <p:pic>
        <p:nvPicPr>
          <p:cNvPr id="72" name="Picture 4" descr="git">
            <a:extLst>
              <a:ext uri="{FF2B5EF4-FFF2-40B4-BE49-F238E27FC236}">
                <a16:creationId xmlns:a16="http://schemas.microsoft.com/office/drawing/2014/main" id="{E8EBC022-C61F-4A85-9A78-756C763EB5C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5583" y="2467282"/>
            <a:ext cx="2464000" cy="144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2795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A6C636BB-E7D0-FE55-C2F5-FC57A88AB9F0}"/>
              </a:ext>
            </a:extLst>
          </p:cNvPr>
          <p:cNvSpPr txBox="1">
            <a:spLocks/>
          </p:cNvSpPr>
          <p:nvPr/>
        </p:nvSpPr>
        <p:spPr>
          <a:xfrm>
            <a:off x="666975" y="550472"/>
            <a:ext cx="5587828" cy="577171"/>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3200" dirty="0"/>
              <a:t>Introducción a Git</a:t>
            </a:r>
          </a:p>
        </p:txBody>
      </p:sp>
      <p:sp>
        <p:nvSpPr>
          <p:cNvPr id="9" name="Slide Number Placeholder 5">
            <a:extLst>
              <a:ext uri="{FF2B5EF4-FFF2-40B4-BE49-F238E27FC236}">
                <a16:creationId xmlns:a16="http://schemas.microsoft.com/office/drawing/2014/main" id="{7AA4D592-1C24-9678-675B-5592FEE70AED}"/>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6</a:t>
            </a:fld>
            <a:endParaRPr lang="es-MX" sz="700">
              <a:solidFill>
                <a:schemeClr val="tx1"/>
              </a:solidFill>
              <a:latin typeface="+mn-lt"/>
            </a:endParaRPr>
          </a:p>
        </p:txBody>
      </p:sp>
      <p:sp>
        <p:nvSpPr>
          <p:cNvPr id="10" name="Date Placeholder 3">
            <a:extLst>
              <a:ext uri="{FF2B5EF4-FFF2-40B4-BE49-F238E27FC236}">
                <a16:creationId xmlns:a16="http://schemas.microsoft.com/office/drawing/2014/main" id="{01B32BC8-1722-304F-0282-503A51C392A4}"/>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16" name="Footer Placeholder 4">
            <a:extLst>
              <a:ext uri="{FF2B5EF4-FFF2-40B4-BE49-F238E27FC236}">
                <a16:creationId xmlns:a16="http://schemas.microsoft.com/office/drawing/2014/main" id="{EAE13ECB-7911-B012-DA67-027E1A7CF8DF}"/>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solidFill>
                <a:latin typeface="+mn-lt"/>
              </a:rPr>
              <a:t>GIT</a:t>
            </a:r>
          </a:p>
        </p:txBody>
      </p:sp>
      <p:pic>
        <p:nvPicPr>
          <p:cNvPr id="19458" name="Picture 2" descr="Lo que muchos no saben sobre los sistemas de control de versiones.">
            <a:extLst>
              <a:ext uri="{FF2B5EF4-FFF2-40B4-BE49-F238E27FC236}">
                <a16:creationId xmlns:a16="http://schemas.microsoft.com/office/drawing/2014/main" id="{7D1C065B-3ACF-4632-A7AC-5EE04825E0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447" y="2005269"/>
            <a:ext cx="1440000" cy="144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24" name="Title 1">
            <a:extLst>
              <a:ext uri="{FF2B5EF4-FFF2-40B4-BE49-F238E27FC236}">
                <a16:creationId xmlns:a16="http://schemas.microsoft.com/office/drawing/2014/main" id="{E418ED54-B0A1-4BAB-BA68-1E9A0EF0B8ED}"/>
              </a:ext>
            </a:extLst>
          </p:cNvPr>
          <p:cNvSpPr txBox="1">
            <a:spLocks/>
          </p:cNvSpPr>
          <p:nvPr/>
        </p:nvSpPr>
        <p:spPr>
          <a:xfrm>
            <a:off x="392733" y="3766579"/>
            <a:ext cx="1346714" cy="307777"/>
          </a:xfrm>
          <a:prstGeom prst="rect">
            <a:avLst/>
          </a:prstGeom>
        </p:spPr>
        <p:txBody>
          <a:bodyPr wrap="square" lIns="0" tIns="0" rIns="0" bIns="0" anchor="t">
            <a:spAutoFit/>
          </a:bodyPr>
          <a:lstStyle>
            <a:lvl1pPr algn="ctr" defTabSz="1828800" rtl="0" eaLnBrk="1" latinLnBrk="0" hangingPunct="1">
              <a:lnSpc>
                <a:spcPct val="100000"/>
              </a:lnSpc>
              <a:spcBef>
                <a:spcPct val="0"/>
              </a:spcBef>
              <a:buNone/>
              <a:defRPr sz="7400" b="0" kern="1200" cap="none" spc="100" baseline="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spcAft>
                <a:spcPts val="675"/>
              </a:spcAft>
            </a:pPr>
            <a:r>
              <a:rPr lang="es-MX" sz="1000" spc="0" dirty="0">
                <a:solidFill>
                  <a:srgbClr val="963CBE"/>
                </a:solidFill>
                <a:latin typeface="+mn-lt"/>
                <a:ea typeface="Vita Std ExLt" pitchFamily="2" charset="77"/>
              </a:rPr>
              <a:t>Sistema de control de versiones</a:t>
            </a:r>
            <a:endParaRPr lang="en-US" sz="1000" spc="0" dirty="0">
              <a:solidFill>
                <a:srgbClr val="963CBE"/>
              </a:solidFill>
              <a:latin typeface="+mn-lt"/>
              <a:ea typeface="Vita Std ExLt" pitchFamily="2" charset="77"/>
              <a:cs typeface="Verdana" panose="020B0604030504040204" pitchFamily="34" charset="0"/>
            </a:endParaRPr>
          </a:p>
        </p:txBody>
      </p:sp>
      <p:sp>
        <p:nvSpPr>
          <p:cNvPr id="25" name="Title 1">
            <a:extLst>
              <a:ext uri="{FF2B5EF4-FFF2-40B4-BE49-F238E27FC236}">
                <a16:creationId xmlns:a16="http://schemas.microsoft.com/office/drawing/2014/main" id="{E01C5DA3-A001-40E9-9FA4-F0FFF5D825C5}"/>
              </a:ext>
            </a:extLst>
          </p:cNvPr>
          <p:cNvSpPr txBox="1">
            <a:spLocks/>
          </p:cNvSpPr>
          <p:nvPr/>
        </p:nvSpPr>
        <p:spPr>
          <a:xfrm>
            <a:off x="6852565" y="3741931"/>
            <a:ext cx="2014663" cy="153888"/>
          </a:xfrm>
          <a:prstGeom prst="rect">
            <a:avLst/>
          </a:prstGeom>
        </p:spPr>
        <p:txBody>
          <a:bodyPr wrap="square" lIns="0" tIns="0" rIns="0" bIns="0" anchor="t">
            <a:spAutoFit/>
          </a:bodyPr>
          <a:lstStyle>
            <a:lvl1pPr algn="ctr" defTabSz="1828800" rtl="0" eaLnBrk="1" latinLnBrk="0" hangingPunct="1">
              <a:lnSpc>
                <a:spcPct val="100000"/>
              </a:lnSpc>
              <a:spcBef>
                <a:spcPct val="0"/>
              </a:spcBef>
              <a:buNone/>
              <a:defRPr sz="7400" b="0" kern="1200" cap="none" spc="100" baseline="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spcAft>
                <a:spcPts val="675"/>
              </a:spcAft>
            </a:pPr>
            <a:r>
              <a:rPr lang="es-MX" sz="1000" spc="0" dirty="0">
                <a:solidFill>
                  <a:srgbClr val="963CBE"/>
                </a:solidFill>
                <a:latin typeface="+mn-lt"/>
                <a:ea typeface="Vita Std ExLt" pitchFamily="2" charset="77"/>
              </a:rPr>
              <a:t>Distribuido</a:t>
            </a:r>
            <a:endParaRPr lang="en-US" sz="1000" spc="0" dirty="0">
              <a:solidFill>
                <a:srgbClr val="963CBE"/>
              </a:solidFill>
              <a:latin typeface="+mn-lt"/>
              <a:ea typeface="Vita Std ExLt" pitchFamily="2" charset="77"/>
              <a:cs typeface="Verdana" panose="020B0604030504040204" pitchFamily="34" charset="0"/>
            </a:endParaRPr>
          </a:p>
        </p:txBody>
      </p:sp>
      <p:sp>
        <p:nvSpPr>
          <p:cNvPr id="27" name="Title 1">
            <a:extLst>
              <a:ext uri="{FF2B5EF4-FFF2-40B4-BE49-F238E27FC236}">
                <a16:creationId xmlns:a16="http://schemas.microsoft.com/office/drawing/2014/main" id="{0C1278C0-8359-49B5-8D41-94B5CB1BE3D8}"/>
              </a:ext>
            </a:extLst>
          </p:cNvPr>
          <p:cNvSpPr txBox="1">
            <a:spLocks/>
          </p:cNvSpPr>
          <p:nvPr/>
        </p:nvSpPr>
        <p:spPr>
          <a:xfrm>
            <a:off x="3400741" y="3766580"/>
            <a:ext cx="2014663" cy="153888"/>
          </a:xfrm>
          <a:prstGeom prst="rect">
            <a:avLst/>
          </a:prstGeom>
        </p:spPr>
        <p:txBody>
          <a:bodyPr wrap="square" lIns="0" tIns="0" rIns="0" bIns="0" anchor="t">
            <a:spAutoFit/>
          </a:bodyPr>
          <a:lstStyle>
            <a:lvl1pPr algn="ctr" defTabSz="1828800" rtl="0" eaLnBrk="1" latinLnBrk="0" hangingPunct="1">
              <a:lnSpc>
                <a:spcPct val="100000"/>
              </a:lnSpc>
              <a:spcBef>
                <a:spcPct val="0"/>
              </a:spcBef>
              <a:buNone/>
              <a:defRPr sz="7400" b="0" kern="1200" cap="none" spc="100" baseline="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spcAft>
                <a:spcPts val="675"/>
              </a:spcAft>
            </a:pPr>
            <a:r>
              <a:rPr lang="en-US" sz="1000" spc="0" dirty="0" err="1">
                <a:solidFill>
                  <a:srgbClr val="963CBE"/>
                </a:solidFill>
                <a:latin typeface="+mn-lt"/>
                <a:ea typeface="Vita Std ExLt" pitchFamily="2" charset="77"/>
              </a:rPr>
              <a:t>Trabaja</a:t>
            </a:r>
            <a:r>
              <a:rPr lang="en-US" sz="1000" spc="0" dirty="0">
                <a:solidFill>
                  <a:srgbClr val="963CBE"/>
                </a:solidFill>
                <a:latin typeface="+mn-lt"/>
                <a:ea typeface="Vita Std ExLt" pitchFamily="2" charset="77"/>
              </a:rPr>
              <a:t> </a:t>
            </a:r>
            <a:r>
              <a:rPr lang="en-US" sz="1000" spc="0" dirty="0" err="1">
                <a:solidFill>
                  <a:srgbClr val="963CBE"/>
                </a:solidFill>
                <a:latin typeface="+mn-lt"/>
                <a:ea typeface="Vita Std ExLt" pitchFamily="2" charset="77"/>
              </a:rPr>
              <a:t>localmente</a:t>
            </a:r>
            <a:endParaRPr lang="es-ES" dirty="0">
              <a:latin typeface="+mn-lt"/>
              <a:ea typeface="Vita Std ExLt" pitchFamily="2" charset="77"/>
              <a:cs typeface="Open Sans Light"/>
            </a:endParaRPr>
          </a:p>
        </p:txBody>
      </p:sp>
      <p:pic>
        <p:nvPicPr>
          <p:cNvPr id="4" name="Imagen 3">
            <a:extLst>
              <a:ext uri="{FF2B5EF4-FFF2-40B4-BE49-F238E27FC236}">
                <a16:creationId xmlns:a16="http://schemas.microsoft.com/office/drawing/2014/main" id="{994D39E4-4886-410E-A246-ED156969DD6F}"/>
              </a:ext>
            </a:extLst>
          </p:cNvPr>
          <p:cNvPicPr>
            <a:picLocks noChangeAspect="1"/>
          </p:cNvPicPr>
          <p:nvPr/>
        </p:nvPicPr>
        <p:blipFill>
          <a:blip r:embed="rId3"/>
          <a:stretch>
            <a:fillRect/>
          </a:stretch>
        </p:blipFill>
        <p:spPr>
          <a:xfrm>
            <a:off x="7205885" y="2029718"/>
            <a:ext cx="1308025" cy="144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9460" name="Picture 4">
            <a:extLst>
              <a:ext uri="{FF2B5EF4-FFF2-40B4-BE49-F238E27FC236}">
                <a16:creationId xmlns:a16="http://schemas.microsoft.com/office/drawing/2014/main" id="{19DA623E-A18D-4B50-AE15-6F2AAC1B59B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3036" y="2003089"/>
            <a:ext cx="4159260" cy="1440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7" name="CuadroTexto 36">
            <a:extLst>
              <a:ext uri="{FF2B5EF4-FFF2-40B4-BE49-F238E27FC236}">
                <a16:creationId xmlns:a16="http://schemas.microsoft.com/office/drawing/2014/main" id="{D9024968-3930-4E0E-BC9E-D2D36AECD503}"/>
              </a:ext>
            </a:extLst>
          </p:cNvPr>
          <p:cNvSpPr txBox="1"/>
          <p:nvPr/>
        </p:nvSpPr>
        <p:spPr>
          <a:xfrm>
            <a:off x="666975" y="1497817"/>
            <a:ext cx="7524205" cy="340991"/>
          </a:xfrm>
          <a:prstGeom prst="rect">
            <a:avLst/>
          </a:prstGeom>
          <a:noFill/>
        </p:spPr>
        <p:txBody>
          <a:bodyPr wrap="square" rtlCol="0">
            <a:spAutoFit/>
          </a:bodyPr>
          <a:lstStyle/>
          <a:p>
            <a:pPr marL="0" indent="0" algn="ctr">
              <a:lnSpc>
                <a:spcPct val="110000"/>
              </a:lnSpc>
              <a:buNone/>
            </a:pPr>
            <a:r>
              <a:rPr lang="es-MX" sz="1600" dirty="0">
                <a:ea typeface="Verdana" panose="020B0604030504040204" pitchFamily="34" charset="0"/>
                <a:cs typeface="Verdana" panose="020B0604030504040204" pitchFamily="34" charset="0"/>
              </a:rPr>
              <a:t>Características</a:t>
            </a:r>
          </a:p>
        </p:txBody>
      </p:sp>
    </p:spTree>
    <p:extLst>
      <p:ext uri="{BB962C8B-B14F-4D97-AF65-F5344CB8AC3E}">
        <p14:creationId xmlns:p14="http://schemas.microsoft.com/office/powerpoint/2010/main" val="22975222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7</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5313805"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3000" dirty="0">
                <a:ea typeface="Vita Std ExLt" pitchFamily="2" charset="77"/>
                <a:cs typeface="Verdana" panose="020B0604030504040204" pitchFamily="34" charset="0"/>
              </a:rPr>
              <a:t>Control de Versiones</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51367" y="498713"/>
            <a:ext cx="476987" cy="476987"/>
          </a:xfrm>
          <a:prstGeom prst="rect">
            <a:avLst/>
          </a:prstGeom>
        </p:spPr>
      </p:pic>
      <p:sp>
        <p:nvSpPr>
          <p:cNvPr id="2" name="Rectángulo 1"/>
          <p:cNvSpPr/>
          <p:nvPr/>
        </p:nvSpPr>
        <p:spPr>
          <a:xfrm>
            <a:off x="314544" y="1317947"/>
            <a:ext cx="6306633" cy="2800767"/>
          </a:xfrm>
          <a:prstGeom prst="rect">
            <a:avLst/>
          </a:prstGeom>
        </p:spPr>
        <p:txBody>
          <a:bodyPr wrap="square">
            <a:spAutoFit/>
          </a:bodyPr>
          <a:lstStyle/>
          <a:p>
            <a:pPr algn="just"/>
            <a:r>
              <a:rPr lang="es-MX" sz="1600" dirty="0"/>
              <a:t>Un control de versiones es un sistema (VCS) que registra los cambios realizados en un archivo o conjunto de archivos a lo largo del tiempo, de modo que puedas recuperar versiones específicas más adelante. </a:t>
            </a:r>
          </a:p>
          <a:p>
            <a:pPr algn="just"/>
            <a:endParaRPr lang="es-MX" sz="1600" dirty="0"/>
          </a:p>
          <a:p>
            <a:pPr algn="just"/>
            <a:r>
              <a:rPr lang="es-MX" sz="1600" dirty="0"/>
              <a:t>Usar un VCS también significa generalmente que si arruinas o pierdes archivos, será posible recuperarlos fácilmente. </a:t>
            </a:r>
          </a:p>
          <a:p>
            <a:endParaRPr lang="es-MX" sz="1600" dirty="0"/>
          </a:p>
          <a:p>
            <a:pPr marL="285750" indent="-285750">
              <a:buFont typeface="Wingdings" panose="05000000000000000000" pitchFamily="2" charset="2"/>
              <a:buChar char="§"/>
            </a:pPr>
            <a:r>
              <a:rPr lang="es-MX" sz="1600" dirty="0"/>
              <a:t>¿Qué cambios fueron realizados?</a:t>
            </a:r>
          </a:p>
          <a:p>
            <a:pPr marL="285750" indent="-285750">
              <a:buFont typeface="Wingdings" panose="05000000000000000000" pitchFamily="2" charset="2"/>
              <a:buChar char="§"/>
            </a:pPr>
            <a:r>
              <a:rPr lang="es-MX" sz="1600" dirty="0"/>
              <a:t>¿Quién realizó los cambios?</a:t>
            </a:r>
          </a:p>
          <a:p>
            <a:pPr marL="285750" indent="-285750">
              <a:buFont typeface="Wingdings" panose="05000000000000000000" pitchFamily="2" charset="2"/>
              <a:buChar char="§"/>
            </a:pPr>
            <a:r>
              <a:rPr lang="es-MX" sz="1600" dirty="0"/>
              <a:t>¿Cuándo se realizaron los cambios?</a:t>
            </a:r>
          </a:p>
        </p:txBody>
      </p:sp>
    </p:spTree>
    <p:extLst>
      <p:ext uri="{BB962C8B-B14F-4D97-AF65-F5344CB8AC3E}">
        <p14:creationId xmlns:p14="http://schemas.microsoft.com/office/powerpoint/2010/main" val="6427377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8</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dirty="0">
                <a:ea typeface="Vita Std ExLt" pitchFamily="2" charset="77"/>
                <a:cs typeface="Verdana" panose="020B0604030504040204" pitchFamily="34" charset="0"/>
              </a:rPr>
              <a:t>Control de Versiones</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51367" y="498713"/>
            <a:ext cx="476987" cy="476987"/>
          </a:xfrm>
          <a:prstGeom prst="rect">
            <a:avLst/>
          </a:prstGeom>
        </p:spPr>
      </p:pic>
      <p:sp>
        <p:nvSpPr>
          <p:cNvPr id="2" name="Rectángulo 1"/>
          <p:cNvSpPr/>
          <p:nvPr/>
        </p:nvSpPr>
        <p:spPr>
          <a:xfrm>
            <a:off x="396109" y="1349687"/>
            <a:ext cx="6024426" cy="3077766"/>
          </a:xfrm>
          <a:prstGeom prst="rect">
            <a:avLst/>
          </a:prstGeom>
        </p:spPr>
        <p:txBody>
          <a:bodyPr wrap="square">
            <a:spAutoFit/>
          </a:bodyPr>
          <a:lstStyle/>
          <a:p>
            <a:pPr algn="just"/>
            <a:r>
              <a:rPr lang="es-MX" sz="1600" dirty="0"/>
              <a:t>Un método de control de versiones, usado por muchas personas, es copiar los archivos a otro directorio (quizás indicando la fecha y hora en que lo hicieron, si son ingeniosos). Este método es muy común porque es muy sencillo, pero también es tremendamente propenso a errores.</a:t>
            </a:r>
          </a:p>
          <a:p>
            <a:pPr algn="just"/>
            <a:endParaRPr lang="es-MX" sz="1600" dirty="0"/>
          </a:p>
          <a:p>
            <a:pPr marL="285750" indent="-285750" algn="just">
              <a:buFont typeface="Wingdings" panose="05000000000000000000" pitchFamily="2" charset="2"/>
              <a:buChar char="§"/>
            </a:pPr>
            <a:r>
              <a:rPr lang="es-MX" sz="1600" dirty="0"/>
              <a:t>Perdida de directorio.</a:t>
            </a:r>
          </a:p>
          <a:p>
            <a:pPr marL="285750" indent="-285750" algn="just">
              <a:buFont typeface="Wingdings" panose="05000000000000000000" pitchFamily="2" charset="2"/>
              <a:buChar char="§"/>
            </a:pPr>
            <a:r>
              <a:rPr lang="es-MX" sz="1600" dirty="0" err="1"/>
              <a:t>Sobreescritura</a:t>
            </a:r>
            <a:r>
              <a:rPr lang="es-MX" sz="1600" dirty="0"/>
              <a:t>.</a:t>
            </a:r>
          </a:p>
          <a:p>
            <a:pPr marL="285750" indent="-285750" algn="just">
              <a:buFont typeface="Wingdings" panose="05000000000000000000" pitchFamily="2" charset="2"/>
              <a:buChar char="§"/>
            </a:pPr>
            <a:r>
              <a:rPr lang="es-MX" sz="1600" dirty="0"/>
              <a:t>Consumo de espacio.</a:t>
            </a:r>
          </a:p>
          <a:p>
            <a:pPr marL="285750" indent="-285750" algn="just">
              <a:buFont typeface="Wingdings" panose="05000000000000000000" pitchFamily="2" charset="2"/>
              <a:buChar char="§"/>
            </a:pPr>
            <a:r>
              <a:rPr lang="es-MX" sz="1600" dirty="0"/>
              <a:t>Central.</a:t>
            </a:r>
          </a:p>
          <a:p>
            <a:pPr marL="285750" indent="-285750" algn="just">
              <a:buFont typeface="Wingdings" panose="05000000000000000000" pitchFamily="2" charset="2"/>
              <a:buChar char="§"/>
            </a:pPr>
            <a:r>
              <a:rPr lang="es-MX" sz="1600" dirty="0"/>
              <a:t>Difícil de mantener.</a:t>
            </a:r>
          </a:p>
        </p:txBody>
      </p:sp>
    </p:spTree>
    <p:extLst>
      <p:ext uri="{BB962C8B-B14F-4D97-AF65-F5344CB8AC3E}">
        <p14:creationId xmlns:p14="http://schemas.microsoft.com/office/powerpoint/2010/main" val="19243386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161" y="2265033"/>
            <a:ext cx="2876852" cy="2676591"/>
          </a:xfrm>
          <a:prstGeom prst="rect">
            <a:avLst/>
          </a:prstGeom>
        </p:spPr>
      </p:pic>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9</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5313805"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800" dirty="0">
                <a:ea typeface="Vita Std ExLt" pitchFamily="2" charset="77"/>
                <a:cs typeface="Verdana" panose="020B0604030504040204" pitchFamily="34" charset="0"/>
              </a:rPr>
              <a:t>Tipos de Control de Versiones</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3">
            <a:duotone>
              <a:schemeClr val="accent2">
                <a:shade val="45000"/>
                <a:satMod val="135000"/>
              </a:schemeClr>
              <a:prstClr val="white"/>
            </a:duotone>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5">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51367" y="498713"/>
            <a:ext cx="476987" cy="476987"/>
          </a:xfrm>
          <a:prstGeom prst="rect">
            <a:avLst/>
          </a:prstGeom>
        </p:spPr>
      </p:pic>
      <p:sp>
        <p:nvSpPr>
          <p:cNvPr id="3" name="Rectángulo 2"/>
          <p:cNvSpPr/>
          <p:nvPr/>
        </p:nvSpPr>
        <p:spPr>
          <a:xfrm>
            <a:off x="396109" y="1281939"/>
            <a:ext cx="6606778" cy="861774"/>
          </a:xfrm>
          <a:prstGeom prst="rect">
            <a:avLst/>
          </a:prstGeom>
        </p:spPr>
        <p:txBody>
          <a:bodyPr wrap="square">
            <a:spAutoFit/>
          </a:bodyPr>
          <a:lstStyle/>
          <a:p>
            <a:pPr marL="285750" indent="-285750">
              <a:buFont typeface="Wingdings" panose="05000000000000000000" pitchFamily="2" charset="2"/>
              <a:buChar char="§"/>
            </a:pPr>
            <a:r>
              <a:rPr lang="es-MX" sz="1600" dirty="0"/>
              <a:t>Sistemas de Control de Versiones Locales (LVCS).</a:t>
            </a:r>
          </a:p>
          <a:p>
            <a:pPr marL="285750" indent="-285750">
              <a:buFont typeface="Wingdings" panose="05000000000000000000" pitchFamily="2" charset="2"/>
              <a:buChar char="§"/>
            </a:pPr>
            <a:r>
              <a:rPr lang="es-MX" sz="1600" dirty="0"/>
              <a:t>Sistemas de Control de Versiones Centralizados (CVCS).</a:t>
            </a:r>
          </a:p>
          <a:p>
            <a:pPr marL="285750" indent="-285750">
              <a:buFont typeface="Wingdings" panose="05000000000000000000" pitchFamily="2" charset="2"/>
              <a:buChar char="§"/>
            </a:pPr>
            <a:r>
              <a:rPr lang="es-MX" sz="1600" dirty="0"/>
              <a:t>Sistemas de Control de Versiones Distribuidos (DVCS).</a:t>
            </a:r>
          </a:p>
        </p:txBody>
      </p:sp>
    </p:spTree>
    <p:extLst>
      <p:ext uri="{BB962C8B-B14F-4D97-AF65-F5344CB8AC3E}">
        <p14:creationId xmlns:p14="http://schemas.microsoft.com/office/powerpoint/2010/main" val="28960024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10</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dirty="0">
                <a:ea typeface="Vita Std ExLt" pitchFamily="2" charset="77"/>
                <a:cs typeface="Verdana" panose="020B0604030504040204" pitchFamily="34" charset="0"/>
              </a:rPr>
              <a:t>Sistemas de Control de Versiones Locales</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51367" y="498713"/>
            <a:ext cx="476987" cy="476987"/>
          </a:xfrm>
          <a:prstGeom prst="rect">
            <a:avLst/>
          </a:prstGeom>
        </p:spPr>
      </p:pic>
      <p:pic>
        <p:nvPicPr>
          <p:cNvPr id="2" name="Imagen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35347" y="2439645"/>
            <a:ext cx="2519866" cy="2151336"/>
          </a:xfrm>
          <a:prstGeom prst="rect">
            <a:avLst/>
          </a:prstGeom>
        </p:spPr>
      </p:pic>
      <p:pic>
        <p:nvPicPr>
          <p:cNvPr id="6" name="Imagen 5"/>
          <p:cNvPicPr>
            <a:picLocks noChangeAspect="1"/>
          </p:cNvPicPr>
          <p:nvPr/>
        </p:nvPicPr>
        <p:blipFill>
          <a:blip r:embed="rId6"/>
          <a:stretch>
            <a:fillRect/>
          </a:stretch>
        </p:blipFill>
        <p:spPr>
          <a:xfrm>
            <a:off x="506198" y="3435378"/>
            <a:ext cx="1776551" cy="936511"/>
          </a:xfrm>
          <a:prstGeom prst="rect">
            <a:avLst/>
          </a:prstGeom>
          <a:ln w="12700">
            <a:solidFill>
              <a:schemeClr val="tx1"/>
            </a:solidFill>
          </a:ln>
        </p:spPr>
      </p:pic>
      <p:pic>
        <p:nvPicPr>
          <p:cNvPr id="12" name="Imagen 11"/>
          <p:cNvPicPr>
            <a:picLocks noChangeAspect="1"/>
          </p:cNvPicPr>
          <p:nvPr/>
        </p:nvPicPr>
        <p:blipFill rotWithShape="1">
          <a:blip r:embed="rId7"/>
          <a:srcRect l="1" r="2121"/>
          <a:stretch/>
        </p:blipFill>
        <p:spPr>
          <a:xfrm>
            <a:off x="2467921" y="3515313"/>
            <a:ext cx="2291918" cy="776641"/>
          </a:xfrm>
          <a:prstGeom prst="rect">
            <a:avLst/>
          </a:prstGeom>
          <a:ln w="12700">
            <a:solidFill>
              <a:schemeClr val="tx1"/>
            </a:solidFill>
          </a:ln>
        </p:spPr>
      </p:pic>
      <p:sp>
        <p:nvSpPr>
          <p:cNvPr id="4" name="Rectángulo 3"/>
          <p:cNvSpPr/>
          <p:nvPr/>
        </p:nvSpPr>
        <p:spPr>
          <a:xfrm>
            <a:off x="325592" y="1228307"/>
            <a:ext cx="5003153" cy="2062103"/>
          </a:xfrm>
          <a:prstGeom prst="rect">
            <a:avLst/>
          </a:prstGeom>
        </p:spPr>
        <p:txBody>
          <a:bodyPr wrap="square">
            <a:spAutoFit/>
          </a:bodyPr>
          <a:lstStyle/>
          <a:p>
            <a:pPr algn="just"/>
            <a:r>
              <a:rPr lang="es-MX" sz="1600" dirty="0"/>
              <a:t>Para afrontar este problema los programadores desarrollaron hace tiempo VCS locales que contenían una simple base de datos, en la que se llevaba el registro de todos los cambios realizados a los archivos.</a:t>
            </a:r>
          </a:p>
          <a:p>
            <a:pPr algn="just"/>
            <a:endParaRPr lang="es-MX" sz="1600" dirty="0"/>
          </a:p>
          <a:p>
            <a:pPr marL="285750" indent="-285750" algn="just">
              <a:buFont typeface="Wingdings" panose="05000000000000000000" pitchFamily="2" charset="2"/>
              <a:buChar char="§"/>
            </a:pPr>
            <a:r>
              <a:rPr lang="es-MX" sz="1600" dirty="0"/>
              <a:t>RCS (</a:t>
            </a:r>
            <a:r>
              <a:rPr lang="es-MX" sz="1600" dirty="0" err="1"/>
              <a:t>Revision</a:t>
            </a:r>
            <a:r>
              <a:rPr lang="es-MX" sz="1600" dirty="0"/>
              <a:t> Control </a:t>
            </a:r>
            <a:r>
              <a:rPr lang="es-MX" sz="1600" dirty="0" err="1"/>
              <a:t>System</a:t>
            </a:r>
            <a:r>
              <a:rPr lang="es-MX" sz="1600" dirty="0"/>
              <a:t>)</a:t>
            </a:r>
          </a:p>
          <a:p>
            <a:pPr marL="285750" indent="-285750" algn="just">
              <a:buFont typeface="Wingdings" panose="05000000000000000000" pitchFamily="2" charset="2"/>
              <a:buChar char="§"/>
            </a:pPr>
            <a:r>
              <a:rPr lang="es-MX" sz="1600" dirty="0"/>
              <a:t>SCCS (</a:t>
            </a:r>
            <a:r>
              <a:rPr lang="es-MX" sz="1600" dirty="0" err="1"/>
              <a:t>Source</a:t>
            </a:r>
            <a:r>
              <a:rPr lang="es-MX" sz="1600" dirty="0"/>
              <a:t> </a:t>
            </a:r>
            <a:r>
              <a:rPr lang="es-MX" sz="1600" dirty="0" err="1"/>
              <a:t>Code</a:t>
            </a:r>
            <a:r>
              <a:rPr lang="es-MX" sz="1600" dirty="0"/>
              <a:t> Control </a:t>
            </a:r>
            <a:r>
              <a:rPr lang="es-MX" sz="1600" dirty="0" err="1"/>
              <a:t>System</a:t>
            </a:r>
            <a:r>
              <a:rPr lang="es-MX" sz="1600" dirty="0"/>
              <a:t>)</a:t>
            </a:r>
          </a:p>
        </p:txBody>
      </p:sp>
    </p:spTree>
    <p:extLst>
      <p:ext uri="{BB962C8B-B14F-4D97-AF65-F5344CB8AC3E}">
        <p14:creationId xmlns:p14="http://schemas.microsoft.com/office/powerpoint/2010/main" val="2840949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11</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7" y="498713"/>
            <a:ext cx="7180297"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000" dirty="0">
                <a:ea typeface="Vita Std ExLt" pitchFamily="2" charset="77"/>
                <a:cs typeface="Verdana" panose="020B0604030504040204" pitchFamily="34" charset="0"/>
              </a:rPr>
              <a:t>Sistemas de Control de Versiones Centralizados</a:t>
            </a:r>
          </a:p>
          <a:p>
            <a:endParaRPr lang="es-MX" sz="2400" dirty="0">
              <a:ea typeface="Vita Std ExLt" pitchFamily="2" charset="77"/>
              <a:cs typeface="Verdana" panose="020B0604030504040204" pitchFamily="34" charset="0"/>
            </a:endParaRP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51367" y="498713"/>
            <a:ext cx="476987" cy="476987"/>
          </a:xfrm>
          <a:prstGeom prst="rect">
            <a:avLst/>
          </a:prstGeom>
        </p:spPr>
      </p:pic>
      <p:pic>
        <p:nvPicPr>
          <p:cNvPr id="3" name="Imagen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41826" y="2633640"/>
            <a:ext cx="2734415" cy="1900419"/>
          </a:xfrm>
          <a:prstGeom prst="rect">
            <a:avLst/>
          </a:prstGeom>
        </p:spPr>
      </p:pic>
      <p:sp>
        <p:nvSpPr>
          <p:cNvPr id="2" name="Rectángulo 1"/>
          <p:cNvSpPr/>
          <p:nvPr/>
        </p:nvSpPr>
        <p:spPr>
          <a:xfrm>
            <a:off x="396108" y="1269113"/>
            <a:ext cx="5274487" cy="2800767"/>
          </a:xfrm>
          <a:prstGeom prst="rect">
            <a:avLst/>
          </a:prstGeom>
        </p:spPr>
        <p:txBody>
          <a:bodyPr wrap="square">
            <a:spAutoFit/>
          </a:bodyPr>
          <a:lstStyle/>
          <a:p>
            <a:pPr algn="just"/>
            <a:r>
              <a:rPr lang="es-MX" sz="1600" dirty="0"/>
              <a:t>El siguiente gran problema con el que se encuentran las personas es que necesitan colaborar con desarrolladores en otros sistemas. Los sistemas de Control de Versiones Centralizados (CVCS por sus siglas en inglés) fueron desarrollados para solucionar este problema.</a:t>
            </a:r>
          </a:p>
          <a:p>
            <a:pPr marL="285750" indent="-285750">
              <a:buFont typeface="Wingdings" panose="05000000000000000000" pitchFamily="2" charset="2"/>
              <a:buChar char="§"/>
            </a:pPr>
            <a:endParaRPr lang="es-MX" sz="1600" dirty="0"/>
          </a:p>
          <a:p>
            <a:pPr marL="285750" indent="-285750">
              <a:buFont typeface="Wingdings" panose="05000000000000000000" pitchFamily="2" charset="2"/>
              <a:buChar char="§"/>
            </a:pPr>
            <a:r>
              <a:rPr lang="es-MX" sz="1600" b="1" dirty="0"/>
              <a:t>SVN</a:t>
            </a:r>
            <a:r>
              <a:rPr lang="es-MX" sz="1600" dirty="0"/>
              <a:t> (Apache </a:t>
            </a:r>
            <a:r>
              <a:rPr lang="es-MX" sz="1600" dirty="0" err="1"/>
              <a:t>Subversion</a:t>
            </a:r>
            <a:r>
              <a:rPr lang="es-MX" sz="1600" dirty="0"/>
              <a:t>)</a:t>
            </a:r>
          </a:p>
          <a:p>
            <a:pPr marL="285750" indent="-285750">
              <a:buFont typeface="Wingdings" panose="05000000000000000000" pitchFamily="2" charset="2"/>
              <a:buChar char="§"/>
            </a:pPr>
            <a:r>
              <a:rPr lang="es-MX" sz="1600" b="1" dirty="0"/>
              <a:t>CVS</a:t>
            </a:r>
            <a:r>
              <a:rPr lang="es-MX" sz="1600" dirty="0"/>
              <a:t> (</a:t>
            </a:r>
            <a:r>
              <a:rPr lang="es-MX" sz="1600" dirty="0" err="1"/>
              <a:t>Concurrent</a:t>
            </a:r>
            <a:r>
              <a:rPr lang="es-MX" sz="1600" dirty="0"/>
              <a:t> </a:t>
            </a:r>
            <a:r>
              <a:rPr lang="es-MX" sz="1600" dirty="0" err="1"/>
              <a:t>Versions</a:t>
            </a:r>
            <a:r>
              <a:rPr lang="es-MX" sz="1600" dirty="0"/>
              <a:t> </a:t>
            </a:r>
            <a:r>
              <a:rPr lang="es-MX" sz="1600" dirty="0" err="1"/>
              <a:t>System</a:t>
            </a:r>
            <a:r>
              <a:rPr lang="es-MX" sz="1600" dirty="0"/>
              <a:t>)</a:t>
            </a:r>
          </a:p>
          <a:p>
            <a:pPr marL="285750" indent="-285750">
              <a:buFont typeface="Wingdings" panose="05000000000000000000" pitchFamily="2" charset="2"/>
              <a:buChar char="§"/>
            </a:pPr>
            <a:r>
              <a:rPr lang="es-MX" sz="1600" b="1" dirty="0" err="1"/>
              <a:t>Perforce</a:t>
            </a:r>
            <a:r>
              <a:rPr lang="es-MX" sz="1600" b="1" dirty="0"/>
              <a:t> </a:t>
            </a:r>
            <a:r>
              <a:rPr lang="es-MX" sz="1600" b="1" dirty="0" err="1"/>
              <a:t>Helix</a:t>
            </a:r>
            <a:r>
              <a:rPr lang="es-MX" sz="1600" b="1" dirty="0"/>
              <a:t> Core</a:t>
            </a:r>
          </a:p>
          <a:p>
            <a:pPr marL="285750" indent="-285750">
              <a:buFont typeface="Wingdings" panose="05000000000000000000" pitchFamily="2" charset="2"/>
              <a:buChar char="§"/>
            </a:pPr>
            <a:r>
              <a:rPr lang="es-MX" sz="1600" b="1" dirty="0"/>
              <a:t>IBM </a:t>
            </a:r>
            <a:r>
              <a:rPr lang="es-MX" sz="1600" b="1" dirty="0" err="1"/>
              <a:t>Rational</a:t>
            </a:r>
            <a:r>
              <a:rPr lang="es-MX" sz="1600" b="1" dirty="0"/>
              <a:t> </a:t>
            </a:r>
            <a:r>
              <a:rPr lang="es-MX" sz="1600" b="1" dirty="0" err="1"/>
              <a:t>ClearCase</a:t>
            </a:r>
            <a:endParaRPr lang="es-MX" sz="1600" b="1" dirty="0"/>
          </a:p>
        </p:txBody>
      </p:sp>
    </p:spTree>
    <p:extLst>
      <p:ext uri="{BB962C8B-B14F-4D97-AF65-F5344CB8AC3E}">
        <p14:creationId xmlns:p14="http://schemas.microsoft.com/office/powerpoint/2010/main" val="15712262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12</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000" dirty="0">
                <a:ea typeface="Vita Std ExLt" pitchFamily="2" charset="77"/>
                <a:cs typeface="Verdana" panose="020B0604030504040204" pitchFamily="34" charset="0"/>
              </a:rPr>
              <a:t>Sistemas de Control de Versiones Centralizados</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51367" y="498713"/>
            <a:ext cx="476987" cy="476987"/>
          </a:xfrm>
          <a:prstGeom prst="rect">
            <a:avLst/>
          </a:prstGeom>
        </p:spPr>
      </p:pic>
      <p:pic>
        <p:nvPicPr>
          <p:cNvPr id="3" name="Imagen 2"/>
          <p:cNvPicPr>
            <a:picLocks noChangeAspect="1"/>
          </p:cNvPicPr>
          <p:nvPr/>
        </p:nvPicPr>
        <p:blipFill>
          <a:blip r:embed="rId5"/>
          <a:stretch>
            <a:fillRect/>
          </a:stretch>
        </p:blipFill>
        <p:spPr>
          <a:xfrm>
            <a:off x="1015055" y="1369598"/>
            <a:ext cx="1920546" cy="1657413"/>
          </a:xfrm>
          <a:prstGeom prst="rect">
            <a:avLst/>
          </a:prstGeom>
          <a:ln w="12700">
            <a:solidFill>
              <a:schemeClr val="tx1"/>
            </a:solidFill>
          </a:ln>
        </p:spPr>
      </p:pic>
      <p:pic>
        <p:nvPicPr>
          <p:cNvPr id="4" name="Imagen 3"/>
          <p:cNvPicPr>
            <a:picLocks noChangeAspect="1"/>
          </p:cNvPicPr>
          <p:nvPr/>
        </p:nvPicPr>
        <p:blipFill rotWithShape="1">
          <a:blip r:embed="rId6"/>
          <a:srcRect l="18687" r="4739" b="8393"/>
          <a:stretch/>
        </p:blipFill>
        <p:spPr>
          <a:xfrm>
            <a:off x="3320504" y="1393887"/>
            <a:ext cx="1664339" cy="1727439"/>
          </a:xfrm>
          <a:prstGeom prst="rect">
            <a:avLst/>
          </a:prstGeom>
          <a:ln w="12700">
            <a:solidFill>
              <a:schemeClr val="tx1"/>
            </a:solidFill>
          </a:ln>
        </p:spPr>
      </p:pic>
      <p:pic>
        <p:nvPicPr>
          <p:cNvPr id="6" name="Imagen 5"/>
          <p:cNvPicPr>
            <a:picLocks noChangeAspect="1"/>
          </p:cNvPicPr>
          <p:nvPr/>
        </p:nvPicPr>
        <p:blipFill rotWithShape="1">
          <a:blip r:embed="rId7"/>
          <a:srcRect t="363"/>
          <a:stretch/>
        </p:blipFill>
        <p:spPr>
          <a:xfrm>
            <a:off x="2173677" y="3354992"/>
            <a:ext cx="3420092" cy="941522"/>
          </a:xfrm>
          <a:prstGeom prst="rect">
            <a:avLst/>
          </a:prstGeom>
          <a:ln w="12700">
            <a:solidFill>
              <a:schemeClr val="tx1"/>
            </a:solidFill>
          </a:ln>
        </p:spPr>
      </p:pic>
      <p:pic>
        <p:nvPicPr>
          <p:cNvPr id="12" name="Imagen 11"/>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69746" y="1393887"/>
            <a:ext cx="1675438" cy="1664250"/>
          </a:xfrm>
          <a:prstGeom prst="rect">
            <a:avLst/>
          </a:prstGeom>
          <a:ln w="12700">
            <a:solidFill>
              <a:schemeClr val="tx1"/>
            </a:solidFill>
          </a:ln>
        </p:spPr>
      </p:pic>
    </p:spTree>
    <p:extLst>
      <p:ext uri="{BB962C8B-B14F-4D97-AF65-F5344CB8AC3E}">
        <p14:creationId xmlns:p14="http://schemas.microsoft.com/office/powerpoint/2010/main" val="17711217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13</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000" dirty="0">
                <a:ea typeface="Vita Std ExLt" pitchFamily="2" charset="77"/>
                <a:cs typeface="Verdana" panose="020B0604030504040204" pitchFamily="34" charset="0"/>
              </a:rPr>
              <a:t>Sistemas de Control de Versiones Distribuidos</a:t>
            </a:r>
          </a:p>
          <a:p>
            <a:endParaRPr lang="es-MX" sz="2400" dirty="0">
              <a:ea typeface="Vita Std ExLt" pitchFamily="2" charset="77"/>
              <a:cs typeface="Verdana" panose="020B0604030504040204" pitchFamily="34" charset="0"/>
            </a:endParaRP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51367" y="498713"/>
            <a:ext cx="476987" cy="476987"/>
          </a:xfrm>
          <a:prstGeom prst="rect">
            <a:avLst/>
          </a:prstGeom>
        </p:spPr>
      </p:pic>
      <p:pic>
        <p:nvPicPr>
          <p:cNvPr id="2" name="Imagen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03417" y="959740"/>
            <a:ext cx="3169358" cy="3795639"/>
          </a:xfrm>
          <a:prstGeom prst="rect">
            <a:avLst/>
          </a:prstGeom>
        </p:spPr>
      </p:pic>
      <p:sp>
        <p:nvSpPr>
          <p:cNvPr id="3" name="Rectángulo 2"/>
          <p:cNvSpPr/>
          <p:nvPr/>
        </p:nvSpPr>
        <p:spPr>
          <a:xfrm>
            <a:off x="319053" y="1269113"/>
            <a:ext cx="5397592" cy="2246769"/>
          </a:xfrm>
          <a:prstGeom prst="rect">
            <a:avLst/>
          </a:prstGeom>
        </p:spPr>
        <p:txBody>
          <a:bodyPr wrap="square">
            <a:spAutoFit/>
          </a:bodyPr>
          <a:lstStyle/>
          <a:p>
            <a:pPr algn="just"/>
            <a:r>
              <a:rPr lang="es-MX" sz="1400" dirty="0"/>
              <a:t>Los sistemas de Control de Versiones Distribuidos (DVCS por sus siglas en inglés) ofrecen soluciones para los problemas que han sido mencionados. En un DVCS, los clientes no solo descargan la última copia instantánea de los archivos, sino que se replica completamente el repositorio. </a:t>
            </a:r>
          </a:p>
          <a:p>
            <a:endParaRPr lang="es-MX" sz="1400" dirty="0"/>
          </a:p>
          <a:p>
            <a:pPr marL="285750" indent="-285750">
              <a:buFont typeface="Wingdings" panose="05000000000000000000" pitchFamily="2" charset="2"/>
              <a:buChar char="§"/>
            </a:pPr>
            <a:r>
              <a:rPr lang="es-MX" sz="1400" b="1" dirty="0"/>
              <a:t>GIT </a:t>
            </a:r>
          </a:p>
          <a:p>
            <a:pPr marL="285750" indent="-285750">
              <a:buFont typeface="Wingdings" panose="05000000000000000000" pitchFamily="2" charset="2"/>
              <a:buChar char="§"/>
            </a:pPr>
            <a:r>
              <a:rPr lang="es-MX" sz="1400" b="1" dirty="0"/>
              <a:t>Mercurial</a:t>
            </a:r>
          </a:p>
          <a:p>
            <a:pPr marL="285750" indent="-285750">
              <a:buFont typeface="Wingdings" panose="05000000000000000000" pitchFamily="2" charset="2"/>
              <a:buChar char="§"/>
            </a:pPr>
            <a:r>
              <a:rPr lang="es-MX" sz="1400" b="1" dirty="0" err="1"/>
              <a:t>Bazaar</a:t>
            </a:r>
            <a:r>
              <a:rPr lang="es-MX" sz="1400" b="1" dirty="0"/>
              <a:t> (</a:t>
            </a:r>
            <a:r>
              <a:rPr lang="es-MX" sz="1400" b="1" dirty="0" err="1"/>
              <a:t>Bzr</a:t>
            </a:r>
            <a:r>
              <a:rPr lang="es-MX" sz="1400" b="1" dirty="0"/>
              <a:t>)</a:t>
            </a:r>
          </a:p>
          <a:p>
            <a:pPr marL="285750" indent="-285750">
              <a:buFont typeface="Wingdings" panose="05000000000000000000" pitchFamily="2" charset="2"/>
              <a:buChar char="§"/>
            </a:pPr>
            <a:r>
              <a:rPr lang="es-MX" sz="1400" b="1" dirty="0"/>
              <a:t>Apache </a:t>
            </a:r>
            <a:r>
              <a:rPr lang="es-MX" sz="1400" b="1" dirty="0" err="1"/>
              <a:t>Allura</a:t>
            </a:r>
            <a:r>
              <a:rPr lang="es-MX" sz="1400" dirty="0"/>
              <a:t> (incluye soporte distribuido)</a:t>
            </a:r>
          </a:p>
        </p:txBody>
      </p:sp>
    </p:spTree>
    <p:extLst>
      <p:ext uri="{BB962C8B-B14F-4D97-AF65-F5344CB8AC3E}">
        <p14:creationId xmlns:p14="http://schemas.microsoft.com/office/powerpoint/2010/main" val="3637502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14</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000" dirty="0">
                <a:ea typeface="Vita Std ExLt" pitchFamily="2" charset="77"/>
                <a:cs typeface="Verdana" panose="020B0604030504040204" pitchFamily="34" charset="0"/>
              </a:rPr>
              <a:t>Sistemas de Control de Versiones Distribuidos</a:t>
            </a:r>
          </a:p>
          <a:p>
            <a:endParaRPr lang="es-MX" sz="2400" dirty="0">
              <a:ea typeface="Vita Std ExLt" pitchFamily="2" charset="77"/>
              <a:cs typeface="Verdana" panose="020B0604030504040204" pitchFamily="34" charset="0"/>
            </a:endParaRP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51367" y="498713"/>
            <a:ext cx="476987" cy="476987"/>
          </a:xfrm>
          <a:prstGeom prst="rect">
            <a:avLst/>
          </a:prstGeom>
        </p:spPr>
      </p:pic>
      <p:pic>
        <p:nvPicPr>
          <p:cNvPr id="3" name="Imagen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9860" y="1415277"/>
            <a:ext cx="1948713" cy="974356"/>
          </a:xfrm>
          <a:prstGeom prst="rect">
            <a:avLst/>
          </a:prstGeom>
          <a:ln w="12700">
            <a:solidFill>
              <a:schemeClr val="tx1"/>
            </a:solidFill>
          </a:ln>
        </p:spPr>
      </p:pic>
      <p:pic>
        <p:nvPicPr>
          <p:cNvPr id="6" name="Imagen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462433" y="1310088"/>
            <a:ext cx="1408243" cy="1408243"/>
          </a:xfrm>
          <a:prstGeom prst="rect">
            <a:avLst/>
          </a:prstGeom>
          <a:ln w="12700">
            <a:solidFill>
              <a:schemeClr val="tx1"/>
            </a:solidFill>
          </a:ln>
        </p:spPr>
      </p:pic>
      <p:pic>
        <p:nvPicPr>
          <p:cNvPr id="12" name="Imagen 11"/>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037804" y="2673001"/>
            <a:ext cx="1503269" cy="1440000"/>
          </a:xfrm>
          <a:prstGeom prst="rect">
            <a:avLst/>
          </a:prstGeom>
        </p:spPr>
      </p:pic>
      <p:pic>
        <p:nvPicPr>
          <p:cNvPr id="13" name="Imagen 12"/>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03003" y="3394464"/>
            <a:ext cx="2683843" cy="776078"/>
          </a:xfrm>
          <a:prstGeom prst="rect">
            <a:avLst/>
          </a:prstGeom>
        </p:spPr>
      </p:pic>
    </p:spTree>
    <p:extLst>
      <p:ext uri="{BB962C8B-B14F-4D97-AF65-F5344CB8AC3E}">
        <p14:creationId xmlns:p14="http://schemas.microsoft.com/office/powerpoint/2010/main" val="6502901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EE201105-72BE-A151-3986-11C39DBCCC84}"/>
              </a:ext>
            </a:extLst>
          </p:cNvPr>
          <p:cNvSpPr txBox="1"/>
          <p:nvPr/>
        </p:nvSpPr>
        <p:spPr>
          <a:xfrm>
            <a:off x="1690122" y="3279459"/>
            <a:ext cx="5716516" cy="615553"/>
          </a:xfrm>
          <a:prstGeom prst="rect">
            <a:avLst/>
          </a:prstGeom>
          <a:noFill/>
        </p:spPr>
        <p:txBody>
          <a:bodyPr wrap="square" lIns="91440" tIns="45720" rIns="91440" bIns="45720" rtlCol="0" anchor="t">
            <a:spAutoFit/>
          </a:bodyPr>
          <a:lstStyle/>
          <a:p>
            <a:pPr algn="ctr"/>
            <a:r>
              <a:rPr lang="es-MX" dirty="0">
                <a:latin typeface="+mj-lt"/>
                <a:ea typeface="Verdana" panose="020B0604030504040204" pitchFamily="34" charset="0"/>
                <a:hlinkClick r:id="rId2"/>
              </a:rPr>
              <a:t>https://git-scm.com/download/win</a:t>
            </a:r>
            <a:endParaRPr lang="es-MX">
              <a:solidFill>
                <a:srgbClr val="000000"/>
              </a:solidFill>
              <a:latin typeface="+mj-lt"/>
              <a:ea typeface="Verdana" panose="020B0604030504040204" pitchFamily="34" charset="0"/>
            </a:endParaRPr>
          </a:p>
          <a:p>
            <a:pPr algn="ctr"/>
            <a:endParaRPr lang="es-MX" sz="1600" dirty="0">
              <a:latin typeface="+mj-lt"/>
              <a:ea typeface="Verdana" panose="020B0604030504040204" pitchFamily="34" charset="0"/>
            </a:endParaRPr>
          </a:p>
        </p:txBody>
      </p:sp>
      <p:sp>
        <p:nvSpPr>
          <p:cNvPr id="6" name="Título 1">
            <a:extLst>
              <a:ext uri="{FF2B5EF4-FFF2-40B4-BE49-F238E27FC236}">
                <a16:creationId xmlns:a16="http://schemas.microsoft.com/office/drawing/2014/main" id="{E6941EEA-15FA-C4B3-9D36-FE213543036B}"/>
              </a:ext>
            </a:extLst>
          </p:cNvPr>
          <p:cNvSpPr txBox="1">
            <a:spLocks/>
          </p:cNvSpPr>
          <p:nvPr/>
        </p:nvSpPr>
        <p:spPr>
          <a:xfrm>
            <a:off x="1737359" y="2604517"/>
            <a:ext cx="5669279" cy="623943"/>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MX" sz="3200" dirty="0">
                <a:ea typeface="Vita Std ExLt" pitchFamily="2" charset="77"/>
                <a:cs typeface="Verdana" panose="020B0604030504040204" pitchFamily="34" charset="0"/>
              </a:rPr>
              <a:t>Instalación y Configuración</a:t>
            </a:r>
          </a:p>
          <a:p>
            <a:pPr algn="ctr"/>
            <a:endParaRPr lang="es-MX" sz="3200" dirty="0">
              <a:ea typeface="Vita Std ExLt" pitchFamily="2" charset="77"/>
              <a:cs typeface="Verdana" panose="020B0604030504040204" pitchFamily="34" charset="0"/>
            </a:endParaRPr>
          </a:p>
        </p:txBody>
      </p:sp>
      <p:sp>
        <p:nvSpPr>
          <p:cNvPr id="7" name="Slide Number Placeholder 5">
            <a:extLst>
              <a:ext uri="{FF2B5EF4-FFF2-40B4-BE49-F238E27FC236}">
                <a16:creationId xmlns:a16="http://schemas.microsoft.com/office/drawing/2014/main" id="{E7815C07-AAB5-C869-E3C6-13CE45631BCA}"/>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15</a:t>
            </a:fld>
            <a:endParaRPr lang="es-MX" sz="700">
              <a:solidFill>
                <a:schemeClr val="tx1"/>
              </a:solidFill>
              <a:latin typeface="+mn-lt"/>
            </a:endParaRPr>
          </a:p>
        </p:txBody>
      </p:sp>
      <p:sp>
        <p:nvSpPr>
          <p:cNvPr id="8" name="Date Placeholder 3">
            <a:extLst>
              <a:ext uri="{FF2B5EF4-FFF2-40B4-BE49-F238E27FC236}">
                <a16:creationId xmlns:a16="http://schemas.microsoft.com/office/drawing/2014/main" id="{C0B241D6-8F7F-7292-3735-3E384A859C15}"/>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2" name="Footer Placeholder 4">
            <a:extLst>
              <a:ext uri="{FF2B5EF4-FFF2-40B4-BE49-F238E27FC236}">
                <a16:creationId xmlns:a16="http://schemas.microsoft.com/office/drawing/2014/main" id="{28187D42-2A45-2872-FDF8-944D161C9D28}"/>
              </a:ext>
            </a:extLst>
          </p:cNvPr>
          <p:cNvSpPr txBox="1">
            <a:spLocks/>
          </p:cNvSpPr>
          <p:nvPr/>
        </p:nvSpPr>
        <p:spPr>
          <a:xfrm>
            <a:off x="6920366" y="4620137"/>
            <a:ext cx="1426439"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90000"/>
                    <a:lumOff val="10000"/>
                  </a:schemeClr>
                </a:solidFill>
              </a:rPr>
              <a:t>[GIT]</a:t>
            </a:r>
          </a:p>
        </p:txBody>
      </p:sp>
      <p:cxnSp>
        <p:nvCxnSpPr>
          <p:cNvPr id="12" name="Straight Connector 44">
            <a:extLst>
              <a:ext uri="{FF2B5EF4-FFF2-40B4-BE49-F238E27FC236}">
                <a16:creationId xmlns:a16="http://schemas.microsoft.com/office/drawing/2014/main" id="{5C4431AE-11DB-4648-8D81-7A681BFAAAAA}"/>
              </a:ext>
            </a:extLst>
          </p:cNvPr>
          <p:cNvCxnSpPr>
            <a:cxnSpLocks/>
          </p:cNvCxnSpPr>
          <p:nvPr/>
        </p:nvCxnSpPr>
        <p:spPr>
          <a:xfrm flipH="1">
            <a:off x="1785879" y="3163348"/>
            <a:ext cx="5572237" cy="6436"/>
          </a:xfrm>
          <a:prstGeom prst="line">
            <a:avLst/>
          </a:prstGeom>
          <a:ln w="28575"/>
        </p:spPr>
        <p:style>
          <a:lnRef idx="1">
            <a:schemeClr val="accent2"/>
          </a:lnRef>
          <a:fillRef idx="0">
            <a:schemeClr val="accent2"/>
          </a:fillRef>
          <a:effectRef idx="0">
            <a:schemeClr val="accent2"/>
          </a:effectRef>
          <a:fontRef idx="minor">
            <a:schemeClr val="tx1"/>
          </a:fontRef>
        </p:style>
      </p:cxnSp>
      <p:grpSp>
        <p:nvGrpSpPr>
          <p:cNvPr id="13" name="Grupo 12"/>
          <p:cNvGrpSpPr/>
          <p:nvPr/>
        </p:nvGrpSpPr>
        <p:grpSpPr>
          <a:xfrm>
            <a:off x="2830497" y="1025689"/>
            <a:ext cx="3434446" cy="1013620"/>
            <a:chOff x="2356851" y="834915"/>
            <a:chExt cx="2840098" cy="838208"/>
          </a:xfrm>
        </p:grpSpPr>
        <p:pic>
          <p:nvPicPr>
            <p:cNvPr id="4" name="Imagen 3"/>
            <p:cNvPicPr>
              <a:picLocks noChangeAspect="1"/>
            </p:cNvPicPr>
            <p:nvPr/>
          </p:nvPicPr>
          <p:blipFill>
            <a:blip r:embed="rId3">
              <a:extLst>
                <a:ext uri="{BEBA8EAE-BF5A-486C-A8C5-ECC9F3942E4B}">
                  <a14:imgProps xmlns:a14="http://schemas.microsoft.com/office/drawing/2010/main">
                    <a14:imgLayer r:embed="rId4">
                      <a14:imgEffect>
                        <a14:backgroundRemoval t="0" b="100000" l="0" r="100000">
                          <a14:foregroundMark x1="53587" y1="35217" x2="53587" y2="35217"/>
                          <a14:foregroundMark x1="95543" y1="14239" x2="95543" y2="14239"/>
                          <a14:foregroundMark x1="24022" y1="13152" x2="24022" y2="13152"/>
                          <a14:foregroundMark x1="9457" y1="77391" x2="9457" y2="77391"/>
                          <a14:foregroundMark x1="86630" y1="93913" x2="86630" y2="93913"/>
                          <a14:foregroundMark x1="50870" y1="72609" x2="50870" y2="72609"/>
                          <a14:foregroundMark x1="72065" y1="47283" x2="72065" y2="47283"/>
                          <a14:foregroundMark x1="37391" y1="17065" x2="37391" y2="17065"/>
                          <a14:foregroundMark x1="5652" y1="17391" x2="5652" y2="17391"/>
                          <a14:foregroundMark x1="9783" y1="9239" x2="9783" y2="9239"/>
                          <a14:foregroundMark x1="31848" y1="4783" x2="31848" y2="4783"/>
                          <a14:foregroundMark x1="19891" y1="5109" x2="19891" y2="5109"/>
                          <a14:foregroundMark x1="72065" y1="8152" x2="72065" y2="8152"/>
                          <a14:foregroundMark x1="86848" y1="4783" x2="86848" y2="4783"/>
                          <a14:foregroundMark x1="91848" y1="24565" x2="91848" y2="24565"/>
                          <a14:foregroundMark x1="72065" y1="16196" x2="72065" y2="16196"/>
                          <a14:foregroundMark x1="87174" y1="23261" x2="87174" y2="23261"/>
                          <a14:foregroundMark x1="95000" y1="67609" x2="95000" y2="67609"/>
                          <a14:foregroundMark x1="67065" y1="94130" x2="67065" y2="94130"/>
                          <a14:foregroundMark x1="94674" y1="79674" x2="94674" y2="79674"/>
                          <a14:foregroundMark x1="50000" y1="53370" x2="50000" y2="53370"/>
                          <a14:foregroundMark x1="63370" y1="40761" x2="63370" y2="40761"/>
                          <a14:foregroundMark x1="48587" y1="27935" x2="48587" y2="27935"/>
                          <a14:foregroundMark x1="44674" y1="32174" x2="44674" y2="32174"/>
                          <a14:foregroundMark x1="53587" y1="27935" x2="53587" y2="27935"/>
                          <a14:foregroundMark x1="25435" y1="84130" x2="25435" y2="84130"/>
                          <a14:foregroundMark x1="40543" y1="95217" x2="40543" y2="95217"/>
                          <a14:foregroundMark x1="18152" y1="95870" x2="18152" y2="95870"/>
                          <a14:foregroundMark x1="8370" y1="90761" x2="8370" y2="90761"/>
                          <a14:foregroundMark x1="3696" y1="68152" x2="3696" y2="68152"/>
                        </a14:backgroundRemoval>
                      </a14:imgEffect>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2356851" y="834916"/>
              <a:ext cx="833686" cy="833686"/>
            </a:xfrm>
            <a:prstGeom prst="rect">
              <a:avLst/>
            </a:prstGeom>
          </p:spPr>
        </p:pic>
        <p:pic>
          <p:nvPicPr>
            <p:cNvPr id="10" name="Imagen 9"/>
            <p:cNvPicPr>
              <a:picLocks noChangeAspect="1"/>
            </p:cNvPicPr>
            <p:nvPr/>
          </p:nvPicPr>
          <p:blipFill rotWithShape="1">
            <a:blip r:embed="rId5">
              <a:extLst>
                <a:ext uri="{BEBA8EAE-BF5A-486C-A8C5-ECC9F3942E4B}">
                  <a14:imgProps xmlns:a14="http://schemas.microsoft.com/office/drawing/2010/main">
                    <a14:imgLayer r:embed="rId6">
                      <a14:imgEffect>
                        <a14:backgroundRemoval t="7778" b="90000" l="10000" r="90000"/>
                      </a14:imgEffect>
                    </a14:imgLayer>
                  </a14:imgProps>
                </a:ext>
                <a:ext uri="{28A0092B-C50C-407E-A947-70E740481C1C}">
                  <a14:useLocalDpi xmlns:a14="http://schemas.microsoft.com/office/drawing/2010/main" val="0"/>
                </a:ext>
              </a:extLst>
            </a:blip>
            <a:srcRect l="25751" t="6251" r="25981" b="8568"/>
            <a:stretch/>
          </p:blipFill>
          <p:spPr>
            <a:xfrm>
              <a:off x="3348416" y="834915"/>
              <a:ext cx="791641" cy="838208"/>
            </a:xfrm>
            <a:prstGeom prst="rect">
              <a:avLst/>
            </a:prstGeom>
          </p:spPr>
        </p:pic>
        <p:pic>
          <p:nvPicPr>
            <p:cNvPr id="11" name="Imagen 10"/>
            <p:cNvPicPr>
              <a:picLocks noChangeAspect="1"/>
            </p:cNvPicPr>
            <p:nvPr/>
          </p:nvPicPr>
          <p:blipFill>
            <a:blip r:embed="rId7">
              <a:extLst>
                <a:ext uri="{BEBA8EAE-BF5A-486C-A8C5-ECC9F3942E4B}">
                  <a14:imgProps xmlns:a14="http://schemas.microsoft.com/office/drawing/2010/main">
                    <a14:imgLayer r:embed="rId8">
                      <a14:imgEffect>
                        <a14:backgroundRemoval t="0" b="100000" l="0" r="100000">
                          <a14:foregroundMark x1="28913" y1="46196" x2="28913" y2="46196"/>
                          <a14:foregroundMark x1="30217" y1="51196" x2="30217" y2="51196"/>
                          <a14:foregroundMark x1="35000" y1="51957" x2="35000" y2="51957"/>
                          <a14:foregroundMark x1="32826" y1="48043" x2="32826" y2="48043"/>
                          <a14:foregroundMark x1="36739" y1="59239" x2="36739" y2="59239"/>
                          <a14:foregroundMark x1="32826" y1="57283" x2="32826" y2="57283"/>
                          <a14:foregroundMark x1="43043" y1="29239" x2="43043" y2="29239"/>
                          <a14:foregroundMark x1="46848" y1="29783" x2="46848" y2="29783"/>
                          <a14:foregroundMark x1="52826" y1="29674" x2="52826" y2="29674"/>
                          <a14:foregroundMark x1="56522" y1="32717" x2="56522" y2="32717"/>
                          <a14:foregroundMark x1="59348" y1="35978" x2="59348" y2="35978"/>
                          <a14:foregroundMark x1="60761" y1="40326" x2="60761" y2="40326"/>
                          <a14:foregroundMark x1="60761" y1="46630" x2="60761" y2="46630"/>
                          <a14:foregroundMark x1="60978" y1="52065" x2="60978" y2="52065"/>
                          <a14:foregroundMark x1="38152" y1="54565" x2="38152" y2="54565"/>
                          <a14:foregroundMark x1="41196" y1="54348" x2="41196" y2="54348"/>
                          <a14:foregroundMark x1="44783" y1="52826" x2="44783" y2="52826"/>
                          <a14:foregroundMark x1="49891" y1="49457" x2="49891" y2="49457"/>
                          <a14:foregroundMark x1="90435" y1="98370" x2="90435" y2="98370"/>
                          <a14:foregroundMark x1="98478" y1="94239" x2="98478" y2="94239"/>
                          <a14:foregroundMark x1="98804" y1="89783" x2="98804" y2="89783"/>
                          <a14:foregroundMark x1="95761" y1="87609" x2="95761" y2="87609"/>
                          <a14:foregroundMark x1="93478" y1="84891" x2="93478" y2="84891"/>
                          <a14:foregroundMark x1="97935" y1="89783" x2="97935" y2="89783"/>
                        </a14:backgroundRemoval>
                      </a14:imgEffect>
                    </a14:imgLayer>
                  </a14:imgProps>
                </a:ext>
                <a:ext uri="{28A0092B-C50C-407E-A947-70E740481C1C}">
                  <a14:useLocalDpi xmlns:a14="http://schemas.microsoft.com/office/drawing/2010/main" val="0"/>
                </a:ext>
              </a:extLst>
            </a:blip>
            <a:stretch>
              <a:fillRect/>
            </a:stretch>
          </p:blipFill>
          <p:spPr>
            <a:xfrm>
              <a:off x="4367686" y="834915"/>
              <a:ext cx="829263" cy="829263"/>
            </a:xfrm>
            <a:prstGeom prst="rect">
              <a:avLst/>
            </a:prstGeom>
          </p:spPr>
        </p:pic>
      </p:grpSp>
    </p:spTree>
    <p:extLst>
      <p:ext uri="{BB962C8B-B14F-4D97-AF65-F5344CB8AC3E}">
        <p14:creationId xmlns:p14="http://schemas.microsoft.com/office/powerpoint/2010/main" val="306032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16</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000" dirty="0">
                <a:ea typeface="Vita Std ExLt" pitchFamily="2" charset="77"/>
                <a:cs typeface="Verdana" panose="020B0604030504040204" pitchFamily="34" charset="0"/>
              </a:rPr>
              <a:t>Comprobación de sistema.</a:t>
            </a:r>
          </a:p>
          <a:p>
            <a:endParaRPr lang="es-MX" sz="2400" dirty="0">
              <a:ea typeface="Vita Std ExLt" pitchFamily="2" charset="77"/>
              <a:cs typeface="Verdana" panose="020B0604030504040204" pitchFamily="34" charset="0"/>
            </a:endParaRP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sp>
        <p:nvSpPr>
          <p:cNvPr id="14" name="TextBox 8"/>
          <p:cNvSpPr txBox="1"/>
          <p:nvPr/>
        </p:nvSpPr>
        <p:spPr>
          <a:xfrm>
            <a:off x="396109" y="1269113"/>
            <a:ext cx="5806585" cy="1754326"/>
          </a:xfrm>
          <a:prstGeom prst="rect">
            <a:avLst/>
          </a:prstGeom>
          <a:noFill/>
        </p:spPr>
        <p:txBody>
          <a:bodyPr wrap="square" lIns="0" rtlCol="0">
            <a:spAutoFit/>
          </a:bodyPr>
          <a:lstStyle/>
          <a:p>
            <a:pPr algn="just">
              <a:buClr>
                <a:srgbClr val="FF832A"/>
              </a:buClr>
            </a:pPr>
            <a:r>
              <a:rPr lang="es-MX" sz="1400" dirty="0">
                <a:solidFill>
                  <a:srgbClr val="3C1053"/>
                </a:solidFill>
                <a:ea typeface="Verdana" panose="020B0604030504040204" pitchFamily="34" charset="0"/>
              </a:rPr>
              <a:t>Validar si no hay una versión actual del GIT.</a:t>
            </a:r>
          </a:p>
          <a:p>
            <a:pPr marL="285750" indent="-285750" algn="just">
              <a:buClr>
                <a:srgbClr val="FF832A"/>
              </a:buClr>
              <a:buFont typeface="Wingdings" panose="05000000000000000000" pitchFamily="2" charset="2"/>
              <a:buChar char="§"/>
            </a:pPr>
            <a:endParaRPr lang="es-MX" sz="1400" b="1" dirty="0">
              <a:solidFill>
                <a:srgbClr val="3C1053"/>
              </a:solidFill>
              <a:ea typeface="Verdana" panose="020B0604030504040204" pitchFamily="34" charset="0"/>
            </a:endParaRPr>
          </a:p>
          <a:p>
            <a:pPr marL="285750" indent="-285750" algn="just">
              <a:buClr>
                <a:srgbClr val="FF832A"/>
              </a:buClr>
              <a:buFont typeface="Wingdings" panose="05000000000000000000" pitchFamily="2" charset="2"/>
              <a:buChar char="§"/>
            </a:pPr>
            <a:r>
              <a:rPr lang="es-MX" sz="1600" dirty="0" err="1">
                <a:solidFill>
                  <a:srgbClr val="3C1053"/>
                </a:solidFill>
                <a:latin typeface="+mj-lt"/>
                <a:ea typeface="Verdana" panose="020B0604030504040204" pitchFamily="34" charset="0"/>
              </a:rPr>
              <a:t>git</a:t>
            </a:r>
            <a:r>
              <a:rPr lang="es-MX" sz="1600" dirty="0">
                <a:solidFill>
                  <a:srgbClr val="3C1053"/>
                </a:solidFill>
                <a:latin typeface="+mj-lt"/>
                <a:ea typeface="Verdana" panose="020B0604030504040204" pitchFamily="34" charset="0"/>
              </a:rPr>
              <a:t> versión</a:t>
            </a:r>
          </a:p>
          <a:p>
            <a:pPr marL="285750" indent="-285750" algn="just">
              <a:buClr>
                <a:srgbClr val="FF832A"/>
              </a:buClr>
              <a:buFont typeface="Wingdings" panose="05000000000000000000" pitchFamily="2" charset="2"/>
              <a:buChar char="§"/>
            </a:pPr>
            <a:r>
              <a:rPr lang="es-MX" sz="1600" dirty="0" err="1">
                <a:solidFill>
                  <a:srgbClr val="3C1053"/>
                </a:solidFill>
                <a:ea typeface="Verdana" panose="020B0604030504040204" pitchFamily="34" charset="0"/>
              </a:rPr>
              <a:t>git</a:t>
            </a:r>
            <a:r>
              <a:rPr lang="es-MX" sz="1600" dirty="0">
                <a:solidFill>
                  <a:srgbClr val="3C1053"/>
                </a:solidFill>
                <a:ea typeface="Verdana" panose="020B0604030504040204" pitchFamily="34" charset="0"/>
              </a:rPr>
              <a:t> --</a:t>
            </a:r>
            <a:r>
              <a:rPr lang="es-MX" sz="1600" dirty="0" err="1">
                <a:solidFill>
                  <a:srgbClr val="3C1053"/>
                </a:solidFill>
                <a:ea typeface="Verdana" panose="020B0604030504040204" pitchFamily="34" charset="0"/>
              </a:rPr>
              <a:t>version</a:t>
            </a:r>
            <a:endParaRPr lang="es-MX" sz="1600" dirty="0">
              <a:solidFill>
                <a:srgbClr val="3C1053"/>
              </a:solidFill>
              <a:ea typeface="Verdana" panose="020B0604030504040204" pitchFamily="34" charset="0"/>
            </a:endParaRPr>
          </a:p>
          <a:p>
            <a:pPr marL="285750" indent="-285750" algn="just">
              <a:buClr>
                <a:srgbClr val="FF832A"/>
              </a:buClr>
              <a:buFont typeface="Wingdings" panose="05000000000000000000" pitchFamily="2" charset="2"/>
              <a:buChar char="§"/>
            </a:pPr>
            <a:r>
              <a:rPr lang="es-MX" sz="1600" dirty="0" err="1">
                <a:solidFill>
                  <a:srgbClr val="3C1053"/>
                </a:solidFill>
                <a:ea typeface="Verdana" panose="020B0604030504040204" pitchFamily="34" charset="0"/>
              </a:rPr>
              <a:t>git</a:t>
            </a:r>
            <a:r>
              <a:rPr lang="es-MX" sz="1600" dirty="0">
                <a:solidFill>
                  <a:srgbClr val="3C1053"/>
                </a:solidFill>
                <a:ea typeface="Verdana" panose="020B0604030504040204" pitchFamily="34" charset="0"/>
              </a:rPr>
              <a:t> -v</a:t>
            </a:r>
          </a:p>
          <a:p>
            <a:pPr marL="285750" indent="-285750" algn="just">
              <a:buClr>
                <a:srgbClr val="FF832A"/>
              </a:buClr>
              <a:buFont typeface="Arial" panose="020B0604020202020204" pitchFamily="34" charset="0"/>
              <a:buChar char="•"/>
            </a:pPr>
            <a:endParaRPr lang="es-MX" sz="1600" dirty="0">
              <a:solidFill>
                <a:srgbClr val="3C1053"/>
              </a:solidFill>
              <a:latin typeface="+mj-lt"/>
              <a:ea typeface="Verdana" panose="020B0604030504040204" pitchFamily="34" charset="0"/>
            </a:endParaRPr>
          </a:p>
          <a:p>
            <a:pPr algn="just">
              <a:buClr>
                <a:srgbClr val="FF832A"/>
              </a:buClr>
            </a:pPr>
            <a:endParaRPr lang="es-MX" sz="1600" dirty="0">
              <a:solidFill>
                <a:srgbClr val="3C1053"/>
              </a:solidFill>
              <a:latin typeface="Verdana" panose="020B0604030504040204" pitchFamily="34" charset="0"/>
              <a:ea typeface="Verdana" panose="020B0604030504040204" pitchFamily="34" charset="0"/>
            </a:endParaRPr>
          </a:p>
        </p:txBody>
      </p:sp>
      <p:pic>
        <p:nvPicPr>
          <p:cNvPr id="4" name="Imagen 3"/>
          <p:cNvPicPr>
            <a:picLocks noChangeAspect="1"/>
          </p:cNvPicPr>
          <p:nvPr/>
        </p:nvPicPr>
        <p:blipFill>
          <a:blip r:embed="rId5"/>
          <a:stretch>
            <a:fillRect/>
          </a:stretch>
        </p:blipFill>
        <p:spPr>
          <a:xfrm>
            <a:off x="2091975" y="1869541"/>
            <a:ext cx="3958803" cy="2307795"/>
          </a:xfrm>
          <a:prstGeom prst="rect">
            <a:avLst/>
          </a:prstGeom>
        </p:spPr>
      </p:pic>
    </p:spTree>
    <p:extLst>
      <p:ext uri="{BB962C8B-B14F-4D97-AF65-F5344CB8AC3E}">
        <p14:creationId xmlns:p14="http://schemas.microsoft.com/office/powerpoint/2010/main" val="27197864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17</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dirty="0">
                <a:ea typeface="Vita Std ExLt" pitchFamily="2" charset="77"/>
                <a:cs typeface="Verdana" panose="020B0604030504040204" pitchFamily="34" charset="0"/>
              </a:rPr>
              <a:t>Configurando GIT (1/6)</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sp>
        <p:nvSpPr>
          <p:cNvPr id="3" name="Rectángulo 2"/>
          <p:cNvSpPr/>
          <p:nvPr/>
        </p:nvSpPr>
        <p:spPr>
          <a:xfrm>
            <a:off x="396109" y="1140589"/>
            <a:ext cx="6461891" cy="1815882"/>
          </a:xfrm>
          <a:prstGeom prst="rect">
            <a:avLst/>
          </a:prstGeom>
        </p:spPr>
        <p:txBody>
          <a:bodyPr wrap="square">
            <a:spAutoFit/>
          </a:bodyPr>
          <a:lstStyle/>
          <a:p>
            <a:r>
              <a:rPr lang="es-MX" sz="1400" dirty="0"/>
              <a:t>Ahora que tienes </a:t>
            </a:r>
            <a:r>
              <a:rPr lang="es-MX" sz="1400" dirty="0" err="1"/>
              <a:t>Git</a:t>
            </a:r>
            <a:r>
              <a:rPr lang="es-MX" sz="1400" dirty="0"/>
              <a:t> en tu sistema, vas a querer hacer algunas cosas para personalizar tu entorno de </a:t>
            </a:r>
            <a:r>
              <a:rPr lang="es-MX" sz="1400" dirty="0" err="1"/>
              <a:t>Git</a:t>
            </a:r>
            <a:r>
              <a:rPr lang="es-MX" sz="1400" dirty="0"/>
              <a:t>. Es necesario hacer estas cosas solamente una vez en tu computadora, y se mantendrán entre actualizaciones. </a:t>
            </a:r>
          </a:p>
          <a:p>
            <a:endParaRPr lang="es-MX" sz="1400" dirty="0"/>
          </a:p>
          <a:p>
            <a:r>
              <a:rPr lang="es-MX" sz="1400" dirty="0" err="1"/>
              <a:t>Git</a:t>
            </a:r>
            <a:r>
              <a:rPr lang="es-MX" sz="1400" dirty="0"/>
              <a:t> trae una herramienta llamada </a:t>
            </a:r>
            <a:r>
              <a:rPr lang="es-MX" sz="1400" dirty="0" err="1"/>
              <a:t>git</a:t>
            </a:r>
            <a:r>
              <a:rPr lang="es-MX" sz="1400" dirty="0"/>
              <a:t> </a:t>
            </a:r>
            <a:r>
              <a:rPr lang="es-MX" sz="1400" dirty="0" err="1"/>
              <a:t>config</a:t>
            </a:r>
            <a:r>
              <a:rPr lang="es-MX" sz="1400" dirty="0"/>
              <a:t>, que te permite obtener y establecer variables de configuración que controlan el aspecto y funcionamiento de GIT.</a:t>
            </a:r>
          </a:p>
        </p:txBody>
      </p:sp>
      <p:pic>
        <p:nvPicPr>
          <p:cNvPr id="2" name="Imagen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963167" y="2885660"/>
            <a:ext cx="2781300" cy="1647825"/>
          </a:xfrm>
          <a:prstGeom prst="rect">
            <a:avLst/>
          </a:prstGeom>
        </p:spPr>
      </p:pic>
    </p:spTree>
    <p:extLst>
      <p:ext uri="{BB962C8B-B14F-4D97-AF65-F5344CB8AC3E}">
        <p14:creationId xmlns:p14="http://schemas.microsoft.com/office/powerpoint/2010/main" val="34240384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18</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dirty="0">
                <a:ea typeface="Vita Std ExLt" pitchFamily="2" charset="77"/>
                <a:cs typeface="Verdana" panose="020B0604030504040204" pitchFamily="34" charset="0"/>
              </a:rPr>
              <a:t>Configurando GIT (2/6)</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sp>
        <p:nvSpPr>
          <p:cNvPr id="4" name="Rectángulo 3"/>
          <p:cNvSpPr/>
          <p:nvPr/>
        </p:nvSpPr>
        <p:spPr>
          <a:xfrm>
            <a:off x="396109" y="1482906"/>
            <a:ext cx="5636301" cy="2677656"/>
          </a:xfrm>
          <a:prstGeom prst="rect">
            <a:avLst/>
          </a:prstGeom>
        </p:spPr>
        <p:txBody>
          <a:bodyPr wrap="square">
            <a:spAutoFit/>
          </a:bodyPr>
          <a:lstStyle/>
          <a:p>
            <a:pPr algn="just"/>
            <a:r>
              <a:rPr lang="es-MX" sz="1200" dirty="0"/>
              <a:t>Archivo </a:t>
            </a:r>
            <a:r>
              <a:rPr lang="es-MX" sz="1200" b="1" dirty="0"/>
              <a:t>/</a:t>
            </a:r>
            <a:r>
              <a:rPr lang="es-MX" sz="1200" b="1" dirty="0" err="1"/>
              <a:t>etc</a:t>
            </a:r>
            <a:r>
              <a:rPr lang="es-MX" sz="1200" b="1" dirty="0"/>
              <a:t>/</a:t>
            </a:r>
            <a:r>
              <a:rPr lang="es-MX" sz="1200" b="1" dirty="0" err="1"/>
              <a:t>gitconfig</a:t>
            </a:r>
            <a:r>
              <a:rPr lang="es-MX" sz="1200" b="1" dirty="0"/>
              <a:t>:</a:t>
            </a:r>
            <a:r>
              <a:rPr lang="es-MX" sz="1200" dirty="0"/>
              <a:t> Contiene valores para todos los usuarios del sistema y todos sus repositorios. Si pasas la opción --</a:t>
            </a:r>
            <a:r>
              <a:rPr lang="es-MX" sz="1200" dirty="0" err="1"/>
              <a:t>system</a:t>
            </a:r>
            <a:r>
              <a:rPr lang="es-MX" sz="1200" dirty="0"/>
              <a:t> a </a:t>
            </a:r>
            <a:r>
              <a:rPr lang="es-MX" sz="1200" dirty="0" err="1"/>
              <a:t>git</a:t>
            </a:r>
            <a:r>
              <a:rPr lang="es-MX" sz="1200" dirty="0"/>
              <a:t> </a:t>
            </a:r>
            <a:r>
              <a:rPr lang="es-MX" sz="1200" dirty="0" err="1"/>
              <a:t>config</a:t>
            </a:r>
            <a:r>
              <a:rPr lang="es-MX" sz="1200" dirty="0"/>
              <a:t>, lee y escribe específicamente en este archivo. </a:t>
            </a:r>
          </a:p>
          <a:p>
            <a:pPr algn="just"/>
            <a:r>
              <a:rPr lang="es-MX" sz="1200" dirty="0"/>
              <a:t>Ubicación: C:\ProgramData\Git\config (Windows)</a:t>
            </a:r>
          </a:p>
          <a:p>
            <a:pPr algn="just"/>
            <a:endParaRPr lang="es-MX" sz="1200" dirty="0"/>
          </a:p>
          <a:p>
            <a:pPr algn="just"/>
            <a:r>
              <a:rPr lang="es-MX" sz="1200" dirty="0"/>
              <a:t>Archivo </a:t>
            </a:r>
            <a:r>
              <a:rPr lang="es-MX" sz="1200" b="1" dirty="0"/>
              <a:t>~/.</a:t>
            </a:r>
            <a:r>
              <a:rPr lang="es-MX" sz="1200" b="1" dirty="0" err="1"/>
              <a:t>gitconfig</a:t>
            </a:r>
            <a:r>
              <a:rPr lang="es-MX" sz="1200" dirty="0"/>
              <a:t> o </a:t>
            </a:r>
            <a:r>
              <a:rPr lang="es-MX" sz="1200" b="1" dirty="0"/>
              <a:t>~/.</a:t>
            </a:r>
            <a:r>
              <a:rPr lang="es-MX" sz="1200" b="1" dirty="0" err="1"/>
              <a:t>config</a:t>
            </a:r>
            <a:r>
              <a:rPr lang="es-MX" sz="1200" b="1" dirty="0"/>
              <a:t>/</a:t>
            </a:r>
            <a:r>
              <a:rPr lang="es-MX" sz="1200" b="1" dirty="0" err="1"/>
              <a:t>git</a:t>
            </a:r>
            <a:r>
              <a:rPr lang="es-MX" sz="1200" b="1" dirty="0"/>
              <a:t>/</a:t>
            </a:r>
            <a:r>
              <a:rPr lang="es-MX" sz="1200" b="1" dirty="0" err="1"/>
              <a:t>config</a:t>
            </a:r>
            <a:r>
              <a:rPr lang="es-MX" sz="1200" dirty="0"/>
              <a:t>: Este archivo es específico de tu usuario. Puedes hacer que Git lea y escriba específicamente en este archivo pasando la opción </a:t>
            </a:r>
            <a:r>
              <a:rPr lang="es-MX" sz="1200" b="1" dirty="0"/>
              <a:t>--global</a:t>
            </a:r>
            <a:r>
              <a:rPr lang="es-MX" sz="1200" dirty="0"/>
              <a:t>.</a:t>
            </a:r>
          </a:p>
          <a:p>
            <a:pPr algn="just"/>
            <a:r>
              <a:rPr lang="es-MX" sz="1200" dirty="0"/>
              <a:t>Ubicación: C:\Users\TuUsuario\.gitconfig</a:t>
            </a:r>
          </a:p>
          <a:p>
            <a:pPr algn="just"/>
            <a:endParaRPr lang="es-MX" sz="1200" dirty="0"/>
          </a:p>
          <a:p>
            <a:pPr algn="just"/>
            <a:r>
              <a:rPr lang="es-MX" sz="1200" dirty="0"/>
              <a:t>Archivo </a:t>
            </a:r>
            <a:r>
              <a:rPr lang="es-MX" sz="1200" dirty="0" err="1"/>
              <a:t>config</a:t>
            </a:r>
            <a:r>
              <a:rPr lang="es-MX" sz="1200" dirty="0"/>
              <a:t> en el directorio de Git (es decir, .</a:t>
            </a:r>
            <a:r>
              <a:rPr lang="es-MX" sz="1200" dirty="0" err="1"/>
              <a:t>git</a:t>
            </a:r>
            <a:r>
              <a:rPr lang="es-MX" sz="1200" dirty="0"/>
              <a:t>/</a:t>
            </a:r>
            <a:r>
              <a:rPr lang="es-MX" sz="1200" dirty="0" err="1"/>
              <a:t>config</a:t>
            </a:r>
            <a:r>
              <a:rPr lang="es-MX" sz="1200" dirty="0"/>
              <a:t>) del repositorio que estés utilizando actualmente: Este archivo es específico del repositorio actual.</a:t>
            </a:r>
          </a:p>
          <a:p>
            <a:pPr algn="just"/>
            <a:r>
              <a:rPr lang="es-MX" sz="1200" dirty="0"/>
              <a:t>Ubicación: En la raíz de tu proyecto Git → .</a:t>
            </a:r>
            <a:r>
              <a:rPr lang="es-MX" sz="1200" dirty="0" err="1"/>
              <a:t>git</a:t>
            </a:r>
            <a:r>
              <a:rPr lang="es-MX" sz="1200" dirty="0"/>
              <a:t>/</a:t>
            </a:r>
            <a:r>
              <a:rPr lang="es-MX" sz="1200" dirty="0" err="1"/>
              <a:t>config</a:t>
            </a:r>
            <a:endParaRPr lang="es-MX" sz="1200" dirty="0"/>
          </a:p>
        </p:txBody>
      </p:sp>
    </p:spTree>
    <p:extLst>
      <p:ext uri="{BB962C8B-B14F-4D97-AF65-F5344CB8AC3E}">
        <p14:creationId xmlns:p14="http://schemas.microsoft.com/office/powerpoint/2010/main" val="349290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19</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dirty="0">
                <a:ea typeface="Vita Std ExLt" pitchFamily="2" charset="77"/>
                <a:cs typeface="Verdana" panose="020B0604030504040204" pitchFamily="34" charset="0"/>
              </a:rPr>
              <a:t>Configurando GIT (3/6)</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sp>
        <p:nvSpPr>
          <p:cNvPr id="4" name="Rectángulo 3"/>
          <p:cNvSpPr/>
          <p:nvPr/>
        </p:nvSpPr>
        <p:spPr>
          <a:xfrm>
            <a:off x="376036" y="1696707"/>
            <a:ext cx="5636301" cy="1169551"/>
          </a:xfrm>
          <a:prstGeom prst="rect">
            <a:avLst/>
          </a:prstGeom>
        </p:spPr>
        <p:txBody>
          <a:bodyPr wrap="square">
            <a:spAutoFit/>
          </a:bodyPr>
          <a:lstStyle/>
          <a:p>
            <a:pPr algn="just"/>
            <a:r>
              <a:rPr lang="es-MX" sz="1400" dirty="0"/>
              <a:t>Lo primero que deberás hacer cuando instales </a:t>
            </a:r>
            <a:r>
              <a:rPr lang="es-MX" sz="1400" dirty="0" err="1"/>
              <a:t>Git</a:t>
            </a:r>
            <a:r>
              <a:rPr lang="es-MX" sz="1400" dirty="0"/>
              <a:t> es establecer tu nombre de usuario y dirección de correo electrónico. Esto es importante porque los "</a:t>
            </a:r>
            <a:r>
              <a:rPr lang="es-MX" sz="1400" dirty="0" err="1"/>
              <a:t>commits</a:t>
            </a:r>
            <a:r>
              <a:rPr lang="es-MX" sz="1400" dirty="0"/>
              <a:t>" de </a:t>
            </a:r>
            <a:r>
              <a:rPr lang="es-MX" sz="1400" dirty="0" err="1"/>
              <a:t>Git</a:t>
            </a:r>
            <a:r>
              <a:rPr lang="es-MX" sz="1400" dirty="0"/>
              <a:t> usan esta información, y es introducida de manera inmutable en los </a:t>
            </a:r>
            <a:r>
              <a:rPr lang="es-MX" sz="1400" dirty="0" err="1"/>
              <a:t>commits</a:t>
            </a:r>
            <a:r>
              <a:rPr lang="es-MX" sz="1400" dirty="0"/>
              <a:t> que envías:</a:t>
            </a:r>
            <a:endParaRPr lang="es-MX" sz="1050" dirty="0"/>
          </a:p>
        </p:txBody>
      </p:sp>
      <p:sp>
        <p:nvSpPr>
          <p:cNvPr id="2" name="Rectángulo 1"/>
          <p:cNvSpPr/>
          <p:nvPr/>
        </p:nvSpPr>
        <p:spPr>
          <a:xfrm>
            <a:off x="376036" y="1296597"/>
            <a:ext cx="1407758" cy="400110"/>
          </a:xfrm>
          <a:prstGeom prst="rect">
            <a:avLst/>
          </a:prstGeom>
        </p:spPr>
        <p:txBody>
          <a:bodyPr wrap="none">
            <a:spAutoFit/>
          </a:bodyPr>
          <a:lstStyle/>
          <a:p>
            <a:r>
              <a:rPr lang="es-MX" sz="2000" dirty="0"/>
              <a:t>Identidad</a:t>
            </a:r>
          </a:p>
        </p:txBody>
      </p:sp>
      <p:sp>
        <p:nvSpPr>
          <p:cNvPr id="3" name="Rectángulo 2"/>
          <p:cNvSpPr/>
          <p:nvPr/>
        </p:nvSpPr>
        <p:spPr>
          <a:xfrm>
            <a:off x="396109" y="2890147"/>
            <a:ext cx="6450138" cy="523220"/>
          </a:xfrm>
          <a:prstGeom prst="rect">
            <a:avLst/>
          </a:prstGeom>
        </p:spPr>
        <p:txBody>
          <a:bodyPr wrap="square">
            <a:spAutoFit/>
          </a:bodyPr>
          <a:lstStyle/>
          <a:p>
            <a:pPr marL="285750" indent="-285750">
              <a:buFont typeface="Wingdings" panose="05000000000000000000" pitchFamily="2" charset="2"/>
              <a:buChar char="§"/>
            </a:pPr>
            <a:r>
              <a:rPr lang="es-MX" sz="1400" dirty="0" err="1">
                <a:latin typeface="Consolas" panose="020B0609020204030204" pitchFamily="49" charset="0"/>
              </a:rPr>
              <a:t>git</a:t>
            </a:r>
            <a:r>
              <a:rPr lang="es-MX" sz="1400" dirty="0">
                <a:latin typeface="Consolas" panose="020B0609020204030204" pitchFamily="49" charset="0"/>
              </a:rPr>
              <a:t> </a:t>
            </a:r>
            <a:r>
              <a:rPr lang="es-MX" sz="1400" dirty="0" err="1">
                <a:latin typeface="Consolas" panose="020B0609020204030204" pitchFamily="49" charset="0"/>
              </a:rPr>
              <a:t>config</a:t>
            </a:r>
            <a:r>
              <a:rPr lang="es-MX" sz="1400" dirty="0">
                <a:latin typeface="Consolas" panose="020B0609020204030204" pitchFamily="49" charset="0"/>
              </a:rPr>
              <a:t> --global user.name "John </a:t>
            </a:r>
            <a:r>
              <a:rPr lang="es-MX" sz="1400" dirty="0" err="1">
                <a:latin typeface="Consolas" panose="020B0609020204030204" pitchFamily="49" charset="0"/>
              </a:rPr>
              <a:t>Doe</a:t>
            </a:r>
            <a:r>
              <a:rPr lang="es-MX" sz="1400" dirty="0">
                <a:latin typeface="Consolas" panose="020B0609020204030204" pitchFamily="49" charset="0"/>
              </a:rPr>
              <a:t>"</a:t>
            </a:r>
          </a:p>
          <a:p>
            <a:pPr marL="285750" indent="-285750">
              <a:buFont typeface="Wingdings" panose="05000000000000000000" pitchFamily="2" charset="2"/>
              <a:buChar char="§"/>
            </a:pPr>
            <a:r>
              <a:rPr lang="es-MX" sz="1400" dirty="0" err="1">
                <a:latin typeface="Consolas" panose="020B0609020204030204" pitchFamily="49" charset="0"/>
              </a:rPr>
              <a:t>git</a:t>
            </a:r>
            <a:r>
              <a:rPr lang="es-MX" sz="1400" dirty="0">
                <a:latin typeface="Consolas" panose="020B0609020204030204" pitchFamily="49" charset="0"/>
              </a:rPr>
              <a:t> </a:t>
            </a:r>
            <a:r>
              <a:rPr lang="es-MX" sz="1400" dirty="0" err="1">
                <a:latin typeface="Consolas" panose="020B0609020204030204" pitchFamily="49" charset="0"/>
              </a:rPr>
              <a:t>config</a:t>
            </a:r>
            <a:r>
              <a:rPr lang="es-MX" sz="1400" dirty="0">
                <a:latin typeface="Consolas" panose="020B0609020204030204" pitchFamily="49" charset="0"/>
              </a:rPr>
              <a:t> --global </a:t>
            </a:r>
            <a:r>
              <a:rPr lang="es-MX" sz="1400" dirty="0" err="1">
                <a:latin typeface="Consolas" panose="020B0609020204030204" pitchFamily="49" charset="0"/>
              </a:rPr>
              <a:t>user.email</a:t>
            </a:r>
            <a:r>
              <a:rPr lang="es-MX" sz="1400" dirty="0">
                <a:latin typeface="Consolas" panose="020B0609020204030204" pitchFamily="49" charset="0"/>
              </a:rPr>
              <a:t> johndoe@example.com</a:t>
            </a:r>
          </a:p>
        </p:txBody>
      </p:sp>
    </p:spTree>
    <p:extLst>
      <p:ext uri="{BB962C8B-B14F-4D97-AF65-F5344CB8AC3E}">
        <p14:creationId xmlns:p14="http://schemas.microsoft.com/office/powerpoint/2010/main" val="22254872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20</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dirty="0">
                <a:ea typeface="Vita Std ExLt" pitchFamily="2" charset="77"/>
                <a:cs typeface="Verdana" panose="020B0604030504040204" pitchFamily="34" charset="0"/>
              </a:rPr>
              <a:t>Configurando GIT (4/6)</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sp>
        <p:nvSpPr>
          <p:cNvPr id="4" name="Rectángulo 3"/>
          <p:cNvSpPr/>
          <p:nvPr/>
        </p:nvSpPr>
        <p:spPr>
          <a:xfrm>
            <a:off x="376036" y="1696707"/>
            <a:ext cx="5636301" cy="1015663"/>
          </a:xfrm>
          <a:prstGeom prst="rect">
            <a:avLst/>
          </a:prstGeom>
        </p:spPr>
        <p:txBody>
          <a:bodyPr wrap="square">
            <a:spAutoFit/>
          </a:bodyPr>
          <a:lstStyle/>
          <a:p>
            <a:pPr algn="just"/>
            <a:r>
              <a:rPr lang="es-MX" sz="1200" dirty="0"/>
              <a:t>Ahora que tu identidad está configurada, puedes elegir el editor de texto por defecto que se utilizará cuando </a:t>
            </a:r>
            <a:r>
              <a:rPr lang="es-MX" sz="1200" dirty="0" err="1"/>
              <a:t>Git</a:t>
            </a:r>
            <a:r>
              <a:rPr lang="es-MX" sz="1200" dirty="0"/>
              <a:t> necesite que introduzcas un mensaje. Si no indicas nada, </a:t>
            </a:r>
            <a:r>
              <a:rPr lang="es-MX" sz="1200" dirty="0" err="1"/>
              <a:t>Git</a:t>
            </a:r>
            <a:r>
              <a:rPr lang="es-MX" sz="1200" dirty="0"/>
              <a:t> usará el editor por defecto de tu sistema, que generalmente es </a:t>
            </a:r>
            <a:r>
              <a:rPr lang="es-MX" sz="1200" dirty="0" err="1"/>
              <a:t>Vim</a:t>
            </a:r>
            <a:r>
              <a:rPr lang="es-MX" sz="1200" dirty="0"/>
              <a:t>. Si quieres usar otro editor de texto como </a:t>
            </a:r>
            <a:r>
              <a:rPr lang="es-MX" sz="1200" dirty="0" err="1"/>
              <a:t>Emacs</a:t>
            </a:r>
            <a:r>
              <a:rPr lang="es-MX" sz="1200" dirty="0"/>
              <a:t>, puedes hacer lo siguiente:</a:t>
            </a:r>
          </a:p>
        </p:txBody>
      </p:sp>
      <p:sp>
        <p:nvSpPr>
          <p:cNvPr id="2" name="Rectángulo 1"/>
          <p:cNvSpPr/>
          <p:nvPr/>
        </p:nvSpPr>
        <p:spPr>
          <a:xfrm>
            <a:off x="376036" y="1296597"/>
            <a:ext cx="881973" cy="400110"/>
          </a:xfrm>
          <a:prstGeom prst="rect">
            <a:avLst/>
          </a:prstGeom>
        </p:spPr>
        <p:txBody>
          <a:bodyPr wrap="none">
            <a:spAutoFit/>
          </a:bodyPr>
          <a:lstStyle/>
          <a:p>
            <a:r>
              <a:rPr lang="es-MX" sz="2000" dirty="0"/>
              <a:t>Editor</a:t>
            </a:r>
          </a:p>
        </p:txBody>
      </p:sp>
      <p:sp>
        <p:nvSpPr>
          <p:cNvPr id="3" name="Rectángulo 2"/>
          <p:cNvSpPr/>
          <p:nvPr/>
        </p:nvSpPr>
        <p:spPr>
          <a:xfrm>
            <a:off x="396109" y="2890147"/>
            <a:ext cx="6450138" cy="338554"/>
          </a:xfrm>
          <a:prstGeom prst="rect">
            <a:avLst/>
          </a:prstGeom>
        </p:spPr>
        <p:txBody>
          <a:bodyPr wrap="square">
            <a:spAutoFit/>
          </a:bodyPr>
          <a:lstStyle/>
          <a:p>
            <a:pPr marL="285750" indent="-285750">
              <a:buFont typeface="Wingdings" panose="05000000000000000000" pitchFamily="2" charset="2"/>
              <a:buChar char="§"/>
            </a:pPr>
            <a:r>
              <a:rPr lang="es-MX" sz="1600" dirty="0" err="1">
                <a:latin typeface="Consolas" panose="020B0609020204030204" pitchFamily="49" charset="0"/>
              </a:rPr>
              <a:t>git</a:t>
            </a:r>
            <a:r>
              <a:rPr lang="es-MX" sz="1600" dirty="0">
                <a:latin typeface="Consolas" panose="020B0609020204030204" pitchFamily="49" charset="0"/>
              </a:rPr>
              <a:t> </a:t>
            </a:r>
            <a:r>
              <a:rPr lang="es-MX" sz="1600" dirty="0" err="1">
                <a:latin typeface="Consolas" panose="020B0609020204030204" pitchFamily="49" charset="0"/>
              </a:rPr>
              <a:t>config</a:t>
            </a:r>
            <a:r>
              <a:rPr lang="es-MX" sz="1600" dirty="0">
                <a:latin typeface="Consolas" panose="020B0609020204030204" pitchFamily="49" charset="0"/>
              </a:rPr>
              <a:t> --global </a:t>
            </a:r>
            <a:r>
              <a:rPr lang="es-MX" sz="1600" dirty="0" err="1">
                <a:latin typeface="Consolas" panose="020B0609020204030204" pitchFamily="49" charset="0"/>
              </a:rPr>
              <a:t>core.editor</a:t>
            </a:r>
            <a:r>
              <a:rPr lang="es-MX" sz="1600" dirty="0">
                <a:latin typeface="Consolas" panose="020B0609020204030204" pitchFamily="49" charset="0"/>
              </a:rPr>
              <a:t> </a:t>
            </a:r>
            <a:r>
              <a:rPr lang="es-MX" sz="1600" dirty="0" err="1">
                <a:latin typeface="Consolas" panose="020B0609020204030204" pitchFamily="49" charset="0"/>
              </a:rPr>
              <a:t>emacs</a:t>
            </a:r>
            <a:endParaRPr lang="es-MX" sz="1600" dirty="0">
              <a:latin typeface="Consolas" panose="020B0609020204030204" pitchFamily="49" charset="0"/>
            </a:endParaRPr>
          </a:p>
        </p:txBody>
      </p:sp>
    </p:spTree>
    <p:extLst>
      <p:ext uri="{BB962C8B-B14F-4D97-AF65-F5344CB8AC3E}">
        <p14:creationId xmlns:p14="http://schemas.microsoft.com/office/powerpoint/2010/main" val="23812472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21</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dirty="0">
                <a:ea typeface="Vita Std ExLt" pitchFamily="2" charset="77"/>
                <a:cs typeface="Verdana" panose="020B0604030504040204" pitchFamily="34" charset="0"/>
              </a:rPr>
              <a:t>Configurando GIT (5/6)</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sp>
        <p:nvSpPr>
          <p:cNvPr id="4" name="Rectángulo 3"/>
          <p:cNvSpPr/>
          <p:nvPr/>
        </p:nvSpPr>
        <p:spPr>
          <a:xfrm>
            <a:off x="376036" y="1696707"/>
            <a:ext cx="5636301" cy="461665"/>
          </a:xfrm>
          <a:prstGeom prst="rect">
            <a:avLst/>
          </a:prstGeom>
        </p:spPr>
        <p:txBody>
          <a:bodyPr wrap="square">
            <a:spAutoFit/>
          </a:bodyPr>
          <a:lstStyle/>
          <a:p>
            <a:pPr algn="just"/>
            <a:r>
              <a:rPr lang="es-MX" sz="1200" dirty="0"/>
              <a:t>Si quieres comprobar tu configuración, puedes usar el comando </a:t>
            </a:r>
            <a:r>
              <a:rPr lang="es-MX" sz="1200" dirty="0" err="1"/>
              <a:t>git</a:t>
            </a:r>
            <a:r>
              <a:rPr lang="es-MX" sz="1200" dirty="0"/>
              <a:t> </a:t>
            </a:r>
            <a:r>
              <a:rPr lang="es-MX" sz="1200" dirty="0" err="1"/>
              <a:t>config</a:t>
            </a:r>
            <a:r>
              <a:rPr lang="es-MX" sz="1200" dirty="0"/>
              <a:t> --</a:t>
            </a:r>
            <a:r>
              <a:rPr lang="es-MX" sz="1200" dirty="0" err="1"/>
              <a:t>list</a:t>
            </a:r>
            <a:r>
              <a:rPr lang="es-MX" sz="1200" dirty="0"/>
              <a:t> para mostrar todas las propiedades que </a:t>
            </a:r>
            <a:r>
              <a:rPr lang="es-MX" sz="1200" dirty="0" err="1"/>
              <a:t>Git</a:t>
            </a:r>
            <a:r>
              <a:rPr lang="es-MX" sz="1200" dirty="0"/>
              <a:t> ha configurado:</a:t>
            </a:r>
          </a:p>
        </p:txBody>
      </p:sp>
      <p:sp>
        <p:nvSpPr>
          <p:cNvPr id="2" name="Rectángulo 1"/>
          <p:cNvSpPr/>
          <p:nvPr/>
        </p:nvSpPr>
        <p:spPr>
          <a:xfrm>
            <a:off x="376036" y="1296597"/>
            <a:ext cx="4245073" cy="400110"/>
          </a:xfrm>
          <a:prstGeom prst="rect">
            <a:avLst/>
          </a:prstGeom>
        </p:spPr>
        <p:txBody>
          <a:bodyPr wrap="none">
            <a:spAutoFit/>
          </a:bodyPr>
          <a:lstStyle/>
          <a:p>
            <a:r>
              <a:rPr lang="es-MX" sz="2000" dirty="0"/>
              <a:t>Comprobando tu Configuración</a:t>
            </a:r>
          </a:p>
        </p:txBody>
      </p:sp>
      <p:sp>
        <p:nvSpPr>
          <p:cNvPr id="3" name="Rectángulo 2"/>
          <p:cNvSpPr/>
          <p:nvPr/>
        </p:nvSpPr>
        <p:spPr>
          <a:xfrm>
            <a:off x="396109" y="2347477"/>
            <a:ext cx="6450138" cy="338554"/>
          </a:xfrm>
          <a:prstGeom prst="rect">
            <a:avLst/>
          </a:prstGeom>
        </p:spPr>
        <p:txBody>
          <a:bodyPr wrap="square">
            <a:spAutoFit/>
          </a:bodyPr>
          <a:lstStyle/>
          <a:p>
            <a:pPr marL="285750" indent="-285750">
              <a:buFont typeface="Wingdings" panose="05000000000000000000" pitchFamily="2" charset="2"/>
              <a:buChar char="§"/>
            </a:pPr>
            <a:r>
              <a:rPr lang="es-MX" sz="1600" dirty="0" err="1">
                <a:latin typeface="Consolas" panose="020B0609020204030204" pitchFamily="49" charset="0"/>
              </a:rPr>
              <a:t>git</a:t>
            </a:r>
            <a:r>
              <a:rPr lang="es-MX" sz="1600" dirty="0">
                <a:latin typeface="Consolas" panose="020B0609020204030204" pitchFamily="49" charset="0"/>
              </a:rPr>
              <a:t> </a:t>
            </a:r>
            <a:r>
              <a:rPr lang="es-MX" sz="1600" dirty="0" err="1">
                <a:latin typeface="Consolas" panose="020B0609020204030204" pitchFamily="49" charset="0"/>
              </a:rPr>
              <a:t>config</a:t>
            </a:r>
            <a:r>
              <a:rPr lang="es-MX" sz="1600" dirty="0">
                <a:latin typeface="Consolas" panose="020B0609020204030204" pitchFamily="49" charset="0"/>
              </a:rPr>
              <a:t> --</a:t>
            </a:r>
            <a:r>
              <a:rPr lang="es-MX" sz="1600" dirty="0" err="1">
                <a:latin typeface="Consolas" panose="020B0609020204030204" pitchFamily="49" charset="0"/>
              </a:rPr>
              <a:t>list</a:t>
            </a:r>
            <a:endParaRPr lang="es-MX" sz="1600" dirty="0">
              <a:latin typeface="Consolas" panose="020B0609020204030204" pitchFamily="49" charset="0"/>
            </a:endParaRPr>
          </a:p>
        </p:txBody>
      </p:sp>
      <p:pic>
        <p:nvPicPr>
          <p:cNvPr id="6" name="Imagen 5"/>
          <p:cNvPicPr>
            <a:picLocks noChangeAspect="1"/>
          </p:cNvPicPr>
          <p:nvPr/>
        </p:nvPicPr>
        <p:blipFill>
          <a:blip r:embed="rId5"/>
          <a:stretch>
            <a:fillRect/>
          </a:stretch>
        </p:blipFill>
        <p:spPr>
          <a:xfrm>
            <a:off x="542815" y="2968350"/>
            <a:ext cx="2905125" cy="1209675"/>
          </a:xfrm>
          <a:prstGeom prst="rect">
            <a:avLst/>
          </a:prstGeom>
        </p:spPr>
      </p:pic>
    </p:spTree>
    <p:extLst>
      <p:ext uri="{BB962C8B-B14F-4D97-AF65-F5344CB8AC3E}">
        <p14:creationId xmlns:p14="http://schemas.microsoft.com/office/powerpoint/2010/main" val="5815508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22</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dirty="0">
                <a:ea typeface="Vita Std ExLt" pitchFamily="2" charset="77"/>
                <a:cs typeface="Verdana" panose="020B0604030504040204" pitchFamily="34" charset="0"/>
              </a:rPr>
              <a:t>Configurando GIT (6/6)</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sp>
        <p:nvSpPr>
          <p:cNvPr id="4" name="Rectángulo 3"/>
          <p:cNvSpPr/>
          <p:nvPr/>
        </p:nvSpPr>
        <p:spPr>
          <a:xfrm>
            <a:off x="376036" y="1696707"/>
            <a:ext cx="5636301" cy="738664"/>
          </a:xfrm>
          <a:prstGeom prst="rect">
            <a:avLst/>
          </a:prstGeom>
        </p:spPr>
        <p:txBody>
          <a:bodyPr wrap="square">
            <a:spAutoFit/>
          </a:bodyPr>
          <a:lstStyle/>
          <a:p>
            <a:pPr algn="just"/>
            <a:r>
              <a:rPr lang="es-MX" sz="1400" dirty="0"/>
              <a:t>Si alguna vez necesitas ayuda usando </a:t>
            </a:r>
            <a:r>
              <a:rPr lang="es-MX" sz="1400" dirty="0" err="1"/>
              <a:t>Git</a:t>
            </a:r>
            <a:r>
              <a:rPr lang="es-MX" sz="1400" dirty="0"/>
              <a:t>, existen tres formas de ver la página del manual (</a:t>
            </a:r>
            <a:r>
              <a:rPr lang="es-MX" sz="1400" dirty="0" err="1"/>
              <a:t>manpage</a:t>
            </a:r>
            <a:r>
              <a:rPr lang="es-MX" sz="1400" dirty="0"/>
              <a:t>) para cualquier comando de </a:t>
            </a:r>
            <a:r>
              <a:rPr lang="es-MX" sz="1400" dirty="0" err="1"/>
              <a:t>Git</a:t>
            </a:r>
            <a:r>
              <a:rPr lang="es-MX" sz="1400" dirty="0"/>
              <a:t>:</a:t>
            </a:r>
          </a:p>
        </p:txBody>
      </p:sp>
      <p:sp>
        <p:nvSpPr>
          <p:cNvPr id="2" name="Rectángulo 1"/>
          <p:cNvSpPr/>
          <p:nvPr/>
        </p:nvSpPr>
        <p:spPr>
          <a:xfrm>
            <a:off x="376036" y="1296597"/>
            <a:ext cx="2196435" cy="400110"/>
          </a:xfrm>
          <a:prstGeom prst="rect">
            <a:avLst/>
          </a:prstGeom>
        </p:spPr>
        <p:txBody>
          <a:bodyPr wrap="none">
            <a:spAutoFit/>
          </a:bodyPr>
          <a:lstStyle/>
          <a:p>
            <a:r>
              <a:rPr lang="es-MX" sz="2000" dirty="0"/>
              <a:t>Obtener ayuda </a:t>
            </a:r>
          </a:p>
        </p:txBody>
      </p:sp>
      <p:sp>
        <p:nvSpPr>
          <p:cNvPr id="12" name="Rectángulo 11"/>
          <p:cNvSpPr/>
          <p:nvPr/>
        </p:nvSpPr>
        <p:spPr>
          <a:xfrm>
            <a:off x="396109" y="2466149"/>
            <a:ext cx="4572000" cy="738664"/>
          </a:xfrm>
          <a:prstGeom prst="rect">
            <a:avLst/>
          </a:prstGeom>
        </p:spPr>
        <p:txBody>
          <a:bodyPr>
            <a:spAutoFit/>
          </a:bodyPr>
          <a:lstStyle/>
          <a:p>
            <a:pPr marL="285750" indent="-285750">
              <a:buFont typeface="Wingdings" panose="05000000000000000000" pitchFamily="2" charset="2"/>
              <a:buChar char="§"/>
            </a:pPr>
            <a:r>
              <a:rPr lang="es-MX" sz="1400" dirty="0" err="1">
                <a:latin typeface="Consolas" panose="020B0609020204030204" pitchFamily="49" charset="0"/>
              </a:rPr>
              <a:t>git</a:t>
            </a:r>
            <a:r>
              <a:rPr lang="es-MX" sz="1400" dirty="0">
                <a:latin typeface="Consolas" panose="020B0609020204030204" pitchFamily="49" charset="0"/>
              </a:rPr>
              <a:t> </a:t>
            </a:r>
            <a:r>
              <a:rPr lang="es-MX" sz="1400" dirty="0" err="1">
                <a:latin typeface="Consolas" panose="020B0609020204030204" pitchFamily="49" charset="0"/>
              </a:rPr>
              <a:t>help</a:t>
            </a:r>
            <a:r>
              <a:rPr lang="es-MX" sz="1400" dirty="0">
                <a:latin typeface="Consolas" panose="020B0609020204030204" pitchFamily="49" charset="0"/>
              </a:rPr>
              <a:t> &lt;</a:t>
            </a:r>
            <a:r>
              <a:rPr lang="es-MX" sz="1400" dirty="0" err="1">
                <a:latin typeface="Consolas" panose="020B0609020204030204" pitchFamily="49" charset="0"/>
              </a:rPr>
              <a:t>verb</a:t>
            </a:r>
            <a:r>
              <a:rPr lang="es-MX" sz="1400" dirty="0">
                <a:latin typeface="Consolas" panose="020B0609020204030204" pitchFamily="49" charset="0"/>
              </a:rPr>
              <a:t>&gt;</a:t>
            </a:r>
          </a:p>
          <a:p>
            <a:pPr marL="285750" indent="-285750">
              <a:buFont typeface="Wingdings" panose="05000000000000000000" pitchFamily="2" charset="2"/>
              <a:buChar char="§"/>
            </a:pPr>
            <a:r>
              <a:rPr lang="es-MX" sz="1400" dirty="0" err="1">
                <a:latin typeface="Consolas" panose="020B0609020204030204" pitchFamily="49" charset="0"/>
              </a:rPr>
              <a:t>git</a:t>
            </a:r>
            <a:r>
              <a:rPr lang="es-MX" sz="1400" dirty="0">
                <a:latin typeface="Consolas" panose="020B0609020204030204" pitchFamily="49" charset="0"/>
              </a:rPr>
              <a:t> &lt;</a:t>
            </a:r>
            <a:r>
              <a:rPr lang="es-MX" sz="1400" dirty="0" err="1">
                <a:latin typeface="Consolas" panose="020B0609020204030204" pitchFamily="49" charset="0"/>
              </a:rPr>
              <a:t>verb</a:t>
            </a:r>
            <a:r>
              <a:rPr lang="es-MX" sz="1400" dirty="0">
                <a:latin typeface="Consolas" panose="020B0609020204030204" pitchFamily="49" charset="0"/>
              </a:rPr>
              <a:t>&gt; --</a:t>
            </a:r>
            <a:r>
              <a:rPr lang="es-MX" sz="1400" dirty="0" err="1">
                <a:latin typeface="Consolas" panose="020B0609020204030204" pitchFamily="49" charset="0"/>
              </a:rPr>
              <a:t>help</a:t>
            </a:r>
            <a:endParaRPr lang="es-MX" sz="1400" dirty="0">
              <a:latin typeface="Consolas" panose="020B0609020204030204" pitchFamily="49" charset="0"/>
            </a:endParaRPr>
          </a:p>
          <a:p>
            <a:pPr marL="285750" indent="-285750">
              <a:buFont typeface="Wingdings" panose="05000000000000000000" pitchFamily="2" charset="2"/>
              <a:buChar char="§"/>
            </a:pPr>
            <a:r>
              <a:rPr lang="es-MX" sz="1400" dirty="0" err="1">
                <a:latin typeface="Consolas" panose="020B0609020204030204" pitchFamily="49" charset="0"/>
              </a:rPr>
              <a:t>man</a:t>
            </a:r>
            <a:r>
              <a:rPr lang="es-MX" sz="1400" dirty="0">
                <a:latin typeface="Consolas" panose="020B0609020204030204" pitchFamily="49" charset="0"/>
              </a:rPr>
              <a:t> </a:t>
            </a:r>
            <a:r>
              <a:rPr lang="es-MX" sz="1400" dirty="0" err="1">
                <a:latin typeface="Consolas" panose="020B0609020204030204" pitchFamily="49" charset="0"/>
              </a:rPr>
              <a:t>git</a:t>
            </a:r>
            <a:r>
              <a:rPr lang="es-MX" sz="1400" dirty="0">
                <a:latin typeface="Consolas" panose="020B0609020204030204" pitchFamily="49" charset="0"/>
              </a:rPr>
              <a:t>-&lt;</a:t>
            </a:r>
            <a:r>
              <a:rPr lang="es-MX" sz="1400" dirty="0" err="1">
                <a:latin typeface="Consolas" panose="020B0609020204030204" pitchFamily="49" charset="0"/>
              </a:rPr>
              <a:t>verb</a:t>
            </a:r>
            <a:r>
              <a:rPr lang="es-MX" sz="1400" dirty="0">
                <a:latin typeface="Consolas" panose="020B0609020204030204" pitchFamily="49" charset="0"/>
              </a:rPr>
              <a:t>&gt;</a:t>
            </a:r>
          </a:p>
        </p:txBody>
      </p:sp>
      <p:sp>
        <p:nvSpPr>
          <p:cNvPr id="15" name="Rectángulo 14"/>
          <p:cNvSpPr/>
          <p:nvPr/>
        </p:nvSpPr>
        <p:spPr>
          <a:xfrm>
            <a:off x="396109" y="3321268"/>
            <a:ext cx="5636301" cy="1384995"/>
          </a:xfrm>
          <a:prstGeom prst="rect">
            <a:avLst/>
          </a:prstGeom>
        </p:spPr>
        <p:txBody>
          <a:bodyPr wrap="square">
            <a:spAutoFit/>
          </a:bodyPr>
          <a:lstStyle/>
          <a:p>
            <a:pPr algn="just"/>
            <a:r>
              <a:rPr lang="es-MX" sz="1400" dirty="0"/>
              <a:t>Ejemplos:</a:t>
            </a:r>
          </a:p>
          <a:p>
            <a:pPr marL="285750" indent="-285750" algn="just">
              <a:buFont typeface="Wingdings" panose="05000000000000000000" pitchFamily="2" charset="2"/>
              <a:buChar char="§"/>
            </a:pPr>
            <a:r>
              <a:rPr lang="es-MX" sz="1400" dirty="0" err="1">
                <a:latin typeface="Consolas" panose="020B0609020204030204" pitchFamily="49" charset="0"/>
              </a:rPr>
              <a:t>git</a:t>
            </a:r>
            <a:r>
              <a:rPr lang="es-MX" sz="1400" dirty="0">
                <a:latin typeface="Consolas" panose="020B0609020204030204" pitchFamily="49" charset="0"/>
              </a:rPr>
              <a:t> </a:t>
            </a:r>
            <a:r>
              <a:rPr lang="es-MX" sz="1400" dirty="0" err="1">
                <a:latin typeface="Consolas" panose="020B0609020204030204" pitchFamily="49" charset="0"/>
              </a:rPr>
              <a:t>help</a:t>
            </a:r>
            <a:r>
              <a:rPr lang="es-MX" sz="1400" dirty="0">
                <a:latin typeface="Consolas" panose="020B0609020204030204" pitchFamily="49" charset="0"/>
              </a:rPr>
              <a:t> </a:t>
            </a:r>
            <a:r>
              <a:rPr lang="es-MX" sz="1400" dirty="0" err="1">
                <a:latin typeface="Consolas" panose="020B0609020204030204" pitchFamily="49" charset="0"/>
              </a:rPr>
              <a:t>config</a:t>
            </a:r>
            <a:endParaRPr lang="es-MX" sz="1400" dirty="0">
              <a:latin typeface="Consolas" panose="020B0609020204030204" pitchFamily="49" charset="0"/>
            </a:endParaRPr>
          </a:p>
          <a:p>
            <a:pPr marL="285750" indent="-285750" algn="just">
              <a:buFont typeface="Wingdings" panose="05000000000000000000" pitchFamily="2" charset="2"/>
              <a:buChar char="§"/>
            </a:pPr>
            <a:r>
              <a:rPr lang="es-MX" sz="1400" dirty="0" err="1">
                <a:latin typeface="Consolas" panose="020B0609020204030204" pitchFamily="49" charset="0"/>
              </a:rPr>
              <a:t>git</a:t>
            </a:r>
            <a:r>
              <a:rPr lang="es-MX" sz="1400" dirty="0">
                <a:latin typeface="Consolas" panose="020B0609020204030204" pitchFamily="49" charset="0"/>
              </a:rPr>
              <a:t> </a:t>
            </a:r>
            <a:r>
              <a:rPr lang="es-MX" sz="1400" dirty="0" err="1">
                <a:latin typeface="Consolas" panose="020B0609020204030204" pitchFamily="49" charset="0"/>
              </a:rPr>
              <a:t>help</a:t>
            </a:r>
            <a:r>
              <a:rPr lang="es-MX" sz="1400" dirty="0">
                <a:latin typeface="Consolas" panose="020B0609020204030204" pitchFamily="49" charset="0"/>
              </a:rPr>
              <a:t> </a:t>
            </a:r>
            <a:r>
              <a:rPr lang="es-MX" sz="1400" dirty="0" err="1">
                <a:latin typeface="Consolas" panose="020B0609020204030204" pitchFamily="49" charset="0"/>
              </a:rPr>
              <a:t>commit</a:t>
            </a:r>
            <a:endParaRPr lang="es-MX" sz="1400" dirty="0">
              <a:latin typeface="Consolas" panose="020B0609020204030204" pitchFamily="49" charset="0"/>
            </a:endParaRPr>
          </a:p>
          <a:p>
            <a:pPr marL="285750" indent="-285750" algn="just">
              <a:buFont typeface="Wingdings" panose="05000000000000000000" pitchFamily="2" charset="2"/>
              <a:buChar char="§"/>
            </a:pPr>
            <a:r>
              <a:rPr lang="es-MX" sz="1400" dirty="0" err="1">
                <a:latin typeface="Consolas" panose="020B0609020204030204" pitchFamily="49" charset="0"/>
              </a:rPr>
              <a:t>git</a:t>
            </a:r>
            <a:r>
              <a:rPr lang="es-MX" sz="1400" dirty="0">
                <a:latin typeface="Consolas" panose="020B0609020204030204" pitchFamily="49" charset="0"/>
              </a:rPr>
              <a:t> </a:t>
            </a:r>
            <a:r>
              <a:rPr lang="es-MX" sz="1400" dirty="0" err="1">
                <a:latin typeface="Consolas" panose="020B0609020204030204" pitchFamily="49" charset="0"/>
              </a:rPr>
              <a:t>help</a:t>
            </a:r>
            <a:r>
              <a:rPr lang="es-MX" sz="1400" dirty="0">
                <a:latin typeface="Consolas" panose="020B0609020204030204" pitchFamily="49" charset="0"/>
              </a:rPr>
              <a:t> </a:t>
            </a:r>
            <a:r>
              <a:rPr lang="es-MX" sz="1400" dirty="0" err="1">
                <a:latin typeface="Consolas" panose="020B0609020204030204" pitchFamily="49" charset="0"/>
              </a:rPr>
              <a:t>branch</a:t>
            </a:r>
            <a:endParaRPr lang="es-MX" sz="1400" dirty="0">
              <a:latin typeface="Consolas" panose="020B0609020204030204" pitchFamily="49" charset="0"/>
            </a:endParaRPr>
          </a:p>
          <a:p>
            <a:pPr marL="285750" indent="-285750" algn="just">
              <a:buFont typeface="Arial" panose="020B0604020202020204" pitchFamily="34" charset="0"/>
              <a:buChar char="•"/>
            </a:pPr>
            <a:endParaRPr lang="es-MX" sz="1400" dirty="0">
              <a:latin typeface="Consolas" panose="020B0609020204030204" pitchFamily="49" charset="0"/>
            </a:endParaRPr>
          </a:p>
          <a:p>
            <a:pPr marL="285750" indent="-285750" algn="just">
              <a:buFont typeface="Arial" panose="020B0604020202020204" pitchFamily="34" charset="0"/>
              <a:buChar char="•"/>
            </a:pPr>
            <a:endParaRPr lang="es-MX" sz="1400" dirty="0">
              <a:latin typeface="Consolas" panose="020B0609020204030204" pitchFamily="49" charset="0"/>
            </a:endParaRPr>
          </a:p>
        </p:txBody>
      </p:sp>
    </p:spTree>
    <p:extLst>
      <p:ext uri="{BB962C8B-B14F-4D97-AF65-F5344CB8AC3E}">
        <p14:creationId xmlns:p14="http://schemas.microsoft.com/office/powerpoint/2010/main" val="282902097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EE201105-72BE-A151-3986-11C39DBCCC84}"/>
              </a:ext>
            </a:extLst>
          </p:cNvPr>
          <p:cNvSpPr txBox="1"/>
          <p:nvPr/>
        </p:nvSpPr>
        <p:spPr>
          <a:xfrm>
            <a:off x="1690122" y="3279459"/>
            <a:ext cx="5716516" cy="338554"/>
          </a:xfrm>
          <a:prstGeom prst="rect">
            <a:avLst/>
          </a:prstGeom>
          <a:noFill/>
        </p:spPr>
        <p:txBody>
          <a:bodyPr wrap="square" rtlCol="0">
            <a:spAutoFit/>
          </a:bodyPr>
          <a:lstStyle/>
          <a:p>
            <a:pPr algn="ctr"/>
            <a:r>
              <a:rPr lang="es-MX" sz="1600" dirty="0">
                <a:latin typeface="+mj-lt"/>
                <a:ea typeface="Verdana" panose="020B0604030504040204" pitchFamily="34" charset="0"/>
              </a:rPr>
              <a:t>Comandos Básicos</a:t>
            </a:r>
          </a:p>
        </p:txBody>
      </p:sp>
      <p:sp>
        <p:nvSpPr>
          <p:cNvPr id="6" name="Título 1">
            <a:extLst>
              <a:ext uri="{FF2B5EF4-FFF2-40B4-BE49-F238E27FC236}">
                <a16:creationId xmlns:a16="http://schemas.microsoft.com/office/drawing/2014/main" id="{E6941EEA-15FA-C4B3-9D36-FE213543036B}"/>
              </a:ext>
            </a:extLst>
          </p:cNvPr>
          <p:cNvSpPr txBox="1">
            <a:spLocks/>
          </p:cNvSpPr>
          <p:nvPr/>
        </p:nvSpPr>
        <p:spPr>
          <a:xfrm>
            <a:off x="1737359" y="2604517"/>
            <a:ext cx="5669279" cy="623943"/>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MX" sz="3200" dirty="0">
                <a:ea typeface="Vita Std ExLt" pitchFamily="2" charset="77"/>
                <a:cs typeface="Verdana" panose="020B0604030504040204" pitchFamily="34" charset="0"/>
              </a:rPr>
              <a:t>Fundamentos de GIT</a:t>
            </a:r>
          </a:p>
          <a:p>
            <a:pPr algn="ctr"/>
            <a:endParaRPr lang="es-MX" sz="3200" dirty="0">
              <a:ea typeface="Vita Std ExLt" pitchFamily="2" charset="77"/>
              <a:cs typeface="Verdana" panose="020B0604030504040204" pitchFamily="34" charset="0"/>
            </a:endParaRPr>
          </a:p>
        </p:txBody>
      </p:sp>
      <p:sp>
        <p:nvSpPr>
          <p:cNvPr id="7" name="Slide Number Placeholder 5">
            <a:extLst>
              <a:ext uri="{FF2B5EF4-FFF2-40B4-BE49-F238E27FC236}">
                <a16:creationId xmlns:a16="http://schemas.microsoft.com/office/drawing/2014/main" id="{E7815C07-AAB5-C869-E3C6-13CE45631BCA}"/>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23</a:t>
            </a:fld>
            <a:endParaRPr lang="es-MX" sz="700">
              <a:solidFill>
                <a:schemeClr val="tx1"/>
              </a:solidFill>
              <a:latin typeface="+mn-lt"/>
            </a:endParaRPr>
          </a:p>
        </p:txBody>
      </p:sp>
      <p:sp>
        <p:nvSpPr>
          <p:cNvPr id="8" name="Date Placeholder 3">
            <a:extLst>
              <a:ext uri="{FF2B5EF4-FFF2-40B4-BE49-F238E27FC236}">
                <a16:creationId xmlns:a16="http://schemas.microsoft.com/office/drawing/2014/main" id="{C0B241D6-8F7F-7292-3735-3E384A859C15}"/>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2" name="Footer Placeholder 4">
            <a:extLst>
              <a:ext uri="{FF2B5EF4-FFF2-40B4-BE49-F238E27FC236}">
                <a16:creationId xmlns:a16="http://schemas.microsoft.com/office/drawing/2014/main" id="{28187D42-2A45-2872-FDF8-944D161C9D28}"/>
              </a:ext>
            </a:extLst>
          </p:cNvPr>
          <p:cNvSpPr txBox="1">
            <a:spLocks/>
          </p:cNvSpPr>
          <p:nvPr/>
        </p:nvSpPr>
        <p:spPr>
          <a:xfrm>
            <a:off x="6920366" y="4620137"/>
            <a:ext cx="1426439"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90000"/>
                    <a:lumOff val="10000"/>
                  </a:schemeClr>
                </a:solidFill>
              </a:rPr>
              <a:t>[GIT]</a:t>
            </a:r>
          </a:p>
        </p:txBody>
      </p:sp>
      <p:cxnSp>
        <p:nvCxnSpPr>
          <p:cNvPr id="12" name="Straight Connector 44">
            <a:extLst>
              <a:ext uri="{FF2B5EF4-FFF2-40B4-BE49-F238E27FC236}">
                <a16:creationId xmlns:a16="http://schemas.microsoft.com/office/drawing/2014/main" id="{5C4431AE-11DB-4648-8D81-7A681BFAAAAA}"/>
              </a:ext>
            </a:extLst>
          </p:cNvPr>
          <p:cNvCxnSpPr>
            <a:cxnSpLocks/>
          </p:cNvCxnSpPr>
          <p:nvPr/>
        </p:nvCxnSpPr>
        <p:spPr>
          <a:xfrm flipH="1">
            <a:off x="1785879" y="3163348"/>
            <a:ext cx="5572237" cy="6436"/>
          </a:xfrm>
          <a:prstGeom prst="line">
            <a:avLst/>
          </a:prstGeom>
          <a:ln w="28575"/>
        </p:spPr>
        <p:style>
          <a:lnRef idx="1">
            <a:schemeClr val="accent2"/>
          </a:lnRef>
          <a:fillRef idx="0">
            <a:schemeClr val="accent2"/>
          </a:fillRef>
          <a:effectRef idx="0">
            <a:schemeClr val="accent2"/>
          </a:effectRef>
          <a:fontRef idx="minor">
            <a:schemeClr val="tx1"/>
          </a:fontRef>
        </p:style>
      </p:cxnSp>
      <p:pic>
        <p:nvPicPr>
          <p:cNvPr id="15" name="Imagen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3218" y="724689"/>
            <a:ext cx="2885532" cy="1236219"/>
          </a:xfrm>
          <a:prstGeom prst="rect">
            <a:avLst/>
          </a:prstGeom>
        </p:spPr>
      </p:pic>
      <p:pic>
        <p:nvPicPr>
          <p:cNvPr id="16" name="Imagen 1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2299" y="545304"/>
            <a:ext cx="3091301" cy="2122812"/>
          </a:xfrm>
          <a:prstGeom prst="rect">
            <a:avLst/>
          </a:prstGeom>
        </p:spPr>
      </p:pic>
      <p:pic>
        <p:nvPicPr>
          <p:cNvPr id="17" name="Imagen 1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45147" y="1681566"/>
            <a:ext cx="417666" cy="417666"/>
          </a:xfrm>
          <a:prstGeom prst="rect">
            <a:avLst/>
          </a:prstGeom>
        </p:spPr>
      </p:pic>
    </p:spTree>
    <p:extLst>
      <p:ext uri="{BB962C8B-B14F-4D97-AF65-F5344CB8AC3E}">
        <p14:creationId xmlns:p14="http://schemas.microsoft.com/office/powerpoint/2010/main" val="1674580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24</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800" dirty="0">
                <a:ea typeface="Vita Std ExLt" pitchFamily="2" charset="77"/>
                <a:cs typeface="Verdana" panose="020B0604030504040204" pitchFamily="34" charset="0"/>
              </a:rPr>
              <a:t>Estados de GIT</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0" name="Imagen 9"/>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sp>
        <p:nvSpPr>
          <p:cNvPr id="4" name="Rectángulo 3"/>
          <p:cNvSpPr/>
          <p:nvPr/>
        </p:nvSpPr>
        <p:spPr>
          <a:xfrm>
            <a:off x="376036" y="1476108"/>
            <a:ext cx="4627763" cy="2554545"/>
          </a:xfrm>
          <a:prstGeom prst="rect">
            <a:avLst/>
          </a:prstGeom>
        </p:spPr>
        <p:txBody>
          <a:bodyPr wrap="square">
            <a:spAutoFit/>
          </a:bodyPr>
          <a:lstStyle/>
          <a:p>
            <a:pPr algn="just"/>
            <a:r>
              <a:rPr lang="es-MX" sz="1200" dirty="0"/>
              <a:t>Cuando realizas acciones en </a:t>
            </a:r>
            <a:r>
              <a:rPr lang="es-MX" sz="1200" dirty="0" err="1"/>
              <a:t>Git</a:t>
            </a:r>
            <a:r>
              <a:rPr lang="es-MX" sz="1200" dirty="0"/>
              <a:t>, casi todas ellas sólo añaden información a la base de datos de </a:t>
            </a:r>
            <a:r>
              <a:rPr lang="es-MX" sz="1200" dirty="0" err="1"/>
              <a:t>Git</a:t>
            </a:r>
            <a:r>
              <a:rPr lang="es-MX" sz="1200" dirty="0"/>
              <a:t>. </a:t>
            </a:r>
          </a:p>
          <a:p>
            <a:pPr algn="just"/>
            <a:endParaRPr lang="es-MX" sz="1200" dirty="0"/>
          </a:p>
          <a:p>
            <a:pPr algn="just"/>
            <a:r>
              <a:rPr lang="es-MX" sz="1200" dirty="0" err="1"/>
              <a:t>Git</a:t>
            </a:r>
            <a:r>
              <a:rPr lang="es-MX" sz="1200" dirty="0"/>
              <a:t> tiene tres estados principales en los que se pueden encontrar tus archivos: </a:t>
            </a:r>
          </a:p>
          <a:p>
            <a:pPr marL="171450" indent="-171450" algn="just">
              <a:buFont typeface="Wingdings" panose="05000000000000000000" pitchFamily="2" charset="2"/>
              <a:buChar char="§"/>
            </a:pPr>
            <a:r>
              <a:rPr lang="es-MX" sz="1100" b="1" dirty="0"/>
              <a:t>Confirmado</a:t>
            </a:r>
            <a:r>
              <a:rPr lang="es-MX" sz="1100" dirty="0"/>
              <a:t> (</a:t>
            </a:r>
            <a:r>
              <a:rPr lang="es-MX" sz="1100" dirty="0" err="1"/>
              <a:t>committed</a:t>
            </a:r>
            <a:r>
              <a:rPr lang="es-MX" sz="1100" dirty="0"/>
              <a:t>): Significa que los datos están almacenados de manera segura en tu base de datos local. </a:t>
            </a:r>
          </a:p>
          <a:p>
            <a:pPr marL="171450" indent="-171450" algn="just">
              <a:buFont typeface="Wingdings" panose="05000000000000000000" pitchFamily="2" charset="2"/>
              <a:buChar char="§"/>
            </a:pPr>
            <a:r>
              <a:rPr lang="es-MX" sz="1100" b="1" dirty="0"/>
              <a:t>Modificado</a:t>
            </a:r>
            <a:r>
              <a:rPr lang="es-MX" sz="1100" dirty="0"/>
              <a:t> (</a:t>
            </a:r>
            <a:r>
              <a:rPr lang="es-MX" sz="1100" dirty="0" err="1"/>
              <a:t>modified</a:t>
            </a:r>
            <a:r>
              <a:rPr lang="es-MX" sz="1100" dirty="0"/>
              <a:t>): Significa que has modificado el archivo pero todavía no lo has confirmado a tu base de datos.</a:t>
            </a:r>
          </a:p>
          <a:p>
            <a:pPr marL="171450" indent="-171450" algn="just">
              <a:buFont typeface="Wingdings" panose="05000000000000000000" pitchFamily="2" charset="2"/>
              <a:buChar char="§"/>
            </a:pPr>
            <a:r>
              <a:rPr lang="es-MX" sz="1100" b="1" dirty="0"/>
              <a:t>Preparado</a:t>
            </a:r>
            <a:r>
              <a:rPr lang="es-MX" sz="1100" dirty="0"/>
              <a:t> (</a:t>
            </a:r>
            <a:r>
              <a:rPr lang="es-MX" sz="1100" dirty="0" err="1"/>
              <a:t>staged</a:t>
            </a:r>
            <a:r>
              <a:rPr lang="es-MX" sz="1100" dirty="0"/>
              <a:t>): Significa que has marcado un archivo modificado en su versión actual para que vaya en tu próxima confirmación.</a:t>
            </a:r>
            <a:endParaRPr lang="es-MX" sz="900" dirty="0"/>
          </a:p>
          <a:p>
            <a:pPr algn="just"/>
            <a:endParaRPr lang="es-MX" sz="1200" dirty="0"/>
          </a:p>
        </p:txBody>
      </p:sp>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9319" y="1746270"/>
            <a:ext cx="3523458" cy="1942306"/>
          </a:xfrm>
          <a:prstGeom prst="rect">
            <a:avLst/>
          </a:prstGeom>
        </p:spPr>
      </p:pic>
    </p:spTree>
    <p:extLst>
      <p:ext uri="{BB962C8B-B14F-4D97-AF65-F5344CB8AC3E}">
        <p14:creationId xmlns:p14="http://schemas.microsoft.com/office/powerpoint/2010/main" val="12060968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25</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800" dirty="0">
                <a:ea typeface="Vita Std ExLt" pitchFamily="2" charset="77"/>
                <a:cs typeface="Verdana" panose="020B0604030504040204" pitchFamily="34" charset="0"/>
              </a:rPr>
              <a:t>Estados de GIT</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0" name="Imagen 9"/>
          <p:cNvPicPr>
            <a:picLocks noChangeAspect="1"/>
          </p:cNvPicPr>
          <p:nvPr/>
        </p:nvPicPr>
        <p:blipFill>
          <a:blip r:embed="rId2">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pic>
        <p:nvPicPr>
          <p:cNvPr id="3" name="Imagen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49317" y="1455078"/>
            <a:ext cx="3523458" cy="1942306"/>
          </a:xfrm>
          <a:prstGeom prst="rect">
            <a:avLst/>
          </a:prstGeom>
        </p:spPr>
      </p:pic>
      <p:sp>
        <p:nvSpPr>
          <p:cNvPr id="6" name="Rectángulo 5"/>
          <p:cNvSpPr/>
          <p:nvPr/>
        </p:nvSpPr>
        <p:spPr>
          <a:xfrm>
            <a:off x="396109" y="2111453"/>
            <a:ext cx="4747391" cy="1292662"/>
          </a:xfrm>
          <a:prstGeom prst="rect">
            <a:avLst/>
          </a:prstGeom>
        </p:spPr>
        <p:txBody>
          <a:bodyPr wrap="square">
            <a:spAutoFit/>
          </a:bodyPr>
          <a:lstStyle/>
          <a:p>
            <a:r>
              <a:rPr lang="es-MX" sz="1200" dirty="0"/>
              <a:t>El flujo de trabajo básico en </a:t>
            </a:r>
            <a:r>
              <a:rPr lang="es-MX" sz="1200" dirty="0" err="1"/>
              <a:t>Git</a:t>
            </a:r>
            <a:r>
              <a:rPr lang="es-MX" sz="1200" dirty="0"/>
              <a:t> es algo así:</a:t>
            </a:r>
          </a:p>
          <a:p>
            <a:endParaRPr lang="es-MX" sz="1100" dirty="0"/>
          </a:p>
          <a:p>
            <a:pPr marL="228600" indent="-228600">
              <a:buFont typeface="+mj-lt"/>
              <a:buAutoNum type="arabicPeriod"/>
            </a:pPr>
            <a:r>
              <a:rPr lang="es-MX" sz="1100" dirty="0"/>
              <a:t>Modificas una serie de archivos en tu directorio de trabajo.</a:t>
            </a:r>
          </a:p>
          <a:p>
            <a:pPr marL="228600" indent="-228600">
              <a:buFont typeface="+mj-lt"/>
              <a:buAutoNum type="arabicPeriod"/>
            </a:pPr>
            <a:r>
              <a:rPr lang="es-MX" sz="1100" dirty="0"/>
              <a:t>Preparas los archivos, añadiéndolos a tu área de preparación.</a:t>
            </a:r>
          </a:p>
          <a:p>
            <a:pPr marL="228600" indent="-228600">
              <a:buFont typeface="+mj-lt"/>
              <a:buAutoNum type="arabicPeriod"/>
            </a:pPr>
            <a:r>
              <a:rPr lang="es-MX" sz="1100" dirty="0"/>
              <a:t>Confirmas los cambios, lo que toma los archivos tal y como están en el área de preparación y almacena esa copia instantánea de manera permanente en tu directorio de </a:t>
            </a:r>
            <a:r>
              <a:rPr lang="es-MX" sz="1100" dirty="0" err="1"/>
              <a:t>Git</a:t>
            </a:r>
            <a:r>
              <a:rPr lang="es-MX" sz="1100" dirty="0"/>
              <a:t>.</a:t>
            </a:r>
          </a:p>
        </p:txBody>
      </p:sp>
    </p:spTree>
    <p:extLst>
      <p:ext uri="{BB962C8B-B14F-4D97-AF65-F5344CB8AC3E}">
        <p14:creationId xmlns:p14="http://schemas.microsoft.com/office/powerpoint/2010/main" val="38530105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A6C636BB-E7D0-FE55-C2F5-FC57A88AB9F0}"/>
              </a:ext>
            </a:extLst>
          </p:cNvPr>
          <p:cNvSpPr txBox="1">
            <a:spLocks/>
          </p:cNvSpPr>
          <p:nvPr/>
        </p:nvSpPr>
        <p:spPr>
          <a:xfrm>
            <a:off x="666975" y="550472"/>
            <a:ext cx="7905800" cy="577171"/>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3200" dirty="0"/>
              <a:t>Trabajo con ramas (</a:t>
            </a:r>
            <a:r>
              <a:rPr lang="es-MX" sz="3200" dirty="0" err="1"/>
              <a:t>branches</a:t>
            </a:r>
            <a:r>
              <a:rPr lang="es-MX" sz="3200" dirty="0"/>
              <a:t>)</a:t>
            </a:r>
          </a:p>
        </p:txBody>
      </p:sp>
      <p:sp>
        <p:nvSpPr>
          <p:cNvPr id="9" name="Slide Number Placeholder 5">
            <a:extLst>
              <a:ext uri="{FF2B5EF4-FFF2-40B4-BE49-F238E27FC236}">
                <a16:creationId xmlns:a16="http://schemas.microsoft.com/office/drawing/2014/main" id="{7AA4D592-1C24-9678-675B-5592FEE70AED}"/>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26</a:t>
            </a:fld>
            <a:endParaRPr lang="es-MX" sz="700">
              <a:solidFill>
                <a:schemeClr val="tx1"/>
              </a:solidFill>
              <a:latin typeface="+mn-lt"/>
            </a:endParaRPr>
          </a:p>
        </p:txBody>
      </p:sp>
      <p:sp>
        <p:nvSpPr>
          <p:cNvPr id="10" name="Date Placeholder 3">
            <a:extLst>
              <a:ext uri="{FF2B5EF4-FFF2-40B4-BE49-F238E27FC236}">
                <a16:creationId xmlns:a16="http://schemas.microsoft.com/office/drawing/2014/main" id="{01B32BC8-1722-304F-0282-503A51C392A4}"/>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16" name="Footer Placeholder 4">
            <a:extLst>
              <a:ext uri="{FF2B5EF4-FFF2-40B4-BE49-F238E27FC236}">
                <a16:creationId xmlns:a16="http://schemas.microsoft.com/office/drawing/2014/main" id="{EAE13ECB-7911-B012-DA67-027E1A7CF8DF}"/>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solidFill>
                <a:latin typeface="+mn-lt"/>
              </a:rPr>
              <a:t>GIT</a:t>
            </a:r>
          </a:p>
        </p:txBody>
      </p:sp>
      <p:sp>
        <p:nvSpPr>
          <p:cNvPr id="11" name="Rectangle: Rounded Corners 19">
            <a:extLst>
              <a:ext uri="{FF2B5EF4-FFF2-40B4-BE49-F238E27FC236}">
                <a16:creationId xmlns:a16="http://schemas.microsoft.com/office/drawing/2014/main" id="{7D139364-B288-4ED9-9343-CDE02947DBEC}"/>
              </a:ext>
            </a:extLst>
          </p:cNvPr>
          <p:cNvSpPr/>
          <p:nvPr/>
        </p:nvSpPr>
        <p:spPr>
          <a:xfrm>
            <a:off x="466387" y="1142761"/>
            <a:ext cx="8022049" cy="1024505"/>
          </a:xfrm>
          <a:prstGeom prst="roundRect">
            <a:avLst>
              <a:gd name="adj" fmla="val 15517"/>
            </a:avLst>
          </a:prstGeom>
          <a:gradFill flip="none" rotWithShape="1">
            <a:gsLst>
              <a:gs pos="0">
                <a:schemeClr val="tx1">
                  <a:alpha val="5000"/>
                </a:schemeClr>
              </a:gs>
              <a:gs pos="50500">
                <a:schemeClr val="accent2">
                  <a:alpha val="5000"/>
                </a:schemeClr>
              </a:gs>
              <a:gs pos="100000">
                <a:schemeClr val="tx1">
                  <a:alpha val="5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12" name="Oval 20">
            <a:extLst>
              <a:ext uri="{FF2B5EF4-FFF2-40B4-BE49-F238E27FC236}">
                <a16:creationId xmlns:a16="http://schemas.microsoft.com/office/drawing/2014/main" id="{155C9E60-FD89-4AF0-92F0-E814B99E9E66}"/>
              </a:ext>
            </a:extLst>
          </p:cNvPr>
          <p:cNvSpPr/>
          <p:nvPr/>
        </p:nvSpPr>
        <p:spPr>
          <a:xfrm>
            <a:off x="655563" y="1399903"/>
            <a:ext cx="510221" cy="510221"/>
          </a:xfrm>
          <a:prstGeom prst="ellipse">
            <a:avLst/>
          </a:prstGeom>
          <a:gradFill>
            <a:gsLst>
              <a:gs pos="0">
                <a:schemeClr val="accent1"/>
              </a:gs>
              <a:gs pos="100000">
                <a:schemeClr val="accent2"/>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grpSp>
        <p:nvGrpSpPr>
          <p:cNvPr id="13" name="Group 21">
            <a:extLst>
              <a:ext uri="{FF2B5EF4-FFF2-40B4-BE49-F238E27FC236}">
                <a16:creationId xmlns:a16="http://schemas.microsoft.com/office/drawing/2014/main" id="{37DB244B-1D05-460D-8929-A561DA4C4235}"/>
              </a:ext>
            </a:extLst>
          </p:cNvPr>
          <p:cNvGrpSpPr/>
          <p:nvPr/>
        </p:nvGrpSpPr>
        <p:grpSpPr>
          <a:xfrm>
            <a:off x="1254652" y="1332588"/>
            <a:ext cx="7092153" cy="752029"/>
            <a:chOff x="1987550" y="4491298"/>
            <a:chExt cx="2024967" cy="1133828"/>
          </a:xfrm>
        </p:grpSpPr>
        <p:sp>
          <p:nvSpPr>
            <p:cNvPr id="14" name="TextBox 22">
              <a:extLst>
                <a:ext uri="{FF2B5EF4-FFF2-40B4-BE49-F238E27FC236}">
                  <a16:creationId xmlns:a16="http://schemas.microsoft.com/office/drawing/2014/main" id="{B2279372-AF3F-44D5-82EE-127B83476EF1}"/>
                </a:ext>
              </a:extLst>
            </p:cNvPr>
            <p:cNvSpPr txBox="1"/>
            <p:nvPr/>
          </p:nvSpPr>
          <p:spPr>
            <a:xfrm>
              <a:off x="1987550" y="4491298"/>
              <a:ext cx="1828800" cy="696048"/>
            </a:xfrm>
            <a:prstGeom prst="rect">
              <a:avLst/>
            </a:prstGeom>
            <a:noFill/>
          </p:spPr>
          <p:txBody>
            <a:bodyPr wrap="square" rtlCol="0">
              <a:spAutoFit/>
            </a:bodyPr>
            <a:lstStyle/>
            <a:p>
              <a:r>
                <a:rPr lang="es-MX" sz="2400" dirty="0">
                  <a:ea typeface="Verdana" panose="020B0604030504040204" pitchFamily="34" charset="0"/>
                  <a:cs typeface="Verdana" panose="020B0604030504040204" pitchFamily="34" charset="0"/>
                </a:rPr>
                <a:t>¿Que es </a:t>
              </a:r>
              <a:r>
                <a:rPr lang="es-MX" sz="2400" dirty="0" err="1">
                  <a:ea typeface="Verdana" panose="020B0604030504040204" pitchFamily="34" charset="0"/>
                  <a:cs typeface="Verdana" panose="020B0604030504040204" pitchFamily="34" charset="0"/>
                </a:rPr>
                <a:t>es</a:t>
              </a:r>
              <a:r>
                <a:rPr lang="es-MX" sz="2400" dirty="0">
                  <a:ea typeface="Verdana" panose="020B0604030504040204" pitchFamily="34" charset="0"/>
                  <a:cs typeface="Verdana" panose="020B0604030504040204" pitchFamily="34" charset="0"/>
                </a:rPr>
                <a:t> una rama o </a:t>
              </a:r>
              <a:r>
                <a:rPr lang="es-MX" sz="2400" dirty="0" err="1">
                  <a:ea typeface="Verdana" panose="020B0604030504040204" pitchFamily="34" charset="0"/>
                  <a:cs typeface="Verdana" panose="020B0604030504040204" pitchFamily="34" charset="0"/>
                </a:rPr>
                <a:t>branch</a:t>
              </a:r>
              <a:r>
                <a:rPr lang="es-MX" sz="2400" dirty="0">
                  <a:ea typeface="Verdana" panose="020B0604030504040204" pitchFamily="34" charset="0"/>
                  <a:cs typeface="Verdana" panose="020B0604030504040204" pitchFamily="34" charset="0"/>
                </a:rPr>
                <a:t>?</a:t>
              </a:r>
            </a:p>
          </p:txBody>
        </p:sp>
        <p:sp>
          <p:nvSpPr>
            <p:cNvPr id="15" name="TextBox 23">
              <a:extLst>
                <a:ext uri="{FF2B5EF4-FFF2-40B4-BE49-F238E27FC236}">
                  <a16:creationId xmlns:a16="http://schemas.microsoft.com/office/drawing/2014/main" id="{18847929-BA43-44C2-8497-9B0F0D775D21}"/>
                </a:ext>
              </a:extLst>
            </p:cNvPr>
            <p:cNvSpPr txBox="1"/>
            <p:nvPr/>
          </p:nvSpPr>
          <p:spPr>
            <a:xfrm>
              <a:off x="1987550" y="5068287"/>
              <a:ext cx="2024967" cy="556839"/>
            </a:xfrm>
            <a:prstGeom prst="rect">
              <a:avLst/>
            </a:prstGeom>
            <a:noFill/>
          </p:spPr>
          <p:txBody>
            <a:bodyPr wrap="square" rtlCol="0">
              <a:spAutoFit/>
            </a:bodyPr>
            <a:lstStyle/>
            <a:p>
              <a:r>
                <a:rPr lang="es-MX" sz="900" dirty="0">
                  <a:ea typeface="Verdana" panose="020B0604030504040204" pitchFamily="34" charset="0"/>
                  <a:cs typeface="Verdana" panose="020B0604030504040204" pitchFamily="34" charset="0"/>
                </a:rPr>
                <a:t>Es una versión del código del proyecto sobre el que estás trabajando. Estas ramas ayudan a mantener el orden en el control de versiones y manipular el código de forma segura.</a:t>
              </a:r>
              <a:endParaRPr lang="en-ID" sz="900" dirty="0"/>
            </a:p>
          </p:txBody>
        </p:sp>
      </p:grpSp>
      <p:graphicFrame>
        <p:nvGraphicFramePr>
          <p:cNvPr id="6" name="Tabla 6">
            <a:extLst>
              <a:ext uri="{FF2B5EF4-FFF2-40B4-BE49-F238E27FC236}">
                <a16:creationId xmlns:a16="http://schemas.microsoft.com/office/drawing/2014/main" id="{248FC20D-9A7E-4EBD-B29F-F8C52855AFAA}"/>
              </a:ext>
            </a:extLst>
          </p:cNvPr>
          <p:cNvGraphicFramePr>
            <a:graphicFrameLocks noGrp="1"/>
          </p:cNvGraphicFramePr>
          <p:nvPr/>
        </p:nvGraphicFramePr>
        <p:xfrm>
          <a:off x="466388" y="2279002"/>
          <a:ext cx="8022048" cy="2148840"/>
        </p:xfrm>
        <a:graphic>
          <a:graphicData uri="http://schemas.openxmlformats.org/drawingml/2006/table">
            <a:tbl>
              <a:tblPr firstRow="1" bandRow="1">
                <a:tableStyleId>{5C22544A-7EE6-4342-B048-85BDC9FD1C3A}</a:tableStyleId>
              </a:tblPr>
              <a:tblGrid>
                <a:gridCol w="2432087">
                  <a:extLst>
                    <a:ext uri="{9D8B030D-6E8A-4147-A177-3AD203B41FA5}">
                      <a16:colId xmlns:a16="http://schemas.microsoft.com/office/drawing/2014/main" val="1265253361"/>
                    </a:ext>
                  </a:extLst>
                </a:gridCol>
                <a:gridCol w="5589961">
                  <a:extLst>
                    <a:ext uri="{9D8B030D-6E8A-4147-A177-3AD203B41FA5}">
                      <a16:colId xmlns:a16="http://schemas.microsoft.com/office/drawing/2014/main" val="3389384195"/>
                    </a:ext>
                  </a:extLst>
                </a:gridCol>
              </a:tblGrid>
              <a:tr h="300103">
                <a:tc>
                  <a:txBody>
                    <a:bodyPr/>
                    <a:lstStyle/>
                    <a:p>
                      <a:r>
                        <a:rPr lang="es-MX" sz="1350" b="1" i="0" kern="1200" dirty="0">
                          <a:solidFill>
                            <a:schemeClr val="lt1"/>
                          </a:solidFill>
                          <a:effectLst/>
                          <a:latin typeface="+mn-lt"/>
                          <a:ea typeface="+mn-ea"/>
                          <a:cs typeface="+mn-cs"/>
                        </a:rPr>
                        <a:t>Ramas base de un proyecto en Git</a:t>
                      </a:r>
                      <a:endParaRPr lang="es-MX" b="1" dirty="0"/>
                    </a:p>
                  </a:txBody>
                  <a:tcPr/>
                </a:tc>
                <a:tc>
                  <a:txBody>
                    <a:bodyPr/>
                    <a:lstStyle/>
                    <a:p>
                      <a:r>
                        <a:rPr lang="es-MX" dirty="0"/>
                        <a:t>Descripción</a:t>
                      </a:r>
                    </a:p>
                  </a:txBody>
                  <a:tcPr/>
                </a:tc>
                <a:extLst>
                  <a:ext uri="{0D108BD9-81ED-4DB2-BD59-A6C34878D82A}">
                    <a16:rowId xmlns:a16="http://schemas.microsoft.com/office/drawing/2014/main" val="2761523386"/>
                  </a:ext>
                </a:extLst>
              </a:tr>
              <a:tr h="381949">
                <a:tc>
                  <a:txBody>
                    <a:bodyPr/>
                    <a:lstStyle/>
                    <a:p>
                      <a:r>
                        <a:rPr lang="es-MX" sz="900" b="0" i="0" u="none" strike="noStrike" kern="1200" dirty="0">
                          <a:solidFill>
                            <a:schemeClr val="dk1"/>
                          </a:solidFill>
                          <a:effectLst/>
                          <a:latin typeface="+mn-lt"/>
                          <a:ea typeface="+mn-ea"/>
                          <a:cs typeface="+mn-cs"/>
                        </a:rPr>
                        <a:t>Rama </a:t>
                      </a:r>
                      <a:r>
                        <a:rPr lang="es-MX" sz="900" b="0" i="0" u="none" strike="noStrike" kern="1200" dirty="0" err="1">
                          <a:solidFill>
                            <a:schemeClr val="dk1"/>
                          </a:solidFill>
                          <a:effectLst/>
                          <a:latin typeface="+mn-lt"/>
                          <a:ea typeface="+mn-ea"/>
                          <a:cs typeface="+mn-cs"/>
                        </a:rPr>
                        <a:t>main</a:t>
                      </a:r>
                      <a:r>
                        <a:rPr lang="es-MX" sz="900" b="0" i="0" u="none" strike="noStrike" kern="1200" dirty="0">
                          <a:solidFill>
                            <a:schemeClr val="dk1"/>
                          </a:solidFill>
                          <a:effectLst/>
                          <a:latin typeface="+mn-lt"/>
                          <a:ea typeface="+mn-ea"/>
                          <a:cs typeface="+mn-cs"/>
                        </a:rPr>
                        <a:t> (Master)</a:t>
                      </a:r>
                    </a:p>
                  </a:txBody>
                  <a:tcPr/>
                </a:tc>
                <a:tc>
                  <a:txBody>
                    <a:bodyPr/>
                    <a:lstStyle/>
                    <a:p>
                      <a:r>
                        <a:rPr lang="es-MX" sz="900" b="0" i="0" kern="1200" dirty="0">
                          <a:solidFill>
                            <a:schemeClr val="dk1"/>
                          </a:solidFill>
                          <a:effectLst/>
                          <a:latin typeface="+mn-lt"/>
                          <a:ea typeface="+mn-ea"/>
                          <a:cs typeface="+mn-cs"/>
                        </a:rPr>
                        <a:t>- Por defecto, el proyecto se crea en una rama llamada </a:t>
                      </a:r>
                      <a:r>
                        <a:rPr lang="es-MX" sz="900" b="0" i="0" kern="1200" dirty="0" err="1">
                          <a:solidFill>
                            <a:schemeClr val="dk1"/>
                          </a:solidFill>
                          <a:effectLst/>
                          <a:latin typeface="+mn-lt"/>
                          <a:ea typeface="+mn-ea"/>
                          <a:cs typeface="+mn-cs"/>
                        </a:rPr>
                        <a:t>Main</a:t>
                      </a:r>
                      <a:r>
                        <a:rPr lang="es-MX" sz="900" b="0" i="0" kern="1200" dirty="0">
                          <a:solidFill>
                            <a:schemeClr val="dk1"/>
                          </a:solidFill>
                          <a:effectLst/>
                          <a:latin typeface="+mn-lt"/>
                          <a:ea typeface="+mn-ea"/>
                          <a:cs typeface="+mn-cs"/>
                        </a:rPr>
                        <a:t> (anteriormente conocida como Master). </a:t>
                      </a:r>
                    </a:p>
                    <a:p>
                      <a:r>
                        <a:rPr lang="es-MX" sz="900" b="0" i="0" kern="1200" dirty="0">
                          <a:solidFill>
                            <a:schemeClr val="dk1"/>
                          </a:solidFill>
                          <a:effectLst/>
                          <a:latin typeface="+mn-lt"/>
                          <a:ea typeface="+mn-ea"/>
                          <a:cs typeface="+mn-cs"/>
                        </a:rPr>
                        <a:t>- Cada vez que añades código y guardas los cambios, estás haciendo un </a:t>
                      </a:r>
                      <a:r>
                        <a:rPr lang="es-MX" sz="900" b="0" i="0" kern="1200" dirty="0" err="1">
                          <a:solidFill>
                            <a:schemeClr val="dk1"/>
                          </a:solidFill>
                          <a:effectLst/>
                          <a:latin typeface="+mn-lt"/>
                          <a:ea typeface="+mn-ea"/>
                          <a:cs typeface="+mn-cs"/>
                        </a:rPr>
                        <a:t>commit</a:t>
                      </a:r>
                      <a:r>
                        <a:rPr lang="es-MX" sz="900" b="0" i="0" kern="1200" dirty="0">
                          <a:solidFill>
                            <a:schemeClr val="dk1"/>
                          </a:solidFill>
                          <a:effectLst/>
                          <a:latin typeface="+mn-lt"/>
                          <a:ea typeface="+mn-ea"/>
                          <a:cs typeface="+mn-cs"/>
                        </a:rPr>
                        <a:t>, que es añadir el nuevo código a una rama.</a:t>
                      </a:r>
                      <a:endParaRPr lang="es-MX" sz="900" b="0" dirty="0"/>
                    </a:p>
                  </a:txBody>
                  <a:tcPr/>
                </a:tc>
                <a:extLst>
                  <a:ext uri="{0D108BD9-81ED-4DB2-BD59-A6C34878D82A}">
                    <a16:rowId xmlns:a16="http://schemas.microsoft.com/office/drawing/2014/main" val="3732187435"/>
                  </a:ext>
                </a:extLst>
              </a:tr>
              <a:tr h="300103">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s-MX" sz="900" b="0" i="0" u="none" strike="noStrike" kern="1200" dirty="0">
                          <a:solidFill>
                            <a:schemeClr val="dk1"/>
                          </a:solidFill>
                          <a:effectLst/>
                          <a:latin typeface="+mn-lt"/>
                          <a:ea typeface="+mn-ea"/>
                          <a:cs typeface="+mn-cs"/>
                        </a:rPr>
                        <a:t>Rama </a:t>
                      </a:r>
                      <a:r>
                        <a:rPr lang="es-MX" sz="900" b="0" i="0" u="none" strike="noStrike" kern="1200" dirty="0" err="1">
                          <a:solidFill>
                            <a:schemeClr val="dk1"/>
                          </a:solidFill>
                          <a:effectLst/>
                          <a:latin typeface="+mn-lt"/>
                          <a:ea typeface="+mn-ea"/>
                          <a:cs typeface="+mn-cs"/>
                        </a:rPr>
                        <a:t>development</a:t>
                      </a:r>
                      <a:endParaRPr lang="es-MX" sz="900" b="0" i="0" u="none" strike="noStrike" kern="1200" dirty="0">
                        <a:solidFill>
                          <a:schemeClr val="dk1"/>
                        </a:solidFill>
                        <a:effectLst/>
                        <a:latin typeface="+mn-lt"/>
                        <a:ea typeface="+mn-ea"/>
                        <a:cs typeface="+mn-cs"/>
                      </a:endParaRPr>
                    </a:p>
                    <a:p>
                      <a:endParaRPr lang="es-MX" sz="900" b="0" dirty="0"/>
                    </a:p>
                  </a:txBody>
                  <a:tcPr/>
                </a:tc>
                <a:tc>
                  <a:txBody>
                    <a:bodyPr/>
                    <a:lstStyle/>
                    <a:p>
                      <a:r>
                        <a:rPr lang="es-MX" sz="900" b="0" i="0" kern="1200" dirty="0">
                          <a:solidFill>
                            <a:schemeClr val="dk1"/>
                          </a:solidFill>
                          <a:effectLst/>
                          <a:latin typeface="+mn-lt"/>
                          <a:ea typeface="+mn-ea"/>
                          <a:cs typeface="+mn-cs"/>
                        </a:rPr>
                        <a:t>Son ramas experimentales (usualmente llamadas </a:t>
                      </a:r>
                      <a:r>
                        <a:rPr lang="es-MX" sz="900" b="0" i="0" kern="1200" dirty="0" err="1">
                          <a:solidFill>
                            <a:schemeClr val="dk1"/>
                          </a:solidFill>
                          <a:effectLst/>
                          <a:latin typeface="+mn-lt"/>
                          <a:ea typeface="+mn-ea"/>
                          <a:cs typeface="+mn-cs"/>
                        </a:rPr>
                        <a:t>development</a:t>
                      </a:r>
                      <a:r>
                        <a:rPr lang="es-MX" sz="900" b="0" i="0" kern="1200" dirty="0">
                          <a:solidFill>
                            <a:schemeClr val="dk1"/>
                          </a:solidFill>
                          <a:effectLst/>
                          <a:latin typeface="+mn-lt"/>
                          <a:ea typeface="+mn-ea"/>
                          <a:cs typeface="+mn-cs"/>
                        </a:rPr>
                        <a:t>), que están basadas en alguna rama </a:t>
                      </a:r>
                      <a:r>
                        <a:rPr lang="es-MX" sz="900" b="0" i="0" kern="1200" dirty="0" err="1">
                          <a:solidFill>
                            <a:schemeClr val="dk1"/>
                          </a:solidFill>
                          <a:effectLst/>
                          <a:latin typeface="+mn-lt"/>
                          <a:ea typeface="+mn-ea"/>
                          <a:cs typeface="+mn-cs"/>
                        </a:rPr>
                        <a:t>main</a:t>
                      </a:r>
                      <a:r>
                        <a:rPr lang="es-MX" sz="900" b="0" i="0" kern="1200" dirty="0">
                          <a:solidFill>
                            <a:schemeClr val="dk1"/>
                          </a:solidFill>
                          <a:effectLst/>
                          <a:latin typeface="+mn-lt"/>
                          <a:ea typeface="+mn-ea"/>
                          <a:cs typeface="+mn-cs"/>
                        </a:rPr>
                        <a:t>, pero sobre las cuales puedes hacer cambios a tu gusto sin necesidad de afectar directamente al código principal</a:t>
                      </a:r>
                      <a:endParaRPr lang="es-MX" sz="900" b="0" dirty="0"/>
                    </a:p>
                  </a:txBody>
                  <a:tcPr/>
                </a:tc>
                <a:extLst>
                  <a:ext uri="{0D108BD9-81ED-4DB2-BD59-A6C34878D82A}">
                    <a16:rowId xmlns:a16="http://schemas.microsoft.com/office/drawing/2014/main" val="2479717168"/>
                  </a:ext>
                </a:extLst>
              </a:tr>
              <a:tr h="221288">
                <a:tc>
                  <a:txBody>
                    <a:bodyPr/>
                    <a:lstStyle/>
                    <a:p>
                      <a:r>
                        <a:rPr lang="es-MX" sz="900" b="0" i="0" u="none" strike="noStrike" kern="1200" dirty="0">
                          <a:solidFill>
                            <a:schemeClr val="dk1"/>
                          </a:solidFill>
                          <a:effectLst/>
                          <a:latin typeface="+mn-lt"/>
                          <a:ea typeface="+mn-ea"/>
                          <a:cs typeface="+mn-cs"/>
                        </a:rPr>
                        <a:t>Rama </a:t>
                      </a:r>
                      <a:r>
                        <a:rPr lang="es-MX" sz="900" b="0" i="0" u="none" strike="noStrike" kern="1200" dirty="0" err="1">
                          <a:solidFill>
                            <a:schemeClr val="dk1"/>
                          </a:solidFill>
                          <a:effectLst/>
                          <a:latin typeface="+mn-lt"/>
                          <a:ea typeface="+mn-ea"/>
                          <a:cs typeface="+mn-cs"/>
                        </a:rPr>
                        <a:t>hotfix</a:t>
                      </a:r>
                      <a:endParaRPr lang="es-MX" sz="900" b="0" i="0" u="none" strike="noStrike" kern="1200" dirty="0">
                        <a:solidFill>
                          <a:schemeClr val="dk1"/>
                        </a:solidFill>
                        <a:effectLst/>
                        <a:latin typeface="+mn-lt"/>
                        <a:ea typeface="+mn-ea"/>
                        <a:cs typeface="+mn-cs"/>
                      </a:endParaRPr>
                    </a:p>
                  </a:txBody>
                  <a:tcPr/>
                </a:tc>
                <a:tc>
                  <a:txBody>
                    <a:bodyPr/>
                    <a:lstStyle/>
                    <a:p>
                      <a:r>
                        <a:rPr lang="es-MX" sz="900" b="0" i="0" kern="1200" dirty="0">
                          <a:solidFill>
                            <a:schemeClr val="dk1"/>
                          </a:solidFill>
                          <a:effectLst/>
                          <a:latin typeface="+mn-lt"/>
                          <a:ea typeface="+mn-ea"/>
                          <a:cs typeface="+mn-cs"/>
                        </a:rPr>
                        <a:t>Si encuentras un bug o error de código en la rama </a:t>
                      </a:r>
                      <a:r>
                        <a:rPr lang="es-MX" sz="900" b="0" i="0" kern="1200" dirty="0" err="1">
                          <a:solidFill>
                            <a:schemeClr val="dk1"/>
                          </a:solidFill>
                          <a:effectLst/>
                          <a:latin typeface="+mn-lt"/>
                          <a:ea typeface="+mn-ea"/>
                          <a:cs typeface="+mn-cs"/>
                        </a:rPr>
                        <a:t>Main</a:t>
                      </a:r>
                      <a:r>
                        <a:rPr lang="es-MX" sz="900" b="0" i="0" kern="1200" dirty="0">
                          <a:solidFill>
                            <a:schemeClr val="dk1"/>
                          </a:solidFill>
                          <a:effectLst/>
                          <a:latin typeface="+mn-lt"/>
                          <a:ea typeface="+mn-ea"/>
                          <a:cs typeface="+mn-cs"/>
                        </a:rPr>
                        <a:t> (que afecta al proyecto en producción), tendrás que crear una nueva rama (que usualmente se llaman bug </a:t>
                      </a:r>
                      <a:r>
                        <a:rPr lang="es-MX" sz="900" b="0" i="0" kern="1200" dirty="0" err="1">
                          <a:solidFill>
                            <a:schemeClr val="dk1"/>
                          </a:solidFill>
                          <a:effectLst/>
                          <a:latin typeface="+mn-lt"/>
                          <a:ea typeface="+mn-ea"/>
                          <a:cs typeface="+mn-cs"/>
                        </a:rPr>
                        <a:t>fixing</a:t>
                      </a:r>
                      <a:r>
                        <a:rPr lang="es-MX" sz="900" b="0" i="0" kern="1200" dirty="0">
                          <a:solidFill>
                            <a:schemeClr val="dk1"/>
                          </a:solidFill>
                          <a:effectLst/>
                          <a:latin typeface="+mn-lt"/>
                          <a:ea typeface="+mn-ea"/>
                          <a:cs typeface="+mn-cs"/>
                        </a:rPr>
                        <a:t> o </a:t>
                      </a:r>
                      <a:r>
                        <a:rPr lang="es-MX" sz="900" b="0" i="0" kern="1200" dirty="0" err="1">
                          <a:solidFill>
                            <a:schemeClr val="dk1"/>
                          </a:solidFill>
                          <a:effectLst/>
                          <a:latin typeface="+mn-lt"/>
                          <a:ea typeface="+mn-ea"/>
                          <a:cs typeface="+mn-cs"/>
                        </a:rPr>
                        <a:t>hot</a:t>
                      </a:r>
                      <a:r>
                        <a:rPr lang="es-MX" sz="900" b="0" i="0" kern="1200" dirty="0">
                          <a:solidFill>
                            <a:schemeClr val="dk1"/>
                          </a:solidFill>
                          <a:effectLst/>
                          <a:latin typeface="+mn-lt"/>
                          <a:ea typeface="+mn-ea"/>
                          <a:cs typeface="+mn-cs"/>
                        </a:rPr>
                        <a:t> </a:t>
                      </a:r>
                      <a:r>
                        <a:rPr lang="es-MX" sz="900" b="0" i="0" kern="1200" dirty="0" err="1">
                          <a:solidFill>
                            <a:schemeClr val="dk1"/>
                          </a:solidFill>
                          <a:effectLst/>
                          <a:latin typeface="+mn-lt"/>
                          <a:ea typeface="+mn-ea"/>
                          <a:cs typeface="+mn-cs"/>
                        </a:rPr>
                        <a:t>fix</a:t>
                      </a:r>
                      <a:r>
                        <a:rPr lang="es-MX" sz="900" b="0" i="0" kern="1200" dirty="0">
                          <a:solidFill>
                            <a:schemeClr val="dk1"/>
                          </a:solidFill>
                          <a:effectLst/>
                          <a:latin typeface="+mn-lt"/>
                          <a:ea typeface="+mn-ea"/>
                          <a:cs typeface="+mn-cs"/>
                        </a:rPr>
                        <a:t>) para hacer los arreglos necesarios</a:t>
                      </a:r>
                      <a:endParaRPr lang="es-MX" sz="900" b="0" dirty="0"/>
                    </a:p>
                  </a:txBody>
                  <a:tcPr/>
                </a:tc>
                <a:extLst>
                  <a:ext uri="{0D108BD9-81ED-4DB2-BD59-A6C34878D82A}">
                    <a16:rowId xmlns:a16="http://schemas.microsoft.com/office/drawing/2014/main" val="1523822212"/>
                  </a:ext>
                </a:extLst>
              </a:tr>
            </a:tbl>
          </a:graphicData>
        </a:graphic>
      </p:graphicFrame>
    </p:spTree>
    <p:extLst>
      <p:ext uri="{BB962C8B-B14F-4D97-AF65-F5344CB8AC3E}">
        <p14:creationId xmlns:p14="http://schemas.microsoft.com/office/powerpoint/2010/main" val="261320403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A6C636BB-E7D0-FE55-C2F5-FC57A88AB9F0}"/>
              </a:ext>
            </a:extLst>
          </p:cNvPr>
          <p:cNvSpPr txBox="1">
            <a:spLocks/>
          </p:cNvSpPr>
          <p:nvPr/>
        </p:nvSpPr>
        <p:spPr>
          <a:xfrm>
            <a:off x="666975" y="550472"/>
            <a:ext cx="7905800" cy="577171"/>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3200" dirty="0"/>
              <a:t>Trabajo con ramas (</a:t>
            </a:r>
            <a:r>
              <a:rPr lang="es-MX" sz="3200" dirty="0" err="1"/>
              <a:t>branches</a:t>
            </a:r>
            <a:r>
              <a:rPr lang="es-MX" sz="3200" dirty="0"/>
              <a:t>)</a:t>
            </a:r>
          </a:p>
        </p:txBody>
      </p:sp>
      <p:sp>
        <p:nvSpPr>
          <p:cNvPr id="9" name="Slide Number Placeholder 5">
            <a:extLst>
              <a:ext uri="{FF2B5EF4-FFF2-40B4-BE49-F238E27FC236}">
                <a16:creationId xmlns:a16="http://schemas.microsoft.com/office/drawing/2014/main" id="{7AA4D592-1C24-9678-675B-5592FEE70AED}"/>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27</a:t>
            </a:fld>
            <a:endParaRPr lang="es-MX" sz="700">
              <a:solidFill>
                <a:schemeClr val="tx1"/>
              </a:solidFill>
              <a:latin typeface="+mn-lt"/>
            </a:endParaRPr>
          </a:p>
        </p:txBody>
      </p:sp>
      <p:sp>
        <p:nvSpPr>
          <p:cNvPr id="10" name="Date Placeholder 3">
            <a:extLst>
              <a:ext uri="{FF2B5EF4-FFF2-40B4-BE49-F238E27FC236}">
                <a16:creationId xmlns:a16="http://schemas.microsoft.com/office/drawing/2014/main" id="{01B32BC8-1722-304F-0282-503A51C392A4}"/>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16" name="Footer Placeholder 4">
            <a:extLst>
              <a:ext uri="{FF2B5EF4-FFF2-40B4-BE49-F238E27FC236}">
                <a16:creationId xmlns:a16="http://schemas.microsoft.com/office/drawing/2014/main" id="{EAE13ECB-7911-B012-DA67-027E1A7CF8DF}"/>
              </a:ext>
            </a:extLst>
          </p:cNvPr>
          <p:cNvSpPr txBox="1">
            <a:spLocks/>
          </p:cNvSpPr>
          <p:nvPr/>
        </p:nvSpPr>
        <p:spPr>
          <a:xfrm>
            <a:off x="5342661" y="4624496"/>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solidFill>
                <a:latin typeface="+mn-lt"/>
              </a:rPr>
              <a:t>GIT</a:t>
            </a:r>
          </a:p>
        </p:txBody>
      </p:sp>
      <p:sp>
        <p:nvSpPr>
          <p:cNvPr id="14" name="Title 1">
            <a:extLst>
              <a:ext uri="{FF2B5EF4-FFF2-40B4-BE49-F238E27FC236}">
                <a16:creationId xmlns:a16="http://schemas.microsoft.com/office/drawing/2014/main" id="{009DBB2C-F177-4BF7-B254-34CED2CD8638}"/>
              </a:ext>
            </a:extLst>
          </p:cNvPr>
          <p:cNvSpPr txBox="1">
            <a:spLocks/>
          </p:cNvSpPr>
          <p:nvPr/>
        </p:nvSpPr>
        <p:spPr>
          <a:xfrm>
            <a:off x="1087574" y="1738819"/>
            <a:ext cx="7485199" cy="366767"/>
          </a:xfrm>
          <a:prstGeom prst="rect">
            <a:avLst/>
          </a:prstGeom>
        </p:spPr>
        <p:txBody>
          <a:bodyPr wrap="square" lIns="0" tIns="0" rIns="0" bIns="0" anchor="t">
            <a:spAutoFit/>
          </a:bodyPr>
          <a:lstStyle>
            <a:lvl1pPr algn="ctr" defTabSz="1828800" rtl="0" eaLnBrk="1" latinLnBrk="0" hangingPunct="1">
              <a:lnSpc>
                <a:spcPct val="100000"/>
              </a:lnSpc>
              <a:spcBef>
                <a:spcPct val="0"/>
              </a:spcBef>
              <a:buNone/>
              <a:defRPr sz="7400" b="0" kern="1200" cap="none" spc="100" baseline="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spcAft>
                <a:spcPts val="675"/>
              </a:spcAft>
            </a:pPr>
            <a:r>
              <a:rPr lang="es-MX" sz="1000" spc="0" dirty="0">
                <a:solidFill>
                  <a:srgbClr val="963CBE"/>
                </a:solidFill>
                <a:latin typeface="+mn-lt"/>
                <a:ea typeface="Vita Std ExLt" pitchFamily="2" charset="77"/>
              </a:rPr>
              <a:t>Crear y cambiar a una nueva rama</a:t>
            </a:r>
          </a:p>
          <a:p>
            <a:pPr algn="l">
              <a:spcAft>
                <a:spcPts val="675"/>
              </a:spcAft>
            </a:pPr>
            <a:r>
              <a:rPr lang="es-MX" sz="800" spc="0" dirty="0" err="1">
                <a:solidFill>
                  <a:schemeClr val="bg1">
                    <a:lumMod val="50000"/>
                  </a:schemeClr>
                </a:solidFill>
                <a:latin typeface="+mn-lt"/>
                <a:ea typeface="Verdana" panose="020B0604030504040204" pitchFamily="34" charset="0"/>
                <a:cs typeface="Verdana" panose="020B0604030504040204" pitchFamily="34" charset="0"/>
              </a:rPr>
              <a:t>git</a:t>
            </a:r>
            <a:r>
              <a:rPr lang="es-MX" sz="800" spc="0" dirty="0">
                <a:solidFill>
                  <a:schemeClr val="bg1">
                    <a:lumMod val="50000"/>
                  </a:schemeClr>
                </a:solidFill>
                <a:latin typeface="+mn-lt"/>
                <a:ea typeface="Verdana" panose="020B0604030504040204" pitchFamily="34" charset="0"/>
                <a:cs typeface="Verdana" panose="020B0604030504040204" pitchFamily="34" charset="0"/>
              </a:rPr>
              <a:t>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checkout</a:t>
            </a:r>
            <a:r>
              <a:rPr lang="es-MX" sz="800" spc="0" dirty="0">
                <a:solidFill>
                  <a:schemeClr val="bg1">
                    <a:lumMod val="50000"/>
                  </a:schemeClr>
                </a:solidFill>
                <a:latin typeface="+mn-lt"/>
                <a:ea typeface="Verdana" panose="020B0604030504040204" pitchFamily="34" charset="0"/>
                <a:cs typeface="Verdana" panose="020B0604030504040204" pitchFamily="34" charset="0"/>
              </a:rPr>
              <a:t> -b nombre-de-la-rama (crea y se mueve a ella).</a:t>
            </a:r>
            <a:r>
              <a:rPr lang="es-CO" sz="800" spc="0" dirty="0">
                <a:solidFill>
                  <a:srgbClr val="FF832A"/>
                </a:solidFill>
                <a:latin typeface="+mn-lt"/>
                <a:ea typeface="Verdana" panose="020B0604030504040204" pitchFamily="34" charset="0"/>
                <a:cs typeface="Verdana" panose="020B0604030504040204" pitchFamily="34" charset="0"/>
              </a:rPr>
              <a:t> </a:t>
            </a:r>
          </a:p>
        </p:txBody>
      </p:sp>
      <p:sp>
        <p:nvSpPr>
          <p:cNvPr id="21" name="Title 1">
            <a:extLst>
              <a:ext uri="{FF2B5EF4-FFF2-40B4-BE49-F238E27FC236}">
                <a16:creationId xmlns:a16="http://schemas.microsoft.com/office/drawing/2014/main" id="{1F8CA232-820F-48FE-B813-6032CAE4B0DC}"/>
              </a:ext>
            </a:extLst>
          </p:cNvPr>
          <p:cNvSpPr txBox="1">
            <a:spLocks/>
          </p:cNvSpPr>
          <p:nvPr/>
        </p:nvSpPr>
        <p:spPr>
          <a:xfrm>
            <a:off x="1087575" y="2256860"/>
            <a:ext cx="7485200" cy="366767"/>
          </a:xfrm>
          <a:prstGeom prst="rect">
            <a:avLst/>
          </a:prstGeom>
        </p:spPr>
        <p:txBody>
          <a:bodyPr wrap="square" lIns="0" tIns="0" rIns="0" bIns="0" anchor="t">
            <a:spAutoFit/>
          </a:bodyPr>
          <a:lstStyle>
            <a:lvl1pPr algn="ctr" defTabSz="1828800" rtl="0" eaLnBrk="1" latinLnBrk="0" hangingPunct="1">
              <a:lnSpc>
                <a:spcPct val="100000"/>
              </a:lnSpc>
              <a:spcBef>
                <a:spcPct val="0"/>
              </a:spcBef>
              <a:buNone/>
              <a:defRPr sz="7400" b="0" kern="1200" cap="none" spc="100" baseline="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spcAft>
                <a:spcPts val="675"/>
              </a:spcAft>
            </a:pPr>
            <a:r>
              <a:rPr lang="es-MX" sz="1000" spc="0" dirty="0">
                <a:solidFill>
                  <a:srgbClr val="963CBE"/>
                </a:solidFill>
                <a:latin typeface="+mn-lt"/>
                <a:ea typeface="Vita Std ExLt" pitchFamily="2" charset="77"/>
              </a:rPr>
              <a:t>Listar ramas</a:t>
            </a:r>
          </a:p>
          <a:p>
            <a:pPr algn="l">
              <a:spcAft>
                <a:spcPts val="675"/>
              </a:spcAft>
            </a:pPr>
            <a:r>
              <a:rPr lang="es-MX" sz="800" spc="0" dirty="0" err="1">
                <a:solidFill>
                  <a:schemeClr val="bg1">
                    <a:lumMod val="50000"/>
                  </a:schemeClr>
                </a:solidFill>
                <a:latin typeface="+mn-lt"/>
                <a:ea typeface="Verdana" panose="020B0604030504040204" pitchFamily="34" charset="0"/>
                <a:cs typeface="Verdana" panose="020B0604030504040204" pitchFamily="34" charset="0"/>
              </a:rPr>
              <a:t>git</a:t>
            </a:r>
            <a:r>
              <a:rPr lang="es-MX" sz="800" spc="0" dirty="0">
                <a:solidFill>
                  <a:schemeClr val="bg1">
                    <a:lumMod val="50000"/>
                  </a:schemeClr>
                </a:solidFill>
                <a:latin typeface="+mn-lt"/>
                <a:ea typeface="Verdana" panose="020B0604030504040204" pitchFamily="34" charset="0"/>
                <a:cs typeface="Verdana" panose="020B0604030504040204" pitchFamily="34" charset="0"/>
              </a:rPr>
              <a:t>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branch</a:t>
            </a:r>
            <a:r>
              <a:rPr lang="es-MX" sz="800" spc="0" dirty="0">
                <a:solidFill>
                  <a:schemeClr val="bg1">
                    <a:lumMod val="50000"/>
                  </a:schemeClr>
                </a:solidFill>
                <a:latin typeface="+mn-lt"/>
                <a:ea typeface="Verdana" panose="020B0604030504040204" pitchFamily="34" charset="0"/>
                <a:cs typeface="Verdana" panose="020B0604030504040204" pitchFamily="34" charset="0"/>
              </a:rPr>
              <a:t> (muestra todas las ramas locales y la actual con un asterisco).</a:t>
            </a:r>
            <a:endParaRPr lang="es-CO" sz="800" spc="0" dirty="0">
              <a:solidFill>
                <a:srgbClr val="FF832A"/>
              </a:solidFill>
              <a:latin typeface="+mn-lt"/>
              <a:ea typeface="Verdana" panose="020B0604030504040204" pitchFamily="34" charset="0"/>
              <a:cs typeface="Verdana" panose="020B0604030504040204" pitchFamily="34" charset="0"/>
            </a:endParaRPr>
          </a:p>
        </p:txBody>
      </p:sp>
      <p:sp>
        <p:nvSpPr>
          <p:cNvPr id="23" name="Title 1">
            <a:extLst>
              <a:ext uri="{FF2B5EF4-FFF2-40B4-BE49-F238E27FC236}">
                <a16:creationId xmlns:a16="http://schemas.microsoft.com/office/drawing/2014/main" id="{E108037F-A960-42FC-8F81-64255F6C3F08}"/>
              </a:ext>
            </a:extLst>
          </p:cNvPr>
          <p:cNvSpPr txBox="1">
            <a:spLocks/>
          </p:cNvSpPr>
          <p:nvPr/>
        </p:nvSpPr>
        <p:spPr>
          <a:xfrm>
            <a:off x="1087575" y="2756166"/>
            <a:ext cx="7485198" cy="366767"/>
          </a:xfrm>
          <a:prstGeom prst="rect">
            <a:avLst/>
          </a:prstGeom>
        </p:spPr>
        <p:txBody>
          <a:bodyPr wrap="square" lIns="0" tIns="0" rIns="0" bIns="0" anchor="t">
            <a:spAutoFit/>
          </a:bodyPr>
          <a:lstStyle>
            <a:lvl1pPr algn="ctr" defTabSz="1828800" rtl="0" eaLnBrk="1" latinLnBrk="0" hangingPunct="1">
              <a:lnSpc>
                <a:spcPct val="100000"/>
              </a:lnSpc>
              <a:spcBef>
                <a:spcPct val="0"/>
              </a:spcBef>
              <a:buNone/>
              <a:defRPr sz="7400" b="0" kern="1200" cap="none" spc="100" baseline="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spcAft>
                <a:spcPts val="675"/>
              </a:spcAft>
            </a:pPr>
            <a:r>
              <a:rPr lang="es-MX" sz="1000" spc="0" dirty="0">
                <a:solidFill>
                  <a:srgbClr val="963CBE"/>
                </a:solidFill>
                <a:latin typeface="+mn-lt"/>
                <a:ea typeface="Vita Std ExLt" pitchFamily="2" charset="77"/>
              </a:rPr>
              <a:t>Cambiar de rama</a:t>
            </a:r>
          </a:p>
          <a:p>
            <a:pPr algn="l">
              <a:spcAft>
                <a:spcPts val="675"/>
              </a:spcAft>
            </a:pPr>
            <a:r>
              <a:rPr lang="es-MX" sz="800" spc="0" dirty="0" err="1">
                <a:solidFill>
                  <a:schemeClr val="bg1">
                    <a:lumMod val="50000"/>
                  </a:schemeClr>
                </a:solidFill>
                <a:latin typeface="+mn-lt"/>
                <a:ea typeface="Verdana" panose="020B0604030504040204" pitchFamily="34" charset="0"/>
                <a:cs typeface="Verdana" panose="020B0604030504040204" pitchFamily="34" charset="0"/>
              </a:rPr>
              <a:t>git</a:t>
            </a:r>
            <a:r>
              <a:rPr lang="es-MX" sz="800" spc="0" dirty="0">
                <a:solidFill>
                  <a:schemeClr val="bg1">
                    <a:lumMod val="50000"/>
                  </a:schemeClr>
                </a:solidFill>
                <a:latin typeface="+mn-lt"/>
                <a:ea typeface="Verdana" panose="020B0604030504040204" pitchFamily="34" charset="0"/>
                <a:cs typeface="Verdana" panose="020B0604030504040204" pitchFamily="34" charset="0"/>
              </a:rPr>
              <a:t>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checkout</a:t>
            </a:r>
            <a:r>
              <a:rPr lang="es-MX" sz="800" spc="0" dirty="0">
                <a:solidFill>
                  <a:schemeClr val="bg1">
                    <a:lumMod val="50000"/>
                  </a:schemeClr>
                </a:solidFill>
                <a:latin typeface="+mn-lt"/>
                <a:ea typeface="Verdana" panose="020B0604030504040204" pitchFamily="34" charset="0"/>
                <a:cs typeface="Verdana" panose="020B0604030504040204" pitchFamily="34" charset="0"/>
              </a:rPr>
              <a:t> nombre-de-la-rama.</a:t>
            </a:r>
            <a:r>
              <a:rPr lang="es-CO" sz="800" spc="0" dirty="0">
                <a:solidFill>
                  <a:srgbClr val="FF832A"/>
                </a:solidFill>
                <a:latin typeface="+mn-lt"/>
                <a:ea typeface="Verdana" panose="020B0604030504040204" pitchFamily="34" charset="0"/>
                <a:cs typeface="Verdana" panose="020B0604030504040204" pitchFamily="34" charset="0"/>
              </a:rPr>
              <a:t> </a:t>
            </a:r>
          </a:p>
        </p:txBody>
      </p:sp>
      <p:sp>
        <p:nvSpPr>
          <p:cNvPr id="24" name="Title 1">
            <a:extLst>
              <a:ext uri="{FF2B5EF4-FFF2-40B4-BE49-F238E27FC236}">
                <a16:creationId xmlns:a16="http://schemas.microsoft.com/office/drawing/2014/main" id="{D01B6076-DF6C-4B00-859C-BD632C66A043}"/>
              </a:ext>
            </a:extLst>
          </p:cNvPr>
          <p:cNvSpPr txBox="1">
            <a:spLocks/>
          </p:cNvSpPr>
          <p:nvPr/>
        </p:nvSpPr>
        <p:spPr>
          <a:xfrm>
            <a:off x="1087575" y="3278567"/>
            <a:ext cx="7448083" cy="367986"/>
          </a:xfrm>
          <a:prstGeom prst="rect">
            <a:avLst/>
          </a:prstGeom>
        </p:spPr>
        <p:txBody>
          <a:bodyPr wrap="square" lIns="0" tIns="0" rIns="0" bIns="0" anchor="t">
            <a:spAutoFit/>
          </a:bodyPr>
          <a:lstStyle>
            <a:lvl1pPr algn="ctr" defTabSz="1828800" rtl="0" eaLnBrk="1" latinLnBrk="0" hangingPunct="1">
              <a:lnSpc>
                <a:spcPct val="100000"/>
              </a:lnSpc>
              <a:spcBef>
                <a:spcPct val="0"/>
              </a:spcBef>
              <a:buNone/>
              <a:defRPr sz="7400" b="0" kern="1200" cap="none" spc="100" baseline="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spcAft>
                <a:spcPts val="675"/>
              </a:spcAft>
            </a:pPr>
            <a:r>
              <a:rPr lang="es-MX" sz="1000" spc="0" dirty="0">
                <a:solidFill>
                  <a:srgbClr val="963CBE"/>
                </a:solidFill>
                <a:latin typeface="+mn-lt"/>
                <a:ea typeface="Vita Std ExLt" pitchFamily="2" charset="77"/>
              </a:rPr>
              <a:t>Fusionar ramas</a:t>
            </a:r>
            <a:endParaRPr lang="en-US" sz="1000" spc="0" dirty="0">
              <a:solidFill>
                <a:srgbClr val="963CBE"/>
              </a:solidFill>
              <a:latin typeface="+mn-lt"/>
              <a:ea typeface="Vita Std ExLt" pitchFamily="2" charset="77"/>
              <a:cs typeface="Verdana" panose="020B0604030504040204" pitchFamily="34" charset="0"/>
            </a:endParaRPr>
          </a:p>
          <a:p>
            <a:pPr marL="0" indent="0" algn="l">
              <a:lnSpc>
                <a:spcPct val="110000"/>
              </a:lnSpc>
              <a:buNone/>
            </a:pPr>
            <a:r>
              <a:rPr lang="es-MX" sz="800" spc="0" dirty="0">
                <a:solidFill>
                  <a:schemeClr val="bg1">
                    <a:lumMod val="50000"/>
                  </a:schemeClr>
                </a:solidFill>
                <a:latin typeface="+mn-lt"/>
                <a:ea typeface="Verdana" panose="020B0604030504040204" pitchFamily="34" charset="0"/>
                <a:cs typeface="Verdana" panose="020B0604030504040204" pitchFamily="34" charset="0"/>
              </a:rPr>
              <a:t>Para incorporar cambios, vuelva a la rama principal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git</a:t>
            </a:r>
            <a:r>
              <a:rPr lang="es-MX" sz="800" spc="0" dirty="0">
                <a:solidFill>
                  <a:schemeClr val="bg1">
                    <a:lumMod val="50000"/>
                  </a:schemeClr>
                </a:solidFill>
                <a:latin typeface="+mn-lt"/>
                <a:ea typeface="Verdana" panose="020B0604030504040204" pitchFamily="34" charset="0"/>
                <a:cs typeface="Verdana" panose="020B0604030504040204" pitchFamily="34" charset="0"/>
              </a:rPr>
              <a:t>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checkout</a:t>
            </a:r>
            <a:r>
              <a:rPr lang="es-MX" sz="800" spc="0" dirty="0">
                <a:solidFill>
                  <a:schemeClr val="bg1">
                    <a:lumMod val="50000"/>
                  </a:schemeClr>
                </a:solidFill>
                <a:latin typeface="+mn-lt"/>
                <a:ea typeface="Verdana" panose="020B0604030504040204" pitchFamily="34" charset="0"/>
                <a:cs typeface="Verdana" panose="020B0604030504040204" pitchFamily="34" charset="0"/>
              </a:rPr>
              <a:t>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main</a:t>
            </a:r>
            <a:r>
              <a:rPr lang="es-MX" sz="800" spc="0" dirty="0">
                <a:solidFill>
                  <a:schemeClr val="bg1">
                    <a:lumMod val="50000"/>
                  </a:schemeClr>
                </a:solidFill>
                <a:latin typeface="+mn-lt"/>
                <a:ea typeface="Verdana" panose="020B0604030504040204" pitchFamily="34" charset="0"/>
                <a:cs typeface="Verdana" panose="020B0604030504040204" pitchFamily="34" charset="0"/>
              </a:rPr>
              <a:t>) y ejecute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git</a:t>
            </a:r>
            <a:r>
              <a:rPr lang="es-MX" sz="800" spc="0" dirty="0">
                <a:solidFill>
                  <a:schemeClr val="bg1">
                    <a:lumMod val="50000"/>
                  </a:schemeClr>
                </a:solidFill>
                <a:latin typeface="+mn-lt"/>
                <a:ea typeface="Verdana" panose="020B0604030504040204" pitchFamily="34" charset="0"/>
                <a:cs typeface="Verdana" panose="020B0604030504040204" pitchFamily="34" charset="0"/>
              </a:rPr>
              <a:t>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merge</a:t>
            </a:r>
            <a:r>
              <a:rPr lang="es-MX" sz="800" spc="0" dirty="0">
                <a:solidFill>
                  <a:schemeClr val="bg1">
                    <a:lumMod val="50000"/>
                  </a:schemeClr>
                </a:solidFill>
                <a:latin typeface="+mn-lt"/>
                <a:ea typeface="Verdana" panose="020B0604030504040204" pitchFamily="34" charset="0"/>
                <a:cs typeface="Verdana" panose="020B0604030504040204" pitchFamily="34" charset="0"/>
              </a:rPr>
              <a:t> nombre-de-la-rama.</a:t>
            </a:r>
            <a:endParaRPr lang="es-CO" sz="800" spc="0" dirty="0">
              <a:solidFill>
                <a:srgbClr val="FF832A"/>
              </a:solidFill>
              <a:latin typeface="+mn-lt"/>
              <a:ea typeface="Verdana" panose="020B0604030504040204" pitchFamily="34" charset="0"/>
              <a:cs typeface="Verdana" panose="020B0604030504040204" pitchFamily="34" charset="0"/>
            </a:endParaRPr>
          </a:p>
        </p:txBody>
      </p:sp>
      <p:sp>
        <p:nvSpPr>
          <p:cNvPr id="25" name="Title 1">
            <a:extLst>
              <a:ext uri="{FF2B5EF4-FFF2-40B4-BE49-F238E27FC236}">
                <a16:creationId xmlns:a16="http://schemas.microsoft.com/office/drawing/2014/main" id="{8E85DF38-0846-4443-8166-B4246B8A95E6}"/>
              </a:ext>
            </a:extLst>
          </p:cNvPr>
          <p:cNvSpPr txBox="1">
            <a:spLocks/>
          </p:cNvSpPr>
          <p:nvPr/>
        </p:nvSpPr>
        <p:spPr>
          <a:xfrm>
            <a:off x="1087575" y="3777873"/>
            <a:ext cx="2031527" cy="366767"/>
          </a:xfrm>
          <a:prstGeom prst="rect">
            <a:avLst/>
          </a:prstGeom>
        </p:spPr>
        <p:txBody>
          <a:bodyPr wrap="square" lIns="0" tIns="0" rIns="0" bIns="0" anchor="t">
            <a:spAutoFit/>
          </a:bodyPr>
          <a:lstStyle>
            <a:lvl1pPr algn="ctr" defTabSz="1828800" rtl="0" eaLnBrk="1" latinLnBrk="0" hangingPunct="1">
              <a:lnSpc>
                <a:spcPct val="100000"/>
              </a:lnSpc>
              <a:spcBef>
                <a:spcPct val="0"/>
              </a:spcBef>
              <a:buNone/>
              <a:defRPr sz="7400" b="0" kern="1200" cap="none" spc="100" baseline="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spcAft>
                <a:spcPts val="675"/>
              </a:spcAft>
            </a:pPr>
            <a:r>
              <a:rPr lang="es-MX" sz="1000" spc="0" dirty="0">
                <a:solidFill>
                  <a:srgbClr val="963CBE"/>
                </a:solidFill>
                <a:latin typeface="+mn-lt"/>
                <a:ea typeface="Vita Std ExLt" pitchFamily="2" charset="77"/>
              </a:rPr>
              <a:t>Subir rama al repositorio remoto</a:t>
            </a:r>
          </a:p>
          <a:p>
            <a:pPr algn="l">
              <a:spcAft>
                <a:spcPts val="675"/>
              </a:spcAft>
            </a:pPr>
            <a:r>
              <a:rPr lang="es-MX" sz="800" spc="0" dirty="0" err="1">
                <a:solidFill>
                  <a:schemeClr val="bg1">
                    <a:lumMod val="50000"/>
                  </a:schemeClr>
                </a:solidFill>
                <a:latin typeface="+mn-lt"/>
                <a:ea typeface="Verdana" panose="020B0604030504040204" pitchFamily="34" charset="0"/>
                <a:cs typeface="Verdana" panose="020B0604030504040204" pitchFamily="34" charset="0"/>
              </a:rPr>
              <a:t>git</a:t>
            </a:r>
            <a:r>
              <a:rPr lang="es-MX" sz="800" spc="0" dirty="0">
                <a:solidFill>
                  <a:schemeClr val="bg1">
                    <a:lumMod val="50000"/>
                  </a:schemeClr>
                </a:solidFill>
                <a:latin typeface="+mn-lt"/>
                <a:ea typeface="Verdana" panose="020B0604030504040204" pitchFamily="34" charset="0"/>
                <a:cs typeface="Verdana" panose="020B0604030504040204" pitchFamily="34" charset="0"/>
              </a:rPr>
              <a:t>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push</a:t>
            </a:r>
            <a:r>
              <a:rPr lang="es-MX" sz="800" spc="0" dirty="0">
                <a:solidFill>
                  <a:schemeClr val="bg1">
                    <a:lumMod val="50000"/>
                  </a:schemeClr>
                </a:solidFill>
                <a:latin typeface="+mn-lt"/>
                <a:ea typeface="Verdana" panose="020B0604030504040204" pitchFamily="34" charset="0"/>
                <a:cs typeface="Verdana" panose="020B0604030504040204" pitchFamily="34" charset="0"/>
              </a:rPr>
              <a:t> -u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origin</a:t>
            </a:r>
            <a:r>
              <a:rPr lang="es-MX" sz="800" spc="0" dirty="0">
                <a:solidFill>
                  <a:schemeClr val="bg1">
                    <a:lumMod val="50000"/>
                  </a:schemeClr>
                </a:solidFill>
                <a:latin typeface="+mn-lt"/>
                <a:ea typeface="Verdana" panose="020B0604030504040204" pitchFamily="34" charset="0"/>
                <a:cs typeface="Verdana" panose="020B0604030504040204" pitchFamily="34" charset="0"/>
              </a:rPr>
              <a:t> nombre-de-la-rama. </a:t>
            </a:r>
            <a:endParaRPr lang="es-CO" sz="800" spc="0" dirty="0">
              <a:solidFill>
                <a:srgbClr val="FF832A"/>
              </a:solidFill>
              <a:latin typeface="+mn-lt"/>
              <a:ea typeface="Verdana" panose="020B0604030504040204" pitchFamily="34" charset="0"/>
              <a:cs typeface="Verdana" panose="020B0604030504040204" pitchFamily="34" charset="0"/>
            </a:endParaRPr>
          </a:p>
        </p:txBody>
      </p:sp>
      <p:sp>
        <p:nvSpPr>
          <p:cNvPr id="33" name="CuadroTexto 32">
            <a:extLst>
              <a:ext uri="{FF2B5EF4-FFF2-40B4-BE49-F238E27FC236}">
                <a16:creationId xmlns:a16="http://schemas.microsoft.com/office/drawing/2014/main" id="{50574DF6-DAB3-41BC-A6A9-A1E3771B7461}"/>
              </a:ext>
            </a:extLst>
          </p:cNvPr>
          <p:cNvSpPr txBox="1"/>
          <p:nvPr/>
        </p:nvSpPr>
        <p:spPr>
          <a:xfrm>
            <a:off x="704092" y="1324522"/>
            <a:ext cx="7831566" cy="247697"/>
          </a:xfrm>
          <a:prstGeom prst="rect">
            <a:avLst/>
          </a:prstGeom>
          <a:noFill/>
        </p:spPr>
        <p:txBody>
          <a:bodyPr wrap="square" rtlCol="0">
            <a:spAutoFit/>
          </a:bodyPr>
          <a:lstStyle/>
          <a:p>
            <a:pPr marL="0" indent="0" algn="just">
              <a:lnSpc>
                <a:spcPct val="110000"/>
              </a:lnSpc>
              <a:buNone/>
            </a:pPr>
            <a:r>
              <a:rPr lang="es-MX" sz="1000" dirty="0">
                <a:ea typeface="Verdana" panose="020B0604030504040204" pitchFamily="34" charset="0"/>
                <a:cs typeface="Verdana" panose="020B0604030504040204" pitchFamily="34" charset="0"/>
              </a:rPr>
              <a:t>Principales comandos para el flujo de trabajo con ramas:</a:t>
            </a:r>
          </a:p>
        </p:txBody>
      </p:sp>
      <p:sp>
        <p:nvSpPr>
          <p:cNvPr id="34" name="Title 1">
            <a:extLst>
              <a:ext uri="{FF2B5EF4-FFF2-40B4-BE49-F238E27FC236}">
                <a16:creationId xmlns:a16="http://schemas.microsoft.com/office/drawing/2014/main" id="{A090FD9C-EFE1-45D1-8B48-2D4CBD0611CD}"/>
              </a:ext>
            </a:extLst>
          </p:cNvPr>
          <p:cNvSpPr txBox="1">
            <a:spLocks/>
          </p:cNvSpPr>
          <p:nvPr/>
        </p:nvSpPr>
        <p:spPr>
          <a:xfrm>
            <a:off x="1087574" y="4257729"/>
            <a:ext cx="6520924" cy="366767"/>
          </a:xfrm>
          <a:prstGeom prst="rect">
            <a:avLst/>
          </a:prstGeom>
        </p:spPr>
        <p:txBody>
          <a:bodyPr wrap="square" lIns="0" tIns="0" rIns="0" bIns="0" anchor="t">
            <a:spAutoFit/>
          </a:bodyPr>
          <a:lstStyle>
            <a:lvl1pPr algn="ctr" defTabSz="1828800" rtl="0" eaLnBrk="1" latinLnBrk="0" hangingPunct="1">
              <a:lnSpc>
                <a:spcPct val="100000"/>
              </a:lnSpc>
              <a:spcBef>
                <a:spcPct val="0"/>
              </a:spcBef>
              <a:buNone/>
              <a:defRPr sz="7400" b="0" kern="1200" cap="none" spc="100" baseline="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spcAft>
                <a:spcPts val="675"/>
              </a:spcAft>
            </a:pPr>
            <a:r>
              <a:rPr lang="es-MX" sz="1000" spc="0" dirty="0">
                <a:solidFill>
                  <a:srgbClr val="963CBE"/>
                </a:solidFill>
                <a:latin typeface="+mn-lt"/>
                <a:ea typeface="Vita Std ExLt" pitchFamily="2" charset="77"/>
              </a:rPr>
              <a:t>Eliminar rama</a:t>
            </a:r>
          </a:p>
          <a:p>
            <a:pPr algn="l">
              <a:spcAft>
                <a:spcPts val="675"/>
              </a:spcAft>
            </a:pPr>
            <a:r>
              <a:rPr lang="es-MX" sz="800" spc="0" dirty="0" err="1">
                <a:solidFill>
                  <a:schemeClr val="bg1">
                    <a:lumMod val="50000"/>
                  </a:schemeClr>
                </a:solidFill>
                <a:latin typeface="+mn-lt"/>
                <a:ea typeface="Verdana" panose="020B0604030504040204" pitchFamily="34" charset="0"/>
                <a:cs typeface="Verdana" panose="020B0604030504040204" pitchFamily="34" charset="0"/>
              </a:rPr>
              <a:t>git</a:t>
            </a:r>
            <a:r>
              <a:rPr lang="es-MX" sz="800" spc="0" dirty="0">
                <a:solidFill>
                  <a:schemeClr val="bg1">
                    <a:lumMod val="50000"/>
                  </a:schemeClr>
                </a:solidFill>
                <a:latin typeface="+mn-lt"/>
                <a:ea typeface="Verdana" panose="020B0604030504040204" pitchFamily="34" charset="0"/>
                <a:cs typeface="Verdana" panose="020B0604030504040204" pitchFamily="34" charset="0"/>
              </a:rPr>
              <a:t>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branch</a:t>
            </a:r>
            <a:r>
              <a:rPr lang="es-MX" sz="800" spc="0" dirty="0">
                <a:solidFill>
                  <a:schemeClr val="bg1">
                    <a:lumMod val="50000"/>
                  </a:schemeClr>
                </a:solidFill>
                <a:latin typeface="+mn-lt"/>
                <a:ea typeface="Verdana" panose="020B0604030504040204" pitchFamily="34" charset="0"/>
                <a:cs typeface="Verdana" panose="020B0604030504040204" pitchFamily="34" charset="0"/>
              </a:rPr>
              <a:t> -d nombre-de-la-rama. </a:t>
            </a:r>
            <a:endParaRPr lang="es-CO" sz="800" spc="0" dirty="0">
              <a:solidFill>
                <a:srgbClr val="FF832A"/>
              </a:solidFill>
              <a:latin typeface="+mn-lt"/>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1535033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A6C636BB-E7D0-FE55-C2F5-FC57A88AB9F0}"/>
              </a:ext>
            </a:extLst>
          </p:cNvPr>
          <p:cNvSpPr txBox="1">
            <a:spLocks/>
          </p:cNvSpPr>
          <p:nvPr/>
        </p:nvSpPr>
        <p:spPr>
          <a:xfrm>
            <a:off x="666975" y="550472"/>
            <a:ext cx="7905800" cy="577171"/>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3200" dirty="0"/>
              <a:t>Manejo de conflictos</a:t>
            </a:r>
          </a:p>
        </p:txBody>
      </p:sp>
      <p:sp>
        <p:nvSpPr>
          <p:cNvPr id="9" name="Slide Number Placeholder 5">
            <a:extLst>
              <a:ext uri="{FF2B5EF4-FFF2-40B4-BE49-F238E27FC236}">
                <a16:creationId xmlns:a16="http://schemas.microsoft.com/office/drawing/2014/main" id="{7AA4D592-1C24-9678-675B-5592FEE70AED}"/>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28</a:t>
            </a:fld>
            <a:endParaRPr lang="es-MX" sz="700">
              <a:solidFill>
                <a:schemeClr val="tx1"/>
              </a:solidFill>
              <a:latin typeface="+mn-lt"/>
            </a:endParaRPr>
          </a:p>
        </p:txBody>
      </p:sp>
      <p:sp>
        <p:nvSpPr>
          <p:cNvPr id="10" name="Date Placeholder 3">
            <a:extLst>
              <a:ext uri="{FF2B5EF4-FFF2-40B4-BE49-F238E27FC236}">
                <a16:creationId xmlns:a16="http://schemas.microsoft.com/office/drawing/2014/main" id="{01B32BC8-1722-304F-0282-503A51C392A4}"/>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16" name="Footer Placeholder 4">
            <a:extLst>
              <a:ext uri="{FF2B5EF4-FFF2-40B4-BE49-F238E27FC236}">
                <a16:creationId xmlns:a16="http://schemas.microsoft.com/office/drawing/2014/main" id="{EAE13ECB-7911-B012-DA67-027E1A7CF8DF}"/>
              </a:ext>
            </a:extLst>
          </p:cNvPr>
          <p:cNvSpPr txBox="1">
            <a:spLocks/>
          </p:cNvSpPr>
          <p:nvPr/>
        </p:nvSpPr>
        <p:spPr>
          <a:xfrm>
            <a:off x="5342661" y="4624496"/>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solidFill>
                <a:latin typeface="+mn-lt"/>
              </a:rPr>
              <a:t>GIT</a:t>
            </a:r>
          </a:p>
        </p:txBody>
      </p:sp>
      <p:sp>
        <p:nvSpPr>
          <p:cNvPr id="14" name="Title 1">
            <a:extLst>
              <a:ext uri="{FF2B5EF4-FFF2-40B4-BE49-F238E27FC236}">
                <a16:creationId xmlns:a16="http://schemas.microsoft.com/office/drawing/2014/main" id="{009DBB2C-F177-4BF7-B254-34CED2CD8638}"/>
              </a:ext>
            </a:extLst>
          </p:cNvPr>
          <p:cNvSpPr txBox="1">
            <a:spLocks/>
          </p:cNvSpPr>
          <p:nvPr/>
        </p:nvSpPr>
        <p:spPr>
          <a:xfrm>
            <a:off x="1087574" y="1651752"/>
            <a:ext cx="7485199" cy="366767"/>
          </a:xfrm>
          <a:prstGeom prst="rect">
            <a:avLst/>
          </a:prstGeom>
        </p:spPr>
        <p:txBody>
          <a:bodyPr wrap="square" lIns="0" tIns="0" rIns="0" bIns="0" anchor="t">
            <a:spAutoFit/>
          </a:bodyPr>
          <a:lstStyle>
            <a:lvl1pPr algn="ctr" defTabSz="1828800" rtl="0" eaLnBrk="1" latinLnBrk="0" hangingPunct="1">
              <a:lnSpc>
                <a:spcPct val="100000"/>
              </a:lnSpc>
              <a:spcBef>
                <a:spcPct val="0"/>
              </a:spcBef>
              <a:buNone/>
              <a:defRPr sz="7400" b="0" kern="1200" cap="none" spc="100" baseline="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spcAft>
                <a:spcPts val="675"/>
              </a:spcAft>
            </a:pPr>
            <a:r>
              <a:rPr lang="es-MX" sz="1000" spc="0" dirty="0">
                <a:solidFill>
                  <a:srgbClr val="963CBE"/>
                </a:solidFill>
                <a:latin typeface="+mn-lt"/>
                <a:ea typeface="Vita Std ExLt" pitchFamily="2" charset="77"/>
              </a:rPr>
              <a:t>Identificar: </a:t>
            </a:r>
          </a:p>
          <a:p>
            <a:pPr algn="l">
              <a:spcAft>
                <a:spcPts val="675"/>
              </a:spcAft>
            </a:pPr>
            <a:r>
              <a:rPr lang="es-MX" sz="800" spc="0" dirty="0">
                <a:solidFill>
                  <a:schemeClr val="bg1">
                    <a:lumMod val="50000"/>
                  </a:schemeClr>
                </a:solidFill>
                <a:latin typeface="+mn-lt"/>
                <a:ea typeface="Verdana" panose="020B0604030504040204" pitchFamily="34" charset="0"/>
                <a:cs typeface="Verdana" panose="020B0604030504040204" pitchFamily="34" charset="0"/>
              </a:rPr>
              <a:t>Git indicará cuáles archivos tienen conflictos durante un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git</a:t>
            </a:r>
            <a:r>
              <a:rPr lang="es-MX" sz="800" spc="0" dirty="0">
                <a:solidFill>
                  <a:schemeClr val="bg1">
                    <a:lumMod val="50000"/>
                  </a:schemeClr>
                </a:solidFill>
                <a:latin typeface="+mn-lt"/>
                <a:ea typeface="Verdana" panose="020B0604030504040204" pitchFamily="34" charset="0"/>
                <a:cs typeface="Verdana" panose="020B0604030504040204" pitchFamily="34" charset="0"/>
              </a:rPr>
              <a:t>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merge</a:t>
            </a:r>
            <a:r>
              <a:rPr lang="es-MX" sz="800" spc="0" dirty="0">
                <a:solidFill>
                  <a:schemeClr val="bg1">
                    <a:lumMod val="50000"/>
                  </a:schemeClr>
                </a:solidFill>
                <a:latin typeface="+mn-lt"/>
                <a:ea typeface="Verdana" panose="020B0604030504040204" pitchFamily="34" charset="0"/>
                <a:cs typeface="Verdana" panose="020B0604030504040204" pitchFamily="34" charset="0"/>
              </a:rPr>
              <a:t> o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git</a:t>
            </a:r>
            <a:r>
              <a:rPr lang="es-MX" sz="800" spc="0" dirty="0">
                <a:solidFill>
                  <a:schemeClr val="bg1">
                    <a:lumMod val="50000"/>
                  </a:schemeClr>
                </a:solidFill>
                <a:latin typeface="+mn-lt"/>
                <a:ea typeface="Verdana" panose="020B0604030504040204" pitchFamily="34" charset="0"/>
                <a:cs typeface="Verdana" panose="020B0604030504040204" pitchFamily="34" charset="0"/>
              </a:rPr>
              <a:t>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pull</a:t>
            </a:r>
            <a:r>
              <a:rPr lang="es-MX" sz="800" spc="0" dirty="0">
                <a:solidFill>
                  <a:schemeClr val="bg1">
                    <a:lumMod val="50000"/>
                  </a:schemeClr>
                </a:solidFill>
                <a:latin typeface="+mn-lt"/>
                <a:ea typeface="Verdana" panose="020B0604030504040204" pitchFamily="34" charset="0"/>
                <a:cs typeface="Verdana" panose="020B0604030504040204" pitchFamily="34" charset="0"/>
              </a:rPr>
              <a:t>. </a:t>
            </a:r>
            <a:r>
              <a:rPr lang="es-CO" sz="800" spc="0" dirty="0">
                <a:solidFill>
                  <a:srgbClr val="FF832A"/>
                </a:solidFill>
                <a:latin typeface="+mn-lt"/>
                <a:ea typeface="Verdana" panose="020B0604030504040204" pitchFamily="34" charset="0"/>
                <a:cs typeface="Verdana" panose="020B0604030504040204" pitchFamily="34" charset="0"/>
              </a:rPr>
              <a:t> </a:t>
            </a:r>
          </a:p>
        </p:txBody>
      </p:sp>
      <p:sp>
        <p:nvSpPr>
          <p:cNvPr id="21" name="Title 1">
            <a:extLst>
              <a:ext uri="{FF2B5EF4-FFF2-40B4-BE49-F238E27FC236}">
                <a16:creationId xmlns:a16="http://schemas.microsoft.com/office/drawing/2014/main" id="{1F8CA232-820F-48FE-B813-6032CAE4B0DC}"/>
              </a:ext>
            </a:extLst>
          </p:cNvPr>
          <p:cNvSpPr txBox="1">
            <a:spLocks/>
          </p:cNvSpPr>
          <p:nvPr/>
        </p:nvSpPr>
        <p:spPr>
          <a:xfrm>
            <a:off x="1087574" y="2137999"/>
            <a:ext cx="7485200" cy="1005403"/>
          </a:xfrm>
          <a:prstGeom prst="rect">
            <a:avLst/>
          </a:prstGeom>
        </p:spPr>
        <p:txBody>
          <a:bodyPr wrap="square" lIns="0" tIns="0" rIns="0" bIns="0" anchor="t">
            <a:spAutoFit/>
          </a:bodyPr>
          <a:lstStyle>
            <a:lvl1pPr algn="ctr" defTabSz="1828800" rtl="0" eaLnBrk="1" latinLnBrk="0" hangingPunct="1">
              <a:lnSpc>
                <a:spcPct val="100000"/>
              </a:lnSpc>
              <a:spcBef>
                <a:spcPct val="0"/>
              </a:spcBef>
              <a:buNone/>
              <a:defRPr sz="7400" b="0" kern="1200" cap="none" spc="100" baseline="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spcAft>
                <a:spcPts val="675"/>
              </a:spcAft>
            </a:pPr>
            <a:r>
              <a:rPr lang="es-MX" sz="1000" spc="0" dirty="0">
                <a:solidFill>
                  <a:srgbClr val="963CBE"/>
                </a:solidFill>
                <a:latin typeface="+mn-lt"/>
                <a:ea typeface="Vita Std ExLt" pitchFamily="2" charset="77"/>
              </a:rPr>
              <a:t>Localizar </a:t>
            </a:r>
          </a:p>
          <a:p>
            <a:pPr algn="l">
              <a:spcAft>
                <a:spcPts val="675"/>
              </a:spcAft>
            </a:pPr>
            <a:r>
              <a:rPr lang="es-MX" sz="800" spc="0" dirty="0">
                <a:solidFill>
                  <a:schemeClr val="bg1">
                    <a:lumMod val="50000"/>
                  </a:schemeClr>
                </a:solidFill>
                <a:latin typeface="+mn-lt"/>
                <a:ea typeface="Verdana" panose="020B0604030504040204" pitchFamily="34" charset="0"/>
                <a:cs typeface="Verdana" panose="020B0604030504040204" pitchFamily="34" charset="0"/>
              </a:rPr>
              <a:t>Abra los archivos conflictivos y busque las secciones marcadas:</a:t>
            </a:r>
          </a:p>
          <a:p>
            <a:pPr algn="l">
              <a:spcAft>
                <a:spcPts val="675"/>
              </a:spcAft>
            </a:pPr>
            <a:r>
              <a:rPr lang="es-MX" sz="800" spc="0" dirty="0">
                <a:solidFill>
                  <a:schemeClr val="bg1">
                    <a:lumMod val="50000"/>
                  </a:schemeClr>
                </a:solidFill>
                <a:latin typeface="+mn-lt"/>
                <a:ea typeface="Verdana" panose="020B0604030504040204" pitchFamily="34" charset="0"/>
                <a:cs typeface="Verdana" panose="020B0604030504040204" pitchFamily="34" charset="0"/>
              </a:rPr>
              <a:t>&lt;&lt;&lt;&lt;&lt;&lt;&lt; HEAD (cambios actuales).</a:t>
            </a:r>
          </a:p>
          <a:p>
            <a:pPr algn="l">
              <a:spcAft>
                <a:spcPts val="675"/>
              </a:spcAft>
            </a:pPr>
            <a:r>
              <a:rPr lang="es-MX" sz="800" spc="0" dirty="0">
                <a:solidFill>
                  <a:schemeClr val="bg1">
                    <a:lumMod val="50000"/>
                  </a:schemeClr>
                </a:solidFill>
                <a:latin typeface="+mn-lt"/>
                <a:ea typeface="Verdana" panose="020B0604030504040204" pitchFamily="34" charset="0"/>
                <a:cs typeface="Verdana" panose="020B0604030504040204" pitchFamily="34" charset="0"/>
              </a:rPr>
              <a:t>======= (separador).</a:t>
            </a:r>
          </a:p>
          <a:p>
            <a:pPr algn="l">
              <a:spcAft>
                <a:spcPts val="675"/>
              </a:spcAft>
            </a:pPr>
            <a:r>
              <a:rPr lang="es-MX" sz="800" spc="0" dirty="0">
                <a:solidFill>
                  <a:schemeClr val="bg1">
                    <a:lumMod val="50000"/>
                  </a:schemeClr>
                </a:solidFill>
                <a:latin typeface="+mn-lt"/>
                <a:ea typeface="Verdana" panose="020B0604030504040204" pitchFamily="34" charset="0"/>
                <a:cs typeface="Verdana" panose="020B0604030504040204" pitchFamily="34" charset="0"/>
              </a:rPr>
              <a:t>&gt;&gt;&gt;&gt;&gt;&gt;&gt;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branch_name</a:t>
            </a:r>
            <a:r>
              <a:rPr lang="es-MX" sz="800" spc="0" dirty="0">
                <a:solidFill>
                  <a:schemeClr val="bg1">
                    <a:lumMod val="50000"/>
                  </a:schemeClr>
                </a:solidFill>
                <a:latin typeface="+mn-lt"/>
                <a:ea typeface="Verdana" panose="020B0604030504040204" pitchFamily="34" charset="0"/>
                <a:cs typeface="Verdana" panose="020B0604030504040204" pitchFamily="34" charset="0"/>
              </a:rPr>
              <a:t> (cambios de la rama a fusionar).</a:t>
            </a:r>
          </a:p>
        </p:txBody>
      </p:sp>
      <p:sp>
        <p:nvSpPr>
          <p:cNvPr id="24" name="Title 1">
            <a:extLst>
              <a:ext uri="{FF2B5EF4-FFF2-40B4-BE49-F238E27FC236}">
                <a16:creationId xmlns:a16="http://schemas.microsoft.com/office/drawing/2014/main" id="{D01B6076-DF6C-4B00-859C-BD632C66A043}"/>
              </a:ext>
            </a:extLst>
          </p:cNvPr>
          <p:cNvSpPr txBox="1">
            <a:spLocks/>
          </p:cNvSpPr>
          <p:nvPr/>
        </p:nvSpPr>
        <p:spPr>
          <a:xfrm>
            <a:off x="1087575" y="3262882"/>
            <a:ext cx="7448083" cy="367986"/>
          </a:xfrm>
          <a:prstGeom prst="rect">
            <a:avLst/>
          </a:prstGeom>
        </p:spPr>
        <p:txBody>
          <a:bodyPr wrap="square" lIns="0" tIns="0" rIns="0" bIns="0" anchor="t">
            <a:spAutoFit/>
          </a:bodyPr>
          <a:lstStyle>
            <a:lvl1pPr algn="ctr" defTabSz="1828800" rtl="0" eaLnBrk="1" latinLnBrk="0" hangingPunct="1">
              <a:lnSpc>
                <a:spcPct val="100000"/>
              </a:lnSpc>
              <a:spcBef>
                <a:spcPct val="0"/>
              </a:spcBef>
              <a:buNone/>
              <a:defRPr sz="7400" b="0" kern="1200" cap="none" spc="100" baseline="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spcAft>
                <a:spcPts val="675"/>
              </a:spcAft>
            </a:pPr>
            <a:r>
              <a:rPr lang="es-MX" sz="1000" spc="0" dirty="0">
                <a:solidFill>
                  <a:srgbClr val="963CBE"/>
                </a:solidFill>
                <a:latin typeface="+mn-lt"/>
                <a:ea typeface="Vita Std ExLt" pitchFamily="2" charset="77"/>
              </a:rPr>
              <a:t>Editar</a:t>
            </a:r>
            <a:endParaRPr lang="en-US" sz="1000" spc="0" dirty="0">
              <a:solidFill>
                <a:srgbClr val="963CBE"/>
              </a:solidFill>
              <a:latin typeface="+mn-lt"/>
              <a:ea typeface="Vita Std ExLt" pitchFamily="2" charset="77"/>
              <a:cs typeface="Verdana" panose="020B0604030504040204" pitchFamily="34" charset="0"/>
            </a:endParaRPr>
          </a:p>
          <a:p>
            <a:pPr marL="0" indent="0" algn="l">
              <a:lnSpc>
                <a:spcPct val="110000"/>
              </a:lnSpc>
              <a:buNone/>
            </a:pPr>
            <a:r>
              <a:rPr lang="es-MX" sz="800" spc="0" dirty="0">
                <a:solidFill>
                  <a:schemeClr val="bg1">
                    <a:lumMod val="50000"/>
                  </a:schemeClr>
                </a:solidFill>
                <a:latin typeface="+mn-lt"/>
                <a:ea typeface="Verdana" panose="020B0604030504040204" pitchFamily="34" charset="0"/>
                <a:cs typeface="Verdana" panose="020B0604030504040204" pitchFamily="34" charset="0"/>
              </a:rPr>
              <a:t>Modifique el archivo eliminando los marcadores y decidiendo si mantiene los cambios de la rama principal, la otra rama, o ambos.</a:t>
            </a:r>
            <a:endParaRPr lang="es-CO" sz="800" spc="0" dirty="0">
              <a:solidFill>
                <a:srgbClr val="FF832A"/>
              </a:solidFill>
              <a:latin typeface="+mn-lt"/>
              <a:ea typeface="Verdana" panose="020B0604030504040204" pitchFamily="34" charset="0"/>
              <a:cs typeface="Verdana" panose="020B0604030504040204" pitchFamily="34" charset="0"/>
            </a:endParaRPr>
          </a:p>
        </p:txBody>
      </p:sp>
      <p:sp>
        <p:nvSpPr>
          <p:cNvPr id="25" name="Title 1">
            <a:extLst>
              <a:ext uri="{FF2B5EF4-FFF2-40B4-BE49-F238E27FC236}">
                <a16:creationId xmlns:a16="http://schemas.microsoft.com/office/drawing/2014/main" id="{8E85DF38-0846-4443-8166-B4246B8A95E6}"/>
              </a:ext>
            </a:extLst>
          </p:cNvPr>
          <p:cNvSpPr txBox="1">
            <a:spLocks/>
          </p:cNvSpPr>
          <p:nvPr/>
        </p:nvSpPr>
        <p:spPr>
          <a:xfrm>
            <a:off x="1087575" y="3750348"/>
            <a:ext cx="7357275" cy="579646"/>
          </a:xfrm>
          <a:prstGeom prst="rect">
            <a:avLst/>
          </a:prstGeom>
        </p:spPr>
        <p:txBody>
          <a:bodyPr wrap="square" lIns="0" tIns="0" rIns="0" bIns="0" anchor="t">
            <a:spAutoFit/>
          </a:bodyPr>
          <a:lstStyle>
            <a:lvl1pPr algn="ctr" defTabSz="1828800" rtl="0" eaLnBrk="1" latinLnBrk="0" hangingPunct="1">
              <a:lnSpc>
                <a:spcPct val="100000"/>
              </a:lnSpc>
              <a:spcBef>
                <a:spcPct val="0"/>
              </a:spcBef>
              <a:buNone/>
              <a:defRPr sz="7400" b="0" kern="1200" cap="none" spc="100" baseline="0">
                <a:solidFill>
                  <a:schemeClr val="tx2"/>
                </a:solidFill>
                <a:latin typeface="Open Sans Light" panose="020B0306030504020204" pitchFamily="34" charset="0"/>
                <a:ea typeface="Open Sans Light" panose="020B0306030504020204" pitchFamily="34" charset="0"/>
                <a:cs typeface="Open Sans Light" panose="020B0306030504020204" pitchFamily="34" charset="0"/>
              </a:defRPr>
            </a:lvl1pPr>
          </a:lstStyle>
          <a:p>
            <a:pPr algn="l">
              <a:spcAft>
                <a:spcPts val="675"/>
              </a:spcAft>
            </a:pPr>
            <a:r>
              <a:rPr lang="es-MX" sz="1000" spc="0" dirty="0">
                <a:solidFill>
                  <a:srgbClr val="963CBE"/>
                </a:solidFill>
                <a:latin typeface="+mn-lt"/>
                <a:ea typeface="Vita Std ExLt" pitchFamily="2" charset="77"/>
              </a:rPr>
              <a:t>Finalizar</a:t>
            </a:r>
          </a:p>
          <a:p>
            <a:pPr algn="l">
              <a:spcAft>
                <a:spcPts val="675"/>
              </a:spcAft>
            </a:pPr>
            <a:r>
              <a:rPr lang="es-MX" sz="800" spc="0" dirty="0" err="1">
                <a:solidFill>
                  <a:schemeClr val="bg1">
                    <a:lumMod val="50000"/>
                  </a:schemeClr>
                </a:solidFill>
                <a:latin typeface="+mn-lt"/>
                <a:ea typeface="Verdana" panose="020B0604030504040204" pitchFamily="34" charset="0"/>
                <a:cs typeface="Verdana" panose="020B0604030504040204" pitchFamily="34" charset="0"/>
              </a:rPr>
              <a:t>git</a:t>
            </a:r>
            <a:r>
              <a:rPr lang="es-MX" sz="800" spc="0" dirty="0">
                <a:solidFill>
                  <a:schemeClr val="bg1">
                    <a:lumMod val="50000"/>
                  </a:schemeClr>
                </a:solidFill>
                <a:latin typeface="+mn-lt"/>
                <a:ea typeface="Verdana" panose="020B0604030504040204" pitchFamily="34" charset="0"/>
                <a:cs typeface="Verdana" panose="020B0604030504040204" pitchFamily="34" charset="0"/>
              </a:rPr>
              <a:t>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add</a:t>
            </a:r>
            <a:r>
              <a:rPr lang="es-MX" sz="800" spc="0" dirty="0">
                <a:solidFill>
                  <a:schemeClr val="bg1">
                    <a:lumMod val="50000"/>
                  </a:schemeClr>
                </a:solidFill>
                <a:latin typeface="+mn-lt"/>
                <a:ea typeface="Verdana" panose="020B0604030504040204" pitchFamily="34" charset="0"/>
                <a:cs typeface="Verdana" panose="020B0604030504040204" pitchFamily="34" charset="0"/>
              </a:rPr>
              <a:t> &lt;archivo&gt;: Marca el archivo como resuelto.</a:t>
            </a:r>
          </a:p>
          <a:p>
            <a:pPr algn="l">
              <a:spcAft>
                <a:spcPts val="675"/>
              </a:spcAft>
            </a:pPr>
            <a:r>
              <a:rPr lang="es-MX" sz="800" spc="0" dirty="0" err="1">
                <a:solidFill>
                  <a:schemeClr val="bg1">
                    <a:lumMod val="50000"/>
                  </a:schemeClr>
                </a:solidFill>
                <a:latin typeface="+mn-lt"/>
                <a:ea typeface="Verdana" panose="020B0604030504040204" pitchFamily="34" charset="0"/>
                <a:cs typeface="Verdana" panose="020B0604030504040204" pitchFamily="34" charset="0"/>
              </a:rPr>
              <a:t>git</a:t>
            </a:r>
            <a:r>
              <a:rPr lang="es-MX" sz="800" spc="0" dirty="0">
                <a:solidFill>
                  <a:schemeClr val="bg1">
                    <a:lumMod val="50000"/>
                  </a:schemeClr>
                </a:solidFill>
                <a:latin typeface="+mn-lt"/>
                <a:ea typeface="Verdana" panose="020B0604030504040204" pitchFamily="34" charset="0"/>
                <a:cs typeface="Verdana" panose="020B0604030504040204" pitchFamily="34" charset="0"/>
              </a:rPr>
              <a:t> </a:t>
            </a:r>
            <a:r>
              <a:rPr lang="es-MX" sz="800" spc="0" dirty="0" err="1">
                <a:solidFill>
                  <a:schemeClr val="bg1">
                    <a:lumMod val="50000"/>
                  </a:schemeClr>
                </a:solidFill>
                <a:latin typeface="+mn-lt"/>
                <a:ea typeface="Verdana" panose="020B0604030504040204" pitchFamily="34" charset="0"/>
                <a:cs typeface="Verdana" panose="020B0604030504040204" pitchFamily="34" charset="0"/>
              </a:rPr>
              <a:t>commit</a:t>
            </a:r>
            <a:r>
              <a:rPr lang="es-MX" sz="800" spc="0" dirty="0">
                <a:solidFill>
                  <a:schemeClr val="bg1">
                    <a:lumMod val="50000"/>
                  </a:schemeClr>
                </a:solidFill>
                <a:latin typeface="+mn-lt"/>
                <a:ea typeface="Verdana" panose="020B0604030504040204" pitchFamily="34" charset="0"/>
                <a:cs typeface="Verdana" panose="020B0604030504040204" pitchFamily="34" charset="0"/>
              </a:rPr>
              <a:t> -m "Mensaje de resolución de conflicto": Finaliza la fusión.. </a:t>
            </a:r>
            <a:endParaRPr lang="es-CO" sz="800" spc="0" dirty="0">
              <a:solidFill>
                <a:srgbClr val="FF832A"/>
              </a:solidFill>
              <a:latin typeface="+mn-lt"/>
              <a:ea typeface="Verdana" panose="020B0604030504040204" pitchFamily="34" charset="0"/>
              <a:cs typeface="Verdana" panose="020B0604030504040204" pitchFamily="34" charset="0"/>
            </a:endParaRPr>
          </a:p>
        </p:txBody>
      </p:sp>
      <p:sp>
        <p:nvSpPr>
          <p:cNvPr id="33" name="CuadroTexto 32">
            <a:extLst>
              <a:ext uri="{FF2B5EF4-FFF2-40B4-BE49-F238E27FC236}">
                <a16:creationId xmlns:a16="http://schemas.microsoft.com/office/drawing/2014/main" id="{50574DF6-DAB3-41BC-A6A9-A1E3771B7461}"/>
              </a:ext>
            </a:extLst>
          </p:cNvPr>
          <p:cNvSpPr txBox="1"/>
          <p:nvPr/>
        </p:nvSpPr>
        <p:spPr>
          <a:xfrm>
            <a:off x="704092" y="1212380"/>
            <a:ext cx="7831566" cy="416974"/>
          </a:xfrm>
          <a:prstGeom prst="rect">
            <a:avLst/>
          </a:prstGeom>
          <a:noFill/>
        </p:spPr>
        <p:txBody>
          <a:bodyPr wrap="square" rtlCol="0">
            <a:spAutoFit/>
          </a:bodyPr>
          <a:lstStyle/>
          <a:p>
            <a:pPr marL="0" indent="0" algn="just">
              <a:lnSpc>
                <a:spcPct val="110000"/>
              </a:lnSpc>
              <a:buNone/>
            </a:pPr>
            <a:r>
              <a:rPr lang="es-MX" sz="1000" dirty="0">
                <a:ea typeface="Verdana" panose="020B0604030504040204" pitchFamily="34" charset="0"/>
                <a:cs typeface="Verdana" panose="020B0604030504040204" pitchFamily="34" charset="0"/>
              </a:rPr>
              <a:t>El manejo de conflictos en Git ocurre cuando dos ramas modifican las mismas líneas de un archivo, requiriendo intervención manual para decidir qué cambios conservar</a:t>
            </a:r>
          </a:p>
        </p:txBody>
      </p:sp>
    </p:spTree>
    <p:extLst>
      <p:ext uri="{BB962C8B-B14F-4D97-AF65-F5344CB8AC3E}">
        <p14:creationId xmlns:p14="http://schemas.microsoft.com/office/powerpoint/2010/main" val="31520082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29</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800" dirty="0">
                <a:ea typeface="Vita Std ExLt" pitchFamily="2" charset="77"/>
                <a:cs typeface="Verdana" panose="020B0604030504040204" pitchFamily="34" charset="0"/>
              </a:rPr>
              <a:t>Comandos Básicos (1/4)</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sp>
        <p:nvSpPr>
          <p:cNvPr id="4" name="Rectángulo 3"/>
          <p:cNvSpPr/>
          <p:nvPr/>
        </p:nvSpPr>
        <p:spPr>
          <a:xfrm>
            <a:off x="464936" y="3927903"/>
            <a:ext cx="5636301" cy="307777"/>
          </a:xfrm>
          <a:prstGeom prst="rect">
            <a:avLst/>
          </a:prstGeom>
        </p:spPr>
        <p:txBody>
          <a:bodyPr wrap="square">
            <a:spAutoFit/>
          </a:bodyPr>
          <a:lstStyle/>
          <a:p>
            <a:pPr algn="just"/>
            <a:r>
              <a:rPr lang="es-MX" sz="1400" dirty="0"/>
              <a:t>Cuerpo</a:t>
            </a:r>
          </a:p>
        </p:txBody>
      </p:sp>
      <p:graphicFrame>
        <p:nvGraphicFramePr>
          <p:cNvPr id="3" name="Tabla 2"/>
          <p:cNvGraphicFramePr>
            <a:graphicFrameLocks noGrp="1"/>
          </p:cNvGraphicFramePr>
          <p:nvPr>
            <p:extLst>
              <p:ext uri="{D42A27DB-BD31-4B8C-83A1-F6EECF244321}">
                <p14:modId xmlns:p14="http://schemas.microsoft.com/office/powerpoint/2010/main" val="913823305"/>
              </p:ext>
            </p:extLst>
          </p:nvPr>
        </p:nvGraphicFramePr>
        <p:xfrm>
          <a:off x="542814" y="1533291"/>
          <a:ext cx="8124935" cy="2988000"/>
        </p:xfrm>
        <a:graphic>
          <a:graphicData uri="http://schemas.openxmlformats.org/drawingml/2006/table">
            <a:tbl>
              <a:tblPr firstRow="1" bandRow="1">
                <a:tableStyleId>{5C22544A-7EE6-4342-B048-85BDC9FD1C3A}</a:tableStyleId>
              </a:tblPr>
              <a:tblGrid>
                <a:gridCol w="1647936">
                  <a:extLst>
                    <a:ext uri="{9D8B030D-6E8A-4147-A177-3AD203B41FA5}">
                      <a16:colId xmlns:a16="http://schemas.microsoft.com/office/drawing/2014/main" val="130215019"/>
                    </a:ext>
                  </a:extLst>
                </a:gridCol>
                <a:gridCol w="6476999">
                  <a:extLst>
                    <a:ext uri="{9D8B030D-6E8A-4147-A177-3AD203B41FA5}">
                      <a16:colId xmlns:a16="http://schemas.microsoft.com/office/drawing/2014/main" val="2437620845"/>
                    </a:ext>
                  </a:extLst>
                </a:gridCol>
              </a:tblGrid>
              <a:tr h="310752">
                <a:tc>
                  <a:txBody>
                    <a:bodyPr/>
                    <a:lstStyle/>
                    <a:p>
                      <a:pPr marL="0" algn="ctr" defTabSz="685800" rtl="0" eaLnBrk="1" latinLnBrk="0" hangingPunct="1"/>
                      <a:r>
                        <a:rPr lang="es-MX" sz="1350" b="1" kern="1200" dirty="0">
                          <a:solidFill>
                            <a:schemeClr val="lt1"/>
                          </a:solidFill>
                          <a:latin typeface="+mn-lt"/>
                          <a:ea typeface="+mn-ea"/>
                          <a:cs typeface="+mn-cs"/>
                        </a:rPr>
                        <a:t>Comando</a:t>
                      </a:r>
                    </a:p>
                  </a:txBody>
                  <a:tcPr/>
                </a:tc>
                <a:tc>
                  <a:txBody>
                    <a:bodyPr/>
                    <a:lstStyle/>
                    <a:p>
                      <a:pPr marL="0" algn="ctr" defTabSz="685800" rtl="0" eaLnBrk="1" latinLnBrk="0" hangingPunct="1"/>
                      <a:r>
                        <a:rPr lang="es-MX" sz="1350" b="1" kern="1200" dirty="0">
                          <a:solidFill>
                            <a:schemeClr val="lt1"/>
                          </a:solidFill>
                          <a:latin typeface="+mn-lt"/>
                          <a:ea typeface="+mn-ea"/>
                          <a:cs typeface="+mn-cs"/>
                        </a:rPr>
                        <a:t>Función</a:t>
                      </a:r>
                    </a:p>
                  </a:txBody>
                  <a:tcPr/>
                </a:tc>
                <a:extLst>
                  <a:ext uri="{0D108BD9-81ED-4DB2-BD59-A6C34878D82A}">
                    <a16:rowId xmlns:a16="http://schemas.microsoft.com/office/drawing/2014/main" val="2790224341"/>
                  </a:ext>
                </a:extLst>
              </a:tr>
              <a:tr h="478080">
                <a:tc>
                  <a:txBody>
                    <a:bodyPr/>
                    <a:lstStyle/>
                    <a:p>
                      <a:pPr marL="0" algn="l" defTabSz="685800" rtl="0" eaLnBrk="1" latinLnBrk="0" hangingPunct="1"/>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init</a:t>
                      </a:r>
                      <a:endParaRPr lang="es-MX" sz="1200" kern="1200" dirty="0">
                        <a:solidFill>
                          <a:schemeClr val="dk1"/>
                        </a:solidFill>
                        <a:latin typeface="Consolas" panose="020B0609020204030204" pitchFamily="49" charset="0"/>
                        <a:ea typeface="+mn-ea"/>
                        <a:cs typeface="+mn-cs"/>
                      </a:endParaRPr>
                    </a:p>
                  </a:txBody>
                  <a:tcPr anchor="ctr"/>
                </a:tc>
                <a:tc>
                  <a:txBody>
                    <a:bodyPr/>
                    <a:lstStyle/>
                    <a:p>
                      <a:pPr marL="0" algn="l" defTabSz="685800" rtl="0" eaLnBrk="1" latinLnBrk="0" hangingPunct="1"/>
                      <a:r>
                        <a:rPr lang="es-MX" sz="1200" kern="1200" dirty="0">
                          <a:solidFill>
                            <a:schemeClr val="dk1"/>
                          </a:solidFill>
                          <a:latin typeface="+mn-lt"/>
                          <a:ea typeface="+mn-ea"/>
                          <a:cs typeface="+mn-cs"/>
                        </a:rPr>
                        <a:t>Inicializa un nuevo repositorio, crea un subdirectorio oculto llamado .</a:t>
                      </a:r>
                      <a:r>
                        <a:rPr lang="es-MX" sz="1200" kern="1200" dirty="0" err="1">
                          <a:solidFill>
                            <a:schemeClr val="dk1"/>
                          </a:solidFill>
                          <a:latin typeface="+mn-lt"/>
                          <a:ea typeface="+mn-ea"/>
                          <a:cs typeface="+mn-cs"/>
                        </a:rPr>
                        <a:t>git</a:t>
                      </a:r>
                      <a:r>
                        <a:rPr lang="es-MX" sz="1200" kern="1200" dirty="0">
                          <a:solidFill>
                            <a:schemeClr val="dk1"/>
                          </a:solidFill>
                          <a:latin typeface="+mn-lt"/>
                          <a:ea typeface="+mn-ea"/>
                          <a:cs typeface="+mn-cs"/>
                        </a:rPr>
                        <a:t> y comienza a monitorear los cambios en la carpeta existente.</a:t>
                      </a:r>
                    </a:p>
                  </a:txBody>
                  <a:tcPr/>
                </a:tc>
                <a:extLst>
                  <a:ext uri="{0D108BD9-81ED-4DB2-BD59-A6C34878D82A}">
                    <a16:rowId xmlns:a16="http://schemas.microsoft.com/office/drawing/2014/main" val="3723552471"/>
                  </a:ext>
                </a:extLst>
              </a:tr>
              <a:tr h="1051776">
                <a:tc>
                  <a:txBody>
                    <a:bodyPr/>
                    <a:lstStyle/>
                    <a:p>
                      <a:pPr marL="0" algn="l" defTabSz="685800" rtl="0" eaLnBrk="1" latinLnBrk="0" hangingPunct="1"/>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clone</a:t>
                      </a:r>
                    </a:p>
                  </a:txBody>
                  <a:tcPr anchor="ctr"/>
                </a:tc>
                <a:tc>
                  <a:txBody>
                    <a:bodyPr/>
                    <a:lstStyle/>
                    <a:p>
                      <a:pPr marL="0" algn="l" defTabSz="685800" rtl="0" eaLnBrk="1" latinLnBrk="0" hangingPunct="1"/>
                      <a:r>
                        <a:rPr lang="es-MX" sz="1200" kern="1200" dirty="0">
                          <a:solidFill>
                            <a:schemeClr val="dk1"/>
                          </a:solidFill>
                          <a:latin typeface="+mn-lt"/>
                          <a:ea typeface="+mn-ea"/>
                          <a:cs typeface="+mn-cs"/>
                        </a:rPr>
                        <a:t>Obtiene</a:t>
                      </a:r>
                      <a:r>
                        <a:rPr lang="es-MX" sz="1200" kern="1200" baseline="0" dirty="0">
                          <a:solidFill>
                            <a:schemeClr val="dk1"/>
                          </a:solidFill>
                          <a:latin typeface="+mn-lt"/>
                          <a:ea typeface="+mn-ea"/>
                          <a:cs typeface="+mn-cs"/>
                        </a:rPr>
                        <a:t> una copia de un repositorio </a:t>
                      </a:r>
                      <a:r>
                        <a:rPr lang="es-MX" sz="1200" kern="1200" baseline="0" dirty="0" err="1">
                          <a:solidFill>
                            <a:schemeClr val="dk1"/>
                          </a:solidFill>
                          <a:latin typeface="+mn-lt"/>
                          <a:ea typeface="+mn-ea"/>
                          <a:cs typeface="+mn-cs"/>
                        </a:rPr>
                        <a:t>Git</a:t>
                      </a:r>
                      <a:r>
                        <a:rPr lang="es-MX" sz="1200" kern="1200" baseline="0" dirty="0">
                          <a:solidFill>
                            <a:schemeClr val="dk1"/>
                          </a:solidFill>
                          <a:latin typeface="+mn-lt"/>
                          <a:ea typeface="+mn-ea"/>
                          <a:cs typeface="+mn-cs"/>
                        </a:rPr>
                        <a:t> existente.</a:t>
                      </a:r>
                    </a:p>
                    <a:p>
                      <a:pPr marL="171450" indent="-171450" algn="l" defTabSz="685800" rtl="0" eaLnBrk="1" latinLnBrk="0" hangingPunct="1">
                        <a:buFont typeface="Wingdings" panose="05000000000000000000" pitchFamily="2" charset="2"/>
                        <a:buChar char="§"/>
                      </a:pPr>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clone </a:t>
                      </a:r>
                      <a:r>
                        <a:rPr lang="es-MX" sz="1200" kern="1200" dirty="0">
                          <a:solidFill>
                            <a:schemeClr val="dk1"/>
                          </a:solidFill>
                          <a:latin typeface="Consolas" panose="020B0609020204030204" pitchFamily="49" charset="0"/>
                          <a:ea typeface="+mn-ea"/>
                          <a:cs typeface="+mn-cs"/>
                          <a:hlinkClick r:id="rId5"/>
                        </a:rPr>
                        <a:t>https://github.com/libgit2/libgit2</a:t>
                      </a:r>
                      <a:endParaRPr lang="es-MX" sz="1200" kern="1200" dirty="0">
                        <a:solidFill>
                          <a:schemeClr val="dk1"/>
                        </a:solidFill>
                        <a:latin typeface="Consolas" panose="020B0609020204030204" pitchFamily="49" charset="0"/>
                        <a:ea typeface="+mn-ea"/>
                        <a:cs typeface="+mn-cs"/>
                      </a:endParaRPr>
                    </a:p>
                    <a:p>
                      <a:pPr marL="0" algn="l" defTabSz="685800" rtl="0" eaLnBrk="1" latinLnBrk="0" hangingPunct="1"/>
                      <a:endParaRPr lang="es-MX" sz="1200" kern="1200" dirty="0">
                        <a:solidFill>
                          <a:schemeClr val="dk1"/>
                        </a:solidFill>
                        <a:latin typeface="Consolas" panose="020B0609020204030204" pitchFamily="49" charset="0"/>
                        <a:ea typeface="+mn-ea"/>
                        <a:cs typeface="+mn-cs"/>
                      </a:endParaRPr>
                    </a:p>
                    <a:p>
                      <a:pPr marL="0" algn="l" defTabSz="685800" rtl="0" eaLnBrk="1" latinLnBrk="0" hangingPunct="1"/>
                      <a:r>
                        <a:rPr lang="es-MX" sz="1200" kern="1200" dirty="0">
                          <a:solidFill>
                            <a:schemeClr val="dk1"/>
                          </a:solidFill>
                          <a:latin typeface="+mn-lt"/>
                          <a:ea typeface="+mn-ea"/>
                          <a:cs typeface="+mn-cs"/>
                        </a:rPr>
                        <a:t>Hace lo mismo que el anterior, pero el directorio de destino se llamará </a:t>
                      </a:r>
                      <a:r>
                        <a:rPr lang="es-MX" sz="1200" kern="1200" dirty="0" err="1">
                          <a:solidFill>
                            <a:schemeClr val="dk1"/>
                          </a:solidFill>
                          <a:latin typeface="+mn-lt"/>
                          <a:ea typeface="+mn-ea"/>
                          <a:cs typeface="+mn-cs"/>
                        </a:rPr>
                        <a:t>mylibgit</a:t>
                      </a:r>
                      <a:r>
                        <a:rPr lang="es-MX" sz="1200" kern="1200" dirty="0">
                          <a:solidFill>
                            <a:schemeClr val="dk1"/>
                          </a:solidFill>
                          <a:latin typeface="+mn-lt"/>
                          <a:ea typeface="+mn-ea"/>
                          <a:cs typeface="+mn-cs"/>
                        </a:rPr>
                        <a:t>. </a:t>
                      </a:r>
                    </a:p>
                    <a:p>
                      <a:pPr marL="171450" marR="0" lvl="0" indent="-171450" algn="l" defTabSz="6858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clone </a:t>
                      </a:r>
                      <a:r>
                        <a:rPr lang="es-MX" sz="1200" kern="1200" dirty="0">
                          <a:solidFill>
                            <a:schemeClr val="dk1"/>
                          </a:solidFill>
                          <a:latin typeface="Consolas" panose="020B0609020204030204" pitchFamily="49" charset="0"/>
                          <a:ea typeface="+mn-ea"/>
                          <a:cs typeface="+mn-cs"/>
                          <a:hlinkClick r:id="rId5"/>
                        </a:rPr>
                        <a:t>https://github.com/libgit2/libgit2</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mn-lt"/>
                          <a:ea typeface="+mn-ea"/>
                          <a:cs typeface="+mn-cs"/>
                        </a:rPr>
                        <a:t>mylibgit</a:t>
                      </a:r>
                      <a:endParaRPr lang="es-MX" sz="1200" kern="1200" dirty="0">
                        <a:solidFill>
                          <a:schemeClr val="dk1"/>
                        </a:solidFill>
                        <a:latin typeface="Consolas" panose="020B0609020204030204" pitchFamily="49" charset="0"/>
                        <a:ea typeface="+mn-ea"/>
                        <a:cs typeface="+mn-cs"/>
                      </a:endParaRPr>
                    </a:p>
                  </a:txBody>
                  <a:tcPr/>
                </a:tc>
                <a:extLst>
                  <a:ext uri="{0D108BD9-81ED-4DB2-BD59-A6C34878D82A}">
                    <a16:rowId xmlns:a16="http://schemas.microsoft.com/office/drawing/2014/main" val="2960036498"/>
                  </a:ext>
                </a:extLst>
              </a:tr>
              <a:tr h="478080">
                <a:tc>
                  <a:txBody>
                    <a:bodyPr/>
                    <a:lstStyle/>
                    <a:p>
                      <a:pPr marL="0" algn="l" defTabSz="685800" rtl="0" eaLnBrk="1" latinLnBrk="0" hangingPunct="1"/>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status</a:t>
                      </a:r>
                    </a:p>
                  </a:txBody>
                  <a:tcPr anchor="ctr"/>
                </a:tc>
                <a:tc>
                  <a:txBody>
                    <a:bodyPr/>
                    <a:lstStyle/>
                    <a:p>
                      <a:pPr marL="0" algn="l" defTabSz="685800" rtl="0" eaLnBrk="1" latinLnBrk="0" hangingPunct="1"/>
                      <a:r>
                        <a:rPr lang="es-MX" sz="1200" kern="1200" dirty="0">
                          <a:solidFill>
                            <a:schemeClr val="dk1"/>
                          </a:solidFill>
                          <a:latin typeface="+mn-lt"/>
                          <a:ea typeface="+mn-ea"/>
                          <a:cs typeface="+mn-cs"/>
                        </a:rPr>
                        <a:t>Muestra</a:t>
                      </a:r>
                      <a:r>
                        <a:rPr lang="es-MX" sz="1200" kern="1200" baseline="0" dirty="0">
                          <a:solidFill>
                            <a:schemeClr val="dk1"/>
                          </a:solidFill>
                          <a:latin typeface="+mn-lt"/>
                          <a:ea typeface="+mn-ea"/>
                          <a:cs typeface="+mn-cs"/>
                        </a:rPr>
                        <a:t> el estado actual del proyecto, permite ver qué archivos se han añadido, eliminado o modificado en tu directorio de trabajo. </a:t>
                      </a:r>
                      <a:endParaRPr lang="es-MX" sz="1200" kern="1200" dirty="0">
                        <a:solidFill>
                          <a:schemeClr val="dk1"/>
                        </a:solidFill>
                        <a:latin typeface="+mn-lt"/>
                        <a:ea typeface="+mn-ea"/>
                        <a:cs typeface="+mn-cs"/>
                      </a:endParaRPr>
                    </a:p>
                  </a:txBody>
                  <a:tcPr/>
                </a:tc>
                <a:extLst>
                  <a:ext uri="{0D108BD9-81ED-4DB2-BD59-A6C34878D82A}">
                    <a16:rowId xmlns:a16="http://schemas.microsoft.com/office/drawing/2014/main" val="1590487911"/>
                  </a:ext>
                </a:extLst>
              </a:tr>
              <a:tr h="669312">
                <a:tc>
                  <a:txBody>
                    <a:bodyPr/>
                    <a:lstStyle/>
                    <a:p>
                      <a:pPr marL="0" algn="l" defTabSz="685800" rtl="0" eaLnBrk="1" latinLnBrk="0" hangingPunct="1"/>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add</a:t>
                      </a:r>
                      <a:endParaRPr lang="es-MX" sz="1200" kern="1200" dirty="0">
                        <a:solidFill>
                          <a:schemeClr val="dk1"/>
                        </a:solidFill>
                        <a:latin typeface="Consolas" panose="020B0609020204030204" pitchFamily="49" charset="0"/>
                        <a:ea typeface="+mn-ea"/>
                        <a:cs typeface="+mn-cs"/>
                      </a:endParaRPr>
                    </a:p>
                  </a:txBody>
                  <a:tcPr anchor="ctr"/>
                </a:tc>
                <a:tc>
                  <a:txBody>
                    <a:bodyPr/>
                    <a:lstStyle/>
                    <a:p>
                      <a:pPr marL="0" algn="l" defTabSz="685800" rtl="0" eaLnBrk="1" latinLnBrk="0" hangingPunct="1"/>
                      <a:r>
                        <a:rPr lang="es-MX" sz="1200" kern="1200" dirty="0">
                          <a:solidFill>
                            <a:schemeClr val="dk1"/>
                          </a:solidFill>
                          <a:latin typeface="+mn-lt"/>
                          <a:ea typeface="+mn-ea"/>
                          <a:cs typeface="+mn-cs"/>
                        </a:rPr>
                        <a:t>Agrega los cambios al “</a:t>
                      </a:r>
                      <a:r>
                        <a:rPr lang="es-MX" sz="1200" kern="1200" dirty="0" err="1">
                          <a:solidFill>
                            <a:schemeClr val="dk1"/>
                          </a:solidFill>
                          <a:latin typeface="+mn-lt"/>
                          <a:ea typeface="+mn-ea"/>
                          <a:cs typeface="+mn-cs"/>
                        </a:rPr>
                        <a:t>stage</a:t>
                      </a:r>
                      <a:r>
                        <a:rPr lang="es-MX" sz="1200" kern="1200" dirty="0">
                          <a:solidFill>
                            <a:schemeClr val="dk1"/>
                          </a:solidFill>
                          <a:latin typeface="+mn-lt"/>
                          <a:ea typeface="+mn-ea"/>
                          <a:cs typeface="+mn-cs"/>
                        </a:rPr>
                        <a:t>”, es el primer paso para poder realizar </a:t>
                      </a:r>
                      <a:r>
                        <a:rPr lang="es-MX" sz="1200" kern="1200" dirty="0" err="1">
                          <a:solidFill>
                            <a:schemeClr val="dk1"/>
                          </a:solidFill>
                          <a:latin typeface="+mn-lt"/>
                          <a:ea typeface="+mn-ea"/>
                          <a:cs typeface="+mn-cs"/>
                        </a:rPr>
                        <a:t>commits</a:t>
                      </a:r>
                      <a:r>
                        <a:rPr lang="es-MX" sz="1200" kern="1200" dirty="0">
                          <a:solidFill>
                            <a:schemeClr val="dk1"/>
                          </a:solidFill>
                          <a:latin typeface="+mn-lt"/>
                          <a:ea typeface="+mn-ea"/>
                          <a:cs typeface="+mn-cs"/>
                        </a:rPr>
                        <a:t>, todos los cambios que pasen a este estado serán incluidos en el </a:t>
                      </a:r>
                      <a:r>
                        <a:rPr lang="es-MX" sz="1200" kern="1200" dirty="0" err="1">
                          <a:solidFill>
                            <a:schemeClr val="dk1"/>
                          </a:solidFill>
                          <a:latin typeface="+mn-lt"/>
                          <a:ea typeface="+mn-ea"/>
                          <a:cs typeface="+mn-cs"/>
                        </a:rPr>
                        <a:t>commit</a:t>
                      </a:r>
                      <a:r>
                        <a:rPr lang="es-MX" sz="1200" kern="1200" dirty="0">
                          <a:solidFill>
                            <a:schemeClr val="dk1"/>
                          </a:solidFill>
                          <a:latin typeface="+mn-lt"/>
                          <a:ea typeface="+mn-ea"/>
                          <a:cs typeface="+mn-cs"/>
                        </a:rPr>
                        <a:t>.</a:t>
                      </a:r>
                    </a:p>
                    <a:p>
                      <a:pPr marL="171450" indent="-171450" algn="l" defTabSz="685800" rtl="0" eaLnBrk="1" latinLnBrk="0" hangingPunct="1">
                        <a:buFont typeface="Wingdings" panose="05000000000000000000" pitchFamily="2" charset="2"/>
                        <a:buChar char="§"/>
                      </a:pPr>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add</a:t>
                      </a:r>
                      <a:r>
                        <a:rPr lang="es-MX" sz="1200" kern="1200" dirty="0">
                          <a:solidFill>
                            <a:schemeClr val="dk1"/>
                          </a:solidFill>
                          <a:latin typeface="Consolas" panose="020B0609020204030204" pitchFamily="49" charset="0"/>
                          <a:ea typeface="+mn-ea"/>
                          <a:cs typeface="+mn-cs"/>
                        </a:rPr>
                        <a:t> &lt;archivo&gt;</a:t>
                      </a:r>
                    </a:p>
                  </a:txBody>
                  <a:tcPr/>
                </a:tc>
                <a:extLst>
                  <a:ext uri="{0D108BD9-81ED-4DB2-BD59-A6C34878D82A}">
                    <a16:rowId xmlns:a16="http://schemas.microsoft.com/office/drawing/2014/main" val="1119630177"/>
                  </a:ext>
                </a:extLst>
              </a:tr>
            </a:tbl>
          </a:graphicData>
        </a:graphic>
      </p:graphicFrame>
    </p:spTree>
    <p:extLst>
      <p:ext uri="{BB962C8B-B14F-4D97-AF65-F5344CB8AC3E}">
        <p14:creationId xmlns:p14="http://schemas.microsoft.com/office/powerpoint/2010/main" val="40105775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30</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800" dirty="0">
                <a:ea typeface="Vita Std ExLt" pitchFamily="2" charset="77"/>
                <a:cs typeface="Verdana" panose="020B0604030504040204" pitchFamily="34" charset="0"/>
              </a:rPr>
              <a:t>Comandos Básicos (2/4)</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sp>
        <p:nvSpPr>
          <p:cNvPr id="4" name="Rectángulo 3"/>
          <p:cNvSpPr/>
          <p:nvPr/>
        </p:nvSpPr>
        <p:spPr>
          <a:xfrm>
            <a:off x="464936" y="3927903"/>
            <a:ext cx="5636301" cy="307777"/>
          </a:xfrm>
          <a:prstGeom prst="rect">
            <a:avLst/>
          </a:prstGeom>
        </p:spPr>
        <p:txBody>
          <a:bodyPr wrap="square">
            <a:spAutoFit/>
          </a:bodyPr>
          <a:lstStyle/>
          <a:p>
            <a:pPr algn="just"/>
            <a:r>
              <a:rPr lang="es-MX" sz="1400" dirty="0"/>
              <a:t>Cuerpo</a:t>
            </a:r>
          </a:p>
        </p:txBody>
      </p:sp>
      <p:graphicFrame>
        <p:nvGraphicFramePr>
          <p:cNvPr id="3" name="Tabla 2"/>
          <p:cNvGraphicFramePr>
            <a:graphicFrameLocks noGrp="1"/>
          </p:cNvGraphicFramePr>
          <p:nvPr>
            <p:extLst>
              <p:ext uri="{D42A27DB-BD31-4B8C-83A1-F6EECF244321}">
                <p14:modId xmlns:p14="http://schemas.microsoft.com/office/powerpoint/2010/main" val="2070482226"/>
              </p:ext>
            </p:extLst>
          </p:nvPr>
        </p:nvGraphicFramePr>
        <p:xfrm>
          <a:off x="542815" y="1219357"/>
          <a:ext cx="8124935" cy="3131820"/>
        </p:xfrm>
        <a:graphic>
          <a:graphicData uri="http://schemas.openxmlformats.org/drawingml/2006/table">
            <a:tbl>
              <a:tblPr firstRow="1" bandRow="1">
                <a:tableStyleId>{5C22544A-7EE6-4342-B048-85BDC9FD1C3A}</a:tableStyleId>
              </a:tblPr>
              <a:tblGrid>
                <a:gridCol w="1647936">
                  <a:extLst>
                    <a:ext uri="{9D8B030D-6E8A-4147-A177-3AD203B41FA5}">
                      <a16:colId xmlns:a16="http://schemas.microsoft.com/office/drawing/2014/main" val="130215019"/>
                    </a:ext>
                  </a:extLst>
                </a:gridCol>
                <a:gridCol w="6476999">
                  <a:extLst>
                    <a:ext uri="{9D8B030D-6E8A-4147-A177-3AD203B41FA5}">
                      <a16:colId xmlns:a16="http://schemas.microsoft.com/office/drawing/2014/main" val="2437620845"/>
                    </a:ext>
                  </a:extLst>
                </a:gridCol>
              </a:tblGrid>
              <a:tr h="293781">
                <a:tc>
                  <a:txBody>
                    <a:bodyPr/>
                    <a:lstStyle/>
                    <a:p>
                      <a:pPr algn="ctr"/>
                      <a:r>
                        <a:rPr lang="es-MX" dirty="0"/>
                        <a:t>Comando</a:t>
                      </a:r>
                    </a:p>
                  </a:txBody>
                  <a:tcPr anchor="ctr"/>
                </a:tc>
                <a:tc>
                  <a:txBody>
                    <a:bodyPr/>
                    <a:lstStyle/>
                    <a:p>
                      <a:pPr algn="ctr"/>
                      <a:r>
                        <a:rPr lang="es-MX" dirty="0"/>
                        <a:t>Función</a:t>
                      </a:r>
                    </a:p>
                  </a:txBody>
                  <a:tcPr anchor="ctr"/>
                </a:tc>
                <a:extLst>
                  <a:ext uri="{0D108BD9-81ED-4DB2-BD59-A6C34878D82A}">
                    <a16:rowId xmlns:a16="http://schemas.microsoft.com/office/drawing/2014/main" val="2790224341"/>
                  </a:ext>
                </a:extLst>
              </a:tr>
              <a:tr h="1175124">
                <a:tc>
                  <a:txBody>
                    <a:bodyPr/>
                    <a:lstStyle/>
                    <a:p>
                      <a:pPr marL="0" algn="l" defTabSz="685800" rtl="0" eaLnBrk="1" latinLnBrk="0" hangingPunct="1"/>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commit</a:t>
                      </a:r>
                      <a:endParaRPr lang="es-MX" sz="1200" kern="1200" dirty="0">
                        <a:solidFill>
                          <a:schemeClr val="dk1"/>
                        </a:solidFill>
                        <a:latin typeface="Consolas" panose="020B0609020204030204" pitchFamily="49" charset="0"/>
                        <a:ea typeface="+mn-ea"/>
                        <a:cs typeface="+mn-cs"/>
                      </a:endParaRPr>
                    </a:p>
                  </a:txBody>
                  <a:tcPr anchor="ctr"/>
                </a:tc>
                <a:tc>
                  <a:txBody>
                    <a:bodyPr/>
                    <a:lstStyle/>
                    <a:p>
                      <a:pPr marL="0" algn="l" defTabSz="685800" rtl="0" eaLnBrk="1" latinLnBrk="0" hangingPunct="1"/>
                      <a:r>
                        <a:rPr lang="es-MX" sz="1200" kern="1200" dirty="0">
                          <a:solidFill>
                            <a:schemeClr val="dk1"/>
                          </a:solidFill>
                          <a:latin typeface="+mn-lt"/>
                          <a:ea typeface="+mn-ea"/>
                          <a:cs typeface="+mn-cs"/>
                        </a:rPr>
                        <a:t>Confirma los cambios realizados en el historial del proyecto. En combinación con </a:t>
                      </a:r>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add</a:t>
                      </a:r>
                      <a:r>
                        <a:rPr lang="es-MX" sz="1200" kern="1200" dirty="0">
                          <a:solidFill>
                            <a:schemeClr val="dk1"/>
                          </a:solidFill>
                          <a:latin typeface="+mn-lt"/>
                          <a:ea typeface="+mn-ea"/>
                          <a:cs typeface="+mn-cs"/>
                        </a:rPr>
                        <a:t>, define el flujo de trabajo básico de todos los usuarios de </a:t>
                      </a:r>
                      <a:r>
                        <a:rPr lang="es-MX" sz="1200" kern="1200" dirty="0" err="1">
                          <a:solidFill>
                            <a:schemeClr val="dk1"/>
                          </a:solidFill>
                          <a:latin typeface="+mn-lt"/>
                          <a:ea typeface="+mn-ea"/>
                          <a:cs typeface="+mn-cs"/>
                        </a:rPr>
                        <a:t>Git</a:t>
                      </a:r>
                      <a:r>
                        <a:rPr lang="es-MX" sz="1200" kern="1200" dirty="0">
                          <a:solidFill>
                            <a:schemeClr val="dk1"/>
                          </a:solidFill>
                          <a:latin typeface="+mn-lt"/>
                          <a:ea typeface="+mn-ea"/>
                          <a:cs typeface="+mn-cs"/>
                        </a:rPr>
                        <a:t>.</a:t>
                      </a:r>
                    </a:p>
                    <a:p>
                      <a:pPr marL="0" algn="l" defTabSz="685800" rtl="0" eaLnBrk="1" latinLnBrk="0" hangingPunct="1"/>
                      <a:endParaRPr lang="es-MX" sz="1200" kern="1200" dirty="0">
                        <a:solidFill>
                          <a:schemeClr val="dk1"/>
                        </a:solidFill>
                        <a:latin typeface="+mn-lt"/>
                        <a:ea typeface="+mn-ea"/>
                        <a:cs typeface="+mn-cs"/>
                      </a:endParaRPr>
                    </a:p>
                    <a:p>
                      <a:pPr marL="0" algn="l" defTabSz="685800" rtl="0" eaLnBrk="1" latinLnBrk="0" hangingPunct="1"/>
                      <a:r>
                        <a:rPr lang="es-MX" sz="1200" kern="1200" dirty="0">
                          <a:solidFill>
                            <a:schemeClr val="dk1"/>
                          </a:solidFill>
                          <a:latin typeface="+mn-lt"/>
                          <a:ea typeface="+mn-ea"/>
                          <a:cs typeface="+mn-cs"/>
                        </a:rPr>
                        <a:t>Escribimos un mensaje corto para explicar qué hemos desarrollado o modificado en el código fuente.</a:t>
                      </a:r>
                    </a:p>
                    <a:p>
                      <a:pPr marL="171450" indent="-171450" algn="l" defTabSz="685800" rtl="0" eaLnBrk="1" latinLnBrk="0" hangingPunct="1">
                        <a:buFont typeface="Wingdings" panose="05000000000000000000" pitchFamily="2" charset="2"/>
                        <a:buChar char="§"/>
                      </a:pPr>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commit</a:t>
                      </a:r>
                      <a:r>
                        <a:rPr lang="es-MX" sz="1200" kern="1200" dirty="0">
                          <a:solidFill>
                            <a:schemeClr val="dk1"/>
                          </a:solidFill>
                          <a:latin typeface="Consolas" panose="020B0609020204030204" pitchFamily="49" charset="0"/>
                          <a:ea typeface="+mn-ea"/>
                          <a:cs typeface="+mn-cs"/>
                        </a:rPr>
                        <a:t> -m "mensaje de confirmación"</a:t>
                      </a:r>
                    </a:p>
                  </a:txBody>
                  <a:tcPr/>
                </a:tc>
                <a:extLst>
                  <a:ext uri="{0D108BD9-81ED-4DB2-BD59-A6C34878D82A}">
                    <a16:rowId xmlns:a16="http://schemas.microsoft.com/office/drawing/2014/main" val="3723552471"/>
                  </a:ext>
                </a:extLst>
              </a:tr>
              <a:tr h="1175124">
                <a:tc>
                  <a:txBody>
                    <a:bodyPr/>
                    <a:lstStyle/>
                    <a:p>
                      <a:pPr marL="0" algn="l" defTabSz="685800" rtl="0" eaLnBrk="1" latinLnBrk="0" hangingPunct="1"/>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rm</a:t>
                      </a:r>
                      <a:endParaRPr lang="es-MX" sz="1200" kern="1200" dirty="0">
                        <a:solidFill>
                          <a:schemeClr val="dk1"/>
                        </a:solidFill>
                        <a:latin typeface="Consolas" panose="020B0609020204030204" pitchFamily="49" charset="0"/>
                        <a:ea typeface="+mn-ea"/>
                        <a:cs typeface="+mn-cs"/>
                      </a:endParaRPr>
                    </a:p>
                  </a:txBody>
                  <a:tcPr anchor="ctr"/>
                </a:tc>
                <a:tc>
                  <a:txBody>
                    <a:bodyPr/>
                    <a:lstStyle/>
                    <a:p>
                      <a:pPr marL="0" algn="l" defTabSz="685800" rtl="0" eaLnBrk="1" latinLnBrk="0" hangingPunct="1"/>
                      <a:r>
                        <a:rPr lang="es-MX" sz="1200" kern="1200" dirty="0">
                          <a:solidFill>
                            <a:schemeClr val="dk1"/>
                          </a:solidFill>
                          <a:latin typeface="+mn-lt"/>
                          <a:ea typeface="+mn-ea"/>
                          <a:cs typeface="+mn-cs"/>
                        </a:rPr>
                        <a:t>Elimina el archivo de tu directorio de trabajo de manera que no aparezca la próxima vez como un archivo no rastreado.</a:t>
                      </a:r>
                    </a:p>
                    <a:p>
                      <a:pPr marL="0" algn="l" defTabSz="685800" rtl="0" eaLnBrk="1" latinLnBrk="0" hangingPunct="1"/>
                      <a:r>
                        <a:rPr lang="es-MX" sz="1200" kern="1200" dirty="0">
                          <a:solidFill>
                            <a:schemeClr val="dk1"/>
                          </a:solidFill>
                          <a:latin typeface="+mn-lt"/>
                          <a:ea typeface="+mn-ea"/>
                          <a:cs typeface="+mn-cs"/>
                        </a:rPr>
                        <a:t>Si simplemente eliminas el archivo de tu directorio de trabajo, aparecerá en la sección “</a:t>
                      </a:r>
                      <a:r>
                        <a:rPr lang="es-MX" sz="1200" kern="1200" dirty="0" err="1">
                          <a:solidFill>
                            <a:schemeClr val="dk1"/>
                          </a:solidFill>
                          <a:latin typeface="+mn-lt"/>
                          <a:ea typeface="+mn-ea"/>
                          <a:cs typeface="+mn-cs"/>
                        </a:rPr>
                        <a:t>Changes</a:t>
                      </a:r>
                      <a:r>
                        <a:rPr lang="es-MX" sz="1200" kern="1200" dirty="0">
                          <a:solidFill>
                            <a:schemeClr val="dk1"/>
                          </a:solidFill>
                          <a:latin typeface="+mn-lt"/>
                          <a:ea typeface="+mn-ea"/>
                          <a:cs typeface="+mn-cs"/>
                        </a:rPr>
                        <a:t> </a:t>
                      </a:r>
                      <a:r>
                        <a:rPr lang="es-MX" sz="1200" kern="1200" dirty="0" err="1">
                          <a:solidFill>
                            <a:schemeClr val="dk1"/>
                          </a:solidFill>
                          <a:latin typeface="+mn-lt"/>
                          <a:ea typeface="+mn-ea"/>
                          <a:cs typeface="+mn-cs"/>
                        </a:rPr>
                        <a:t>not</a:t>
                      </a:r>
                      <a:r>
                        <a:rPr lang="es-MX" sz="1200" kern="1200" dirty="0">
                          <a:solidFill>
                            <a:schemeClr val="dk1"/>
                          </a:solidFill>
                          <a:latin typeface="+mn-lt"/>
                          <a:ea typeface="+mn-ea"/>
                          <a:cs typeface="+mn-cs"/>
                        </a:rPr>
                        <a:t> </a:t>
                      </a:r>
                      <a:r>
                        <a:rPr lang="es-MX" sz="1200" kern="1200" dirty="0" err="1">
                          <a:solidFill>
                            <a:schemeClr val="dk1"/>
                          </a:solidFill>
                          <a:latin typeface="+mn-lt"/>
                          <a:ea typeface="+mn-ea"/>
                          <a:cs typeface="+mn-cs"/>
                        </a:rPr>
                        <a:t>staged</a:t>
                      </a:r>
                      <a:r>
                        <a:rPr lang="es-MX" sz="1200" kern="1200" dirty="0">
                          <a:solidFill>
                            <a:schemeClr val="dk1"/>
                          </a:solidFill>
                          <a:latin typeface="+mn-lt"/>
                          <a:ea typeface="+mn-ea"/>
                          <a:cs typeface="+mn-cs"/>
                        </a:rPr>
                        <a:t> </a:t>
                      </a:r>
                      <a:r>
                        <a:rPr lang="es-MX" sz="1200" kern="1200" dirty="0" err="1">
                          <a:solidFill>
                            <a:schemeClr val="dk1"/>
                          </a:solidFill>
                          <a:latin typeface="+mn-lt"/>
                          <a:ea typeface="+mn-ea"/>
                          <a:cs typeface="+mn-cs"/>
                        </a:rPr>
                        <a:t>for</a:t>
                      </a:r>
                      <a:r>
                        <a:rPr lang="es-MX" sz="1200" kern="1200" dirty="0">
                          <a:solidFill>
                            <a:schemeClr val="dk1"/>
                          </a:solidFill>
                          <a:latin typeface="+mn-lt"/>
                          <a:ea typeface="+mn-ea"/>
                          <a:cs typeface="+mn-cs"/>
                        </a:rPr>
                        <a:t> </a:t>
                      </a:r>
                      <a:r>
                        <a:rPr lang="es-MX" sz="1200" kern="1200" dirty="0" err="1">
                          <a:solidFill>
                            <a:schemeClr val="dk1"/>
                          </a:solidFill>
                          <a:latin typeface="+mn-lt"/>
                          <a:ea typeface="+mn-ea"/>
                          <a:cs typeface="+mn-cs"/>
                        </a:rPr>
                        <a:t>commit</a:t>
                      </a:r>
                      <a:r>
                        <a:rPr lang="es-MX" sz="1200" kern="1200" dirty="0">
                          <a:solidFill>
                            <a:schemeClr val="dk1"/>
                          </a:solidFill>
                          <a:latin typeface="+mn-lt"/>
                          <a:ea typeface="+mn-ea"/>
                          <a:cs typeface="+mn-cs"/>
                        </a:rPr>
                        <a:t>” (esto es, sin preparar) en la salida de </a:t>
                      </a:r>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status</a:t>
                      </a:r>
                      <a:r>
                        <a:rPr lang="es-MX" sz="1200" kern="1200" dirty="0">
                          <a:solidFill>
                            <a:schemeClr val="dk1"/>
                          </a:solidFill>
                          <a:latin typeface="+mn-lt"/>
                          <a:ea typeface="+mn-ea"/>
                          <a:cs typeface="+mn-cs"/>
                        </a:rPr>
                        <a:t>.</a:t>
                      </a:r>
                    </a:p>
                    <a:p>
                      <a:pPr marL="171450" indent="-171450" algn="l" defTabSz="685800" rtl="0" eaLnBrk="1" latinLnBrk="0" hangingPunct="1">
                        <a:buFont typeface="Wingdings" panose="05000000000000000000" pitchFamily="2" charset="2"/>
                        <a:buChar char="§"/>
                      </a:pPr>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rm</a:t>
                      </a:r>
                      <a:r>
                        <a:rPr lang="es-MX" sz="1200" kern="1200" dirty="0">
                          <a:solidFill>
                            <a:schemeClr val="dk1"/>
                          </a:solidFill>
                          <a:latin typeface="Consolas" panose="020B0609020204030204" pitchFamily="49" charset="0"/>
                          <a:ea typeface="+mn-ea"/>
                          <a:cs typeface="+mn-cs"/>
                        </a:rPr>
                        <a:t> ARCHIVO.txt</a:t>
                      </a:r>
                    </a:p>
                  </a:txBody>
                  <a:tcPr/>
                </a:tc>
                <a:extLst>
                  <a:ext uri="{0D108BD9-81ED-4DB2-BD59-A6C34878D82A}">
                    <a16:rowId xmlns:a16="http://schemas.microsoft.com/office/drawing/2014/main" val="2960036498"/>
                  </a:ext>
                </a:extLst>
              </a:tr>
              <a:tr h="451971">
                <a:tc>
                  <a:txBody>
                    <a:bodyPr/>
                    <a:lstStyle/>
                    <a:p>
                      <a:pPr marL="0" algn="l" defTabSz="685800" rtl="0" eaLnBrk="1" latinLnBrk="0" hangingPunct="1"/>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log</a:t>
                      </a:r>
                    </a:p>
                  </a:txBody>
                  <a:tcPr anchor="ctr"/>
                </a:tc>
                <a:tc>
                  <a:txBody>
                    <a:bodyPr/>
                    <a:lstStyle/>
                    <a:p>
                      <a:pPr marL="0" algn="l" defTabSz="685800" rtl="0" eaLnBrk="1" latinLnBrk="0" hangingPunct="1"/>
                      <a:r>
                        <a:rPr lang="es-MX" sz="1200" kern="1200" dirty="0">
                          <a:solidFill>
                            <a:schemeClr val="dk1"/>
                          </a:solidFill>
                          <a:latin typeface="+mn-lt"/>
                          <a:ea typeface="+mn-ea"/>
                          <a:cs typeface="+mn-cs"/>
                        </a:rPr>
                        <a:t>Muestra el historial de confirmaciones (</a:t>
                      </a:r>
                      <a:r>
                        <a:rPr lang="es-MX" sz="1200" kern="1200" dirty="0" err="1">
                          <a:solidFill>
                            <a:schemeClr val="dk1"/>
                          </a:solidFill>
                          <a:latin typeface="Consolas" panose="020B0609020204030204" pitchFamily="49" charset="0"/>
                          <a:ea typeface="+mn-ea"/>
                          <a:cs typeface="+mn-cs"/>
                        </a:rPr>
                        <a:t>commits</a:t>
                      </a:r>
                      <a:r>
                        <a:rPr lang="es-MX" sz="1200" kern="1200" dirty="0">
                          <a:solidFill>
                            <a:schemeClr val="dk1"/>
                          </a:solidFill>
                          <a:latin typeface="+mn-lt"/>
                          <a:ea typeface="+mn-ea"/>
                          <a:cs typeface="+mn-cs"/>
                        </a:rPr>
                        <a:t>) en un repositorio de </a:t>
                      </a:r>
                      <a:r>
                        <a:rPr lang="es-MX" sz="1200" kern="1200" dirty="0" err="1">
                          <a:solidFill>
                            <a:schemeClr val="dk1"/>
                          </a:solidFill>
                          <a:latin typeface="+mn-lt"/>
                          <a:ea typeface="+mn-ea"/>
                          <a:cs typeface="+mn-cs"/>
                        </a:rPr>
                        <a:t>Git</a:t>
                      </a:r>
                      <a:r>
                        <a:rPr lang="es-MX" sz="1200" kern="1200" dirty="0">
                          <a:solidFill>
                            <a:schemeClr val="dk1"/>
                          </a:solidFill>
                          <a:latin typeface="+mn-lt"/>
                          <a:ea typeface="+mn-ea"/>
                          <a:cs typeface="+mn-cs"/>
                        </a:rPr>
                        <a:t>, es fundamental para revisar qué cambios se han hecho, quién los realizó y cuándo.</a:t>
                      </a:r>
                    </a:p>
                  </a:txBody>
                  <a:tcPr/>
                </a:tc>
                <a:extLst>
                  <a:ext uri="{0D108BD9-81ED-4DB2-BD59-A6C34878D82A}">
                    <a16:rowId xmlns:a16="http://schemas.microsoft.com/office/drawing/2014/main" val="1590487911"/>
                  </a:ext>
                </a:extLst>
              </a:tr>
            </a:tbl>
          </a:graphicData>
        </a:graphic>
      </p:graphicFrame>
    </p:spTree>
    <p:extLst>
      <p:ext uri="{BB962C8B-B14F-4D97-AF65-F5344CB8AC3E}">
        <p14:creationId xmlns:p14="http://schemas.microsoft.com/office/powerpoint/2010/main" val="16478502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31</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800" dirty="0">
                <a:ea typeface="Vita Std ExLt" pitchFamily="2" charset="77"/>
                <a:cs typeface="Verdana" panose="020B0604030504040204" pitchFamily="34" charset="0"/>
              </a:rPr>
              <a:t>Comandos Básicos (3/4)</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graphicFrame>
        <p:nvGraphicFramePr>
          <p:cNvPr id="3" name="Tabla 2"/>
          <p:cNvGraphicFramePr>
            <a:graphicFrameLocks noGrp="1"/>
          </p:cNvGraphicFramePr>
          <p:nvPr>
            <p:extLst>
              <p:ext uri="{D42A27DB-BD31-4B8C-83A1-F6EECF244321}">
                <p14:modId xmlns:p14="http://schemas.microsoft.com/office/powerpoint/2010/main" val="649386392"/>
              </p:ext>
            </p:extLst>
          </p:nvPr>
        </p:nvGraphicFramePr>
        <p:xfrm>
          <a:off x="542815" y="1349152"/>
          <a:ext cx="8124935" cy="2981559"/>
        </p:xfrm>
        <a:graphic>
          <a:graphicData uri="http://schemas.openxmlformats.org/drawingml/2006/table">
            <a:tbl>
              <a:tblPr firstRow="1" bandRow="1">
                <a:tableStyleId>{5C22544A-7EE6-4342-B048-85BDC9FD1C3A}</a:tableStyleId>
              </a:tblPr>
              <a:tblGrid>
                <a:gridCol w="1819386">
                  <a:extLst>
                    <a:ext uri="{9D8B030D-6E8A-4147-A177-3AD203B41FA5}">
                      <a16:colId xmlns:a16="http://schemas.microsoft.com/office/drawing/2014/main" val="130215019"/>
                    </a:ext>
                  </a:extLst>
                </a:gridCol>
                <a:gridCol w="6305549">
                  <a:extLst>
                    <a:ext uri="{9D8B030D-6E8A-4147-A177-3AD203B41FA5}">
                      <a16:colId xmlns:a16="http://schemas.microsoft.com/office/drawing/2014/main" val="2437620845"/>
                    </a:ext>
                  </a:extLst>
                </a:gridCol>
              </a:tblGrid>
              <a:tr h="310752">
                <a:tc>
                  <a:txBody>
                    <a:bodyPr/>
                    <a:lstStyle/>
                    <a:p>
                      <a:pPr marL="0" algn="ctr" defTabSz="685800" rtl="0" eaLnBrk="1" latinLnBrk="0" hangingPunct="1"/>
                      <a:r>
                        <a:rPr lang="es-MX" sz="1350" b="1" kern="1200" dirty="0">
                          <a:solidFill>
                            <a:schemeClr val="lt1"/>
                          </a:solidFill>
                          <a:latin typeface="+mn-lt"/>
                          <a:ea typeface="+mn-ea"/>
                          <a:cs typeface="+mn-cs"/>
                        </a:rPr>
                        <a:t>Comando</a:t>
                      </a:r>
                    </a:p>
                  </a:txBody>
                  <a:tcPr/>
                </a:tc>
                <a:tc>
                  <a:txBody>
                    <a:bodyPr/>
                    <a:lstStyle/>
                    <a:p>
                      <a:pPr marL="0" algn="ctr" defTabSz="685800" rtl="0" eaLnBrk="1" latinLnBrk="0" hangingPunct="1"/>
                      <a:r>
                        <a:rPr lang="es-MX" sz="1350" b="1" kern="1200" dirty="0">
                          <a:solidFill>
                            <a:schemeClr val="lt1"/>
                          </a:solidFill>
                          <a:latin typeface="+mn-lt"/>
                          <a:ea typeface="+mn-ea"/>
                          <a:cs typeface="+mn-cs"/>
                        </a:rPr>
                        <a:t>Función</a:t>
                      </a:r>
                    </a:p>
                  </a:txBody>
                  <a:tcPr/>
                </a:tc>
                <a:extLst>
                  <a:ext uri="{0D108BD9-81ED-4DB2-BD59-A6C34878D82A}">
                    <a16:rowId xmlns:a16="http://schemas.microsoft.com/office/drawing/2014/main" val="2790224341"/>
                  </a:ext>
                </a:extLst>
              </a:tr>
              <a:tr h="478080">
                <a:tc>
                  <a:txBody>
                    <a:bodyPr/>
                    <a:lstStyle/>
                    <a:p>
                      <a:pPr marL="0" algn="l" defTabSz="685800" rtl="0" eaLnBrk="1" latinLnBrk="0" hangingPunct="1"/>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commit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amend</a:t>
                      </a:r>
                      <a:endParaRPr lang="es-MX" sz="1200" kern="1200" dirty="0">
                        <a:solidFill>
                          <a:schemeClr val="dk1"/>
                        </a:solidFill>
                        <a:latin typeface="Consolas" panose="020B0609020204030204" pitchFamily="49" charset="0"/>
                        <a:ea typeface="+mn-ea"/>
                        <a:cs typeface="+mn-cs"/>
                      </a:endParaRPr>
                    </a:p>
                  </a:txBody>
                  <a:tcPr anchor="ctr"/>
                </a:tc>
                <a:tc>
                  <a:txBody>
                    <a:bodyPr/>
                    <a:lstStyle/>
                    <a:p>
                      <a:pPr marL="0" algn="l" defTabSz="685800" rtl="0" eaLnBrk="1" latinLnBrk="0" hangingPunct="1"/>
                      <a:r>
                        <a:rPr lang="es-MX" sz="1200" kern="1200" dirty="0">
                          <a:solidFill>
                            <a:schemeClr val="dk1"/>
                          </a:solidFill>
                          <a:latin typeface="+mn-lt"/>
                          <a:ea typeface="+mn-ea"/>
                          <a:cs typeface="+mn-cs"/>
                        </a:rPr>
                        <a:t>Modifica el mensaje del último </a:t>
                      </a:r>
                      <a:r>
                        <a:rPr lang="es-MX" sz="1200" kern="1200" dirty="0" err="1">
                          <a:solidFill>
                            <a:schemeClr val="dk1"/>
                          </a:solidFill>
                          <a:latin typeface="+mn-lt"/>
                          <a:ea typeface="+mn-ea"/>
                          <a:cs typeface="+mn-cs"/>
                        </a:rPr>
                        <a:t>commit</a:t>
                      </a:r>
                      <a:r>
                        <a:rPr lang="es-MX" sz="1200" kern="1200" dirty="0">
                          <a:solidFill>
                            <a:schemeClr val="dk1"/>
                          </a:solidFill>
                          <a:latin typeface="+mn-lt"/>
                          <a:ea typeface="+mn-ea"/>
                          <a:cs typeface="+mn-cs"/>
                        </a:rPr>
                        <a:t> de forma rápida y directa desde la terminal sin abrir un editor de texto, actualizando únicamente la descripción del </a:t>
                      </a:r>
                      <a:r>
                        <a:rPr lang="es-MX" sz="1200" kern="1200" dirty="0" err="1">
                          <a:solidFill>
                            <a:schemeClr val="dk1"/>
                          </a:solidFill>
                          <a:latin typeface="+mn-lt"/>
                          <a:ea typeface="+mn-ea"/>
                          <a:cs typeface="+mn-cs"/>
                        </a:rPr>
                        <a:t>commit</a:t>
                      </a:r>
                      <a:r>
                        <a:rPr lang="es-MX" sz="1200" kern="1200" dirty="0">
                          <a:solidFill>
                            <a:schemeClr val="dk1"/>
                          </a:solidFill>
                          <a:latin typeface="+mn-lt"/>
                          <a:ea typeface="+mn-ea"/>
                          <a:cs typeface="+mn-cs"/>
                        </a:rPr>
                        <a:t> anterior en el historial local.</a:t>
                      </a:r>
                    </a:p>
                  </a:txBody>
                  <a:tcPr/>
                </a:tc>
                <a:extLst>
                  <a:ext uri="{0D108BD9-81ED-4DB2-BD59-A6C34878D82A}">
                    <a16:rowId xmlns:a16="http://schemas.microsoft.com/office/drawing/2014/main" val="3723552471"/>
                  </a:ext>
                </a:extLst>
              </a:tr>
              <a:tr h="659127">
                <a:tc>
                  <a:txBody>
                    <a:bodyPr/>
                    <a:lstStyle/>
                    <a:p>
                      <a:pPr marL="0" algn="l" defTabSz="685800" rtl="0" eaLnBrk="1" latinLnBrk="0" hangingPunct="1"/>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remote</a:t>
                      </a:r>
                      <a:endParaRPr lang="es-MX" sz="1200" kern="1200" dirty="0">
                        <a:solidFill>
                          <a:schemeClr val="dk1"/>
                        </a:solidFill>
                        <a:latin typeface="Consolas" panose="020B0609020204030204" pitchFamily="49" charset="0"/>
                        <a:ea typeface="+mn-ea"/>
                        <a:cs typeface="+mn-cs"/>
                      </a:endParaRPr>
                    </a:p>
                  </a:txBody>
                  <a:tcPr anchor="ctr"/>
                </a:tc>
                <a:tc>
                  <a:txBody>
                    <a:bodyPr/>
                    <a:lstStyle/>
                    <a:p>
                      <a:pPr marL="0" algn="l" defTabSz="685800" rtl="0" eaLnBrk="1" latinLnBrk="0" hangingPunct="1"/>
                      <a:r>
                        <a:rPr lang="es-MX" sz="1200" kern="1200" dirty="0">
                          <a:solidFill>
                            <a:schemeClr val="dk1"/>
                          </a:solidFill>
                          <a:latin typeface="+mn-lt"/>
                          <a:ea typeface="+mn-ea"/>
                          <a:cs typeface="+mn-cs"/>
                        </a:rPr>
                        <a:t>Mostrará los nombres de cada uno de los remotos que tienes especificados. Si has clonado tu repositorio, deberías ver al menos </a:t>
                      </a:r>
                      <a:r>
                        <a:rPr lang="es-MX" sz="1200" kern="1200" dirty="0" err="1">
                          <a:solidFill>
                            <a:schemeClr val="dk1"/>
                          </a:solidFill>
                          <a:latin typeface="+mn-lt"/>
                          <a:ea typeface="+mn-ea"/>
                          <a:cs typeface="+mn-cs"/>
                        </a:rPr>
                        <a:t>origin</a:t>
                      </a:r>
                      <a:r>
                        <a:rPr lang="es-MX" sz="1200" kern="1200" dirty="0">
                          <a:solidFill>
                            <a:schemeClr val="dk1"/>
                          </a:solidFill>
                          <a:latin typeface="+mn-lt"/>
                          <a:ea typeface="+mn-ea"/>
                          <a:cs typeface="+mn-cs"/>
                        </a:rPr>
                        <a:t> (origen, en inglés) - este es el nombre que por defecto </a:t>
                      </a:r>
                      <a:r>
                        <a:rPr lang="es-MX" sz="1200" kern="1200" dirty="0" err="1">
                          <a:solidFill>
                            <a:schemeClr val="dk1"/>
                          </a:solidFill>
                          <a:latin typeface="+mn-lt"/>
                          <a:ea typeface="+mn-ea"/>
                          <a:cs typeface="+mn-cs"/>
                        </a:rPr>
                        <a:t>Git</a:t>
                      </a:r>
                      <a:r>
                        <a:rPr lang="es-MX" sz="1200" kern="1200" dirty="0">
                          <a:solidFill>
                            <a:schemeClr val="dk1"/>
                          </a:solidFill>
                          <a:latin typeface="+mn-lt"/>
                          <a:ea typeface="+mn-ea"/>
                          <a:cs typeface="+mn-cs"/>
                        </a:rPr>
                        <a:t> le da al servidor del que has clonado.</a:t>
                      </a:r>
                    </a:p>
                  </a:txBody>
                  <a:tcPr/>
                </a:tc>
                <a:extLst>
                  <a:ext uri="{0D108BD9-81ED-4DB2-BD59-A6C34878D82A}">
                    <a16:rowId xmlns:a16="http://schemas.microsoft.com/office/drawing/2014/main" val="2960036498"/>
                  </a:ext>
                </a:extLst>
              </a:tr>
              <a:tr h="273050">
                <a:tc>
                  <a:txBody>
                    <a:bodyPr/>
                    <a:lstStyle/>
                    <a:p>
                      <a:pPr marL="0" algn="l" defTabSz="685800" rtl="0" eaLnBrk="1" latinLnBrk="0" hangingPunct="1"/>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branch</a:t>
                      </a:r>
                      <a:endParaRPr lang="es-MX" sz="1200" kern="1200" dirty="0">
                        <a:solidFill>
                          <a:schemeClr val="dk1"/>
                        </a:solidFill>
                        <a:latin typeface="Consolas" panose="020B0609020204030204" pitchFamily="49" charset="0"/>
                        <a:ea typeface="+mn-ea"/>
                        <a:cs typeface="+mn-cs"/>
                      </a:endParaRPr>
                    </a:p>
                  </a:txBody>
                  <a:tcPr anchor="ctr"/>
                </a:tc>
                <a:tc>
                  <a:txBody>
                    <a:bodyPr/>
                    <a:lstStyle/>
                    <a:p>
                      <a:pPr marL="0" algn="l" defTabSz="685800" rtl="0" eaLnBrk="1" latinLnBrk="0" hangingPunct="1"/>
                      <a:r>
                        <a:rPr lang="es-MX" sz="1200" kern="1200" dirty="0">
                          <a:solidFill>
                            <a:schemeClr val="dk1"/>
                          </a:solidFill>
                          <a:latin typeface="+mn-lt"/>
                          <a:ea typeface="+mn-ea"/>
                          <a:cs typeface="+mn-cs"/>
                        </a:rPr>
                        <a:t>Muestra las ramas contenidas en el proyecto.</a:t>
                      </a:r>
                    </a:p>
                  </a:txBody>
                  <a:tcPr/>
                </a:tc>
                <a:extLst>
                  <a:ext uri="{0D108BD9-81ED-4DB2-BD59-A6C34878D82A}">
                    <a16:rowId xmlns:a16="http://schemas.microsoft.com/office/drawing/2014/main" val="1590487911"/>
                  </a:ext>
                </a:extLst>
              </a:tr>
              <a:tr h="252730">
                <a:tc>
                  <a:txBody>
                    <a:bodyPr/>
                    <a:lstStyle/>
                    <a:p>
                      <a:pPr marL="0" algn="l" defTabSz="685800" rtl="0" eaLnBrk="1" latinLnBrk="0" hangingPunct="1"/>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checkout</a:t>
                      </a:r>
                      <a:endParaRPr lang="es-MX" sz="1200" kern="1200" dirty="0">
                        <a:solidFill>
                          <a:schemeClr val="dk1"/>
                        </a:solidFill>
                        <a:latin typeface="Consolas" panose="020B0609020204030204" pitchFamily="49" charset="0"/>
                        <a:ea typeface="+mn-ea"/>
                        <a:cs typeface="+mn-cs"/>
                      </a:endParaRPr>
                    </a:p>
                  </a:txBody>
                  <a:tcPr anchor="ctr"/>
                </a:tc>
                <a:tc>
                  <a:txBody>
                    <a:bodyPr/>
                    <a:lstStyle/>
                    <a:p>
                      <a:pPr marL="0" algn="l" defTabSz="685800" rtl="0" eaLnBrk="1" latinLnBrk="0" hangingPunct="1"/>
                      <a:r>
                        <a:rPr lang="es-MX" sz="1200" kern="1200" dirty="0">
                          <a:solidFill>
                            <a:schemeClr val="dk1"/>
                          </a:solidFill>
                          <a:latin typeface="+mn-lt"/>
                          <a:ea typeface="+mn-ea"/>
                          <a:cs typeface="+mn-cs"/>
                        </a:rPr>
                        <a:t>Cambia la rama activa del proyecto.</a:t>
                      </a:r>
                    </a:p>
                    <a:p>
                      <a:pPr marL="171450" indent="-171450" algn="l" defTabSz="685800" rtl="0" eaLnBrk="1" latinLnBrk="0" hangingPunct="1">
                        <a:buFont typeface="Wingdings" panose="05000000000000000000" pitchFamily="2" charset="2"/>
                        <a:buChar char="§"/>
                      </a:pPr>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checkout</a:t>
                      </a:r>
                      <a:r>
                        <a:rPr lang="es-MX" sz="1200" kern="1200" dirty="0">
                          <a:solidFill>
                            <a:schemeClr val="dk1"/>
                          </a:solidFill>
                          <a:latin typeface="Consolas" panose="020B0609020204030204" pitchFamily="49" charset="0"/>
                          <a:ea typeface="+mn-ea"/>
                          <a:cs typeface="+mn-cs"/>
                        </a:rPr>
                        <a:t> &lt;nombre-de-la-rama&gt;</a:t>
                      </a:r>
                    </a:p>
                  </a:txBody>
                  <a:tcPr/>
                </a:tc>
                <a:extLst>
                  <a:ext uri="{0D108BD9-81ED-4DB2-BD59-A6C34878D82A}">
                    <a16:rowId xmlns:a16="http://schemas.microsoft.com/office/drawing/2014/main" val="1119630177"/>
                  </a:ext>
                </a:extLst>
              </a:tr>
              <a:tr h="252730">
                <a:tc>
                  <a:txBody>
                    <a:bodyPr/>
                    <a:lstStyle/>
                    <a:p>
                      <a:pPr marL="0" algn="l" defTabSz="685800" rtl="0" eaLnBrk="1" latinLnBrk="0" hangingPunct="1"/>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merge</a:t>
                      </a:r>
                      <a:endParaRPr lang="es-MX" sz="1200" kern="1200" dirty="0">
                        <a:solidFill>
                          <a:schemeClr val="dk1"/>
                        </a:solidFill>
                        <a:latin typeface="Consolas" panose="020B0609020204030204" pitchFamily="49" charset="0"/>
                        <a:ea typeface="+mn-ea"/>
                        <a:cs typeface="+mn-cs"/>
                      </a:endParaRPr>
                    </a:p>
                  </a:txBody>
                  <a:tcPr anchor="ctr"/>
                </a:tc>
                <a:tc>
                  <a:txBody>
                    <a:bodyPr/>
                    <a:lstStyle/>
                    <a:p>
                      <a:pPr marL="0" algn="l" defTabSz="685800" rtl="0" eaLnBrk="1" latinLnBrk="0" hangingPunct="1"/>
                      <a:r>
                        <a:rPr lang="es-MX" sz="1200" kern="1200" dirty="0">
                          <a:solidFill>
                            <a:schemeClr val="dk1"/>
                          </a:solidFill>
                          <a:latin typeface="+mn-lt"/>
                          <a:ea typeface="+mn-ea"/>
                          <a:cs typeface="+mn-cs"/>
                        </a:rPr>
                        <a:t>Une o combina dos ramas, por ejemplo, se utiliza para combinar los cambios que se realizaron en otra rama hacia la rama principal de desarrollo.</a:t>
                      </a:r>
                    </a:p>
                    <a:p>
                      <a:pPr marL="171450" indent="-171450" algn="l" defTabSz="685800" rtl="0" eaLnBrk="1" latinLnBrk="0" hangingPunct="1">
                        <a:buFont typeface="Wingdings" panose="05000000000000000000" pitchFamily="2" charset="2"/>
                        <a:buChar char="§"/>
                      </a:pPr>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merge</a:t>
                      </a:r>
                      <a:r>
                        <a:rPr lang="es-MX" sz="1200" kern="1200" dirty="0">
                          <a:solidFill>
                            <a:schemeClr val="dk1"/>
                          </a:solidFill>
                          <a:latin typeface="Consolas" panose="020B0609020204030204" pitchFamily="49" charset="0"/>
                          <a:ea typeface="+mn-ea"/>
                          <a:cs typeface="+mn-cs"/>
                        </a:rPr>
                        <a:t> &lt;nombre-de-la-rama&gt;</a:t>
                      </a:r>
                    </a:p>
                  </a:txBody>
                  <a:tcPr/>
                </a:tc>
                <a:extLst>
                  <a:ext uri="{0D108BD9-81ED-4DB2-BD59-A6C34878D82A}">
                    <a16:rowId xmlns:a16="http://schemas.microsoft.com/office/drawing/2014/main" val="3180214009"/>
                  </a:ext>
                </a:extLst>
              </a:tr>
            </a:tbl>
          </a:graphicData>
        </a:graphic>
      </p:graphicFrame>
    </p:spTree>
    <p:extLst>
      <p:ext uri="{BB962C8B-B14F-4D97-AF65-F5344CB8AC3E}">
        <p14:creationId xmlns:p14="http://schemas.microsoft.com/office/powerpoint/2010/main" val="36010814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32</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800" dirty="0">
                <a:ea typeface="Vita Std ExLt" pitchFamily="2" charset="77"/>
                <a:cs typeface="Verdana" panose="020B0604030504040204" pitchFamily="34" charset="0"/>
              </a:rPr>
              <a:t>Comandos Básicos (4/4)</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graphicFrame>
        <p:nvGraphicFramePr>
          <p:cNvPr id="3" name="Tabla 2"/>
          <p:cNvGraphicFramePr>
            <a:graphicFrameLocks noGrp="1"/>
          </p:cNvGraphicFramePr>
          <p:nvPr>
            <p:extLst>
              <p:ext uri="{D42A27DB-BD31-4B8C-83A1-F6EECF244321}">
                <p14:modId xmlns:p14="http://schemas.microsoft.com/office/powerpoint/2010/main" val="3862469801"/>
              </p:ext>
            </p:extLst>
          </p:nvPr>
        </p:nvGraphicFramePr>
        <p:xfrm>
          <a:off x="542814" y="1511701"/>
          <a:ext cx="8124935" cy="2962512"/>
        </p:xfrm>
        <a:graphic>
          <a:graphicData uri="http://schemas.openxmlformats.org/drawingml/2006/table">
            <a:tbl>
              <a:tblPr firstRow="1" bandRow="1">
                <a:tableStyleId>{5C22544A-7EE6-4342-B048-85BDC9FD1C3A}</a:tableStyleId>
              </a:tblPr>
              <a:tblGrid>
                <a:gridCol w="1819386">
                  <a:extLst>
                    <a:ext uri="{9D8B030D-6E8A-4147-A177-3AD203B41FA5}">
                      <a16:colId xmlns:a16="http://schemas.microsoft.com/office/drawing/2014/main" val="130215019"/>
                    </a:ext>
                  </a:extLst>
                </a:gridCol>
                <a:gridCol w="6305549">
                  <a:extLst>
                    <a:ext uri="{9D8B030D-6E8A-4147-A177-3AD203B41FA5}">
                      <a16:colId xmlns:a16="http://schemas.microsoft.com/office/drawing/2014/main" val="2437620845"/>
                    </a:ext>
                  </a:extLst>
                </a:gridCol>
              </a:tblGrid>
              <a:tr h="310752">
                <a:tc>
                  <a:txBody>
                    <a:bodyPr/>
                    <a:lstStyle/>
                    <a:p>
                      <a:pPr marL="0" algn="ctr" defTabSz="685800" rtl="0" eaLnBrk="1" latinLnBrk="0" hangingPunct="1"/>
                      <a:r>
                        <a:rPr lang="es-MX" sz="1350" b="1" kern="1200" dirty="0">
                          <a:solidFill>
                            <a:schemeClr val="lt1"/>
                          </a:solidFill>
                          <a:latin typeface="+mn-lt"/>
                          <a:ea typeface="+mn-ea"/>
                          <a:cs typeface="+mn-cs"/>
                        </a:rPr>
                        <a:t>Comando</a:t>
                      </a:r>
                    </a:p>
                  </a:txBody>
                  <a:tcPr/>
                </a:tc>
                <a:tc>
                  <a:txBody>
                    <a:bodyPr/>
                    <a:lstStyle/>
                    <a:p>
                      <a:pPr marL="0" algn="ctr" defTabSz="685800" rtl="0" eaLnBrk="1" latinLnBrk="0" hangingPunct="1"/>
                      <a:r>
                        <a:rPr lang="es-MX" sz="1350" b="1" kern="1200" dirty="0">
                          <a:solidFill>
                            <a:schemeClr val="lt1"/>
                          </a:solidFill>
                          <a:latin typeface="+mn-lt"/>
                          <a:ea typeface="+mn-ea"/>
                          <a:cs typeface="+mn-cs"/>
                        </a:rPr>
                        <a:t>Función</a:t>
                      </a:r>
                    </a:p>
                  </a:txBody>
                  <a:tcPr/>
                </a:tc>
                <a:extLst>
                  <a:ext uri="{0D108BD9-81ED-4DB2-BD59-A6C34878D82A}">
                    <a16:rowId xmlns:a16="http://schemas.microsoft.com/office/drawing/2014/main" val="2790224341"/>
                  </a:ext>
                </a:extLst>
              </a:tr>
              <a:tr h="478080">
                <a:tc>
                  <a:txBody>
                    <a:bodyPr/>
                    <a:lstStyle/>
                    <a:p>
                      <a:pPr marL="0" algn="l" defTabSz="685800" rtl="0" eaLnBrk="1" latinLnBrk="0" hangingPunct="1"/>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pull</a:t>
                      </a:r>
                      <a:endParaRPr lang="es-MX" sz="1200" kern="1200" dirty="0">
                        <a:solidFill>
                          <a:schemeClr val="dk1"/>
                        </a:solidFill>
                        <a:latin typeface="Consolas" panose="020B0609020204030204" pitchFamily="49" charset="0"/>
                        <a:ea typeface="+mn-ea"/>
                        <a:cs typeface="+mn-cs"/>
                      </a:endParaRPr>
                    </a:p>
                  </a:txBody>
                  <a:tcPr anchor="ctr"/>
                </a:tc>
                <a:tc>
                  <a:txBody>
                    <a:bodyPr/>
                    <a:lstStyle/>
                    <a:p>
                      <a:pPr marL="0" algn="l" defTabSz="685800" rtl="0" eaLnBrk="1" latinLnBrk="0" hangingPunct="1"/>
                      <a:r>
                        <a:rPr lang="es-MX" sz="1200" kern="1200" dirty="0">
                          <a:solidFill>
                            <a:schemeClr val="dk1"/>
                          </a:solidFill>
                          <a:latin typeface="+mn-lt"/>
                          <a:ea typeface="+mn-ea"/>
                          <a:cs typeface="+mn-cs"/>
                        </a:rPr>
                        <a:t>Actualiza el repositorio local con los cambios realizados en su contraparte remota, típicamente se utiliza para reflejar los cambios que un colaborador realizó en el repositorio remoto.</a:t>
                      </a:r>
                    </a:p>
                  </a:txBody>
                  <a:tcPr/>
                </a:tc>
                <a:extLst>
                  <a:ext uri="{0D108BD9-81ED-4DB2-BD59-A6C34878D82A}">
                    <a16:rowId xmlns:a16="http://schemas.microsoft.com/office/drawing/2014/main" val="3723552471"/>
                  </a:ext>
                </a:extLst>
              </a:tr>
              <a:tr h="659127">
                <a:tc>
                  <a:txBody>
                    <a:bodyPr/>
                    <a:lstStyle/>
                    <a:p>
                      <a:pPr marL="0" algn="l" defTabSz="685800" rtl="0" eaLnBrk="1" latinLnBrk="0" hangingPunct="1"/>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push</a:t>
                      </a:r>
                      <a:endParaRPr lang="es-MX" sz="1200" kern="1200" dirty="0">
                        <a:solidFill>
                          <a:schemeClr val="dk1"/>
                        </a:solidFill>
                        <a:latin typeface="Consolas" panose="020B0609020204030204" pitchFamily="49" charset="0"/>
                        <a:ea typeface="+mn-ea"/>
                        <a:cs typeface="+mn-cs"/>
                      </a:endParaRPr>
                    </a:p>
                  </a:txBody>
                  <a:tcPr anchor="ctr"/>
                </a:tc>
                <a:tc>
                  <a:txBody>
                    <a:bodyPr/>
                    <a:lstStyle/>
                    <a:p>
                      <a:pPr marL="0" algn="l" defTabSz="685800" rtl="0" eaLnBrk="1" latinLnBrk="0" hangingPunct="1"/>
                      <a:r>
                        <a:rPr lang="es-MX" sz="1200" kern="1200" dirty="0">
                          <a:solidFill>
                            <a:schemeClr val="dk1"/>
                          </a:solidFill>
                          <a:latin typeface="+mn-lt"/>
                          <a:ea typeface="+mn-ea"/>
                          <a:cs typeface="+mn-cs"/>
                        </a:rPr>
                        <a:t>Se utiliza para subir los </a:t>
                      </a:r>
                      <a:r>
                        <a:rPr lang="es-MX" sz="1200" kern="1200" dirty="0" err="1">
                          <a:solidFill>
                            <a:schemeClr val="dk1"/>
                          </a:solidFill>
                          <a:latin typeface="+mn-lt"/>
                          <a:ea typeface="+mn-ea"/>
                          <a:cs typeface="+mn-cs"/>
                        </a:rPr>
                        <a:t>commits</a:t>
                      </a:r>
                      <a:r>
                        <a:rPr lang="es-MX" sz="1200" kern="1200" dirty="0">
                          <a:solidFill>
                            <a:schemeClr val="dk1"/>
                          </a:solidFill>
                          <a:latin typeface="+mn-lt"/>
                          <a:ea typeface="+mn-ea"/>
                          <a:cs typeface="+mn-cs"/>
                        </a:rPr>
                        <a:t> de tu repositorio local hacia un repositorio remoto. Es la forma en que compartes tus cambios con otros colaboradores o sincronizas tu trabajo en la nube.</a:t>
                      </a:r>
                    </a:p>
                    <a:p>
                      <a:pPr marL="171450" indent="-171450" algn="l" defTabSz="685800" rtl="0" eaLnBrk="1" latinLnBrk="0" hangingPunct="1">
                        <a:buFont typeface="Wingdings" panose="05000000000000000000" pitchFamily="2" charset="2"/>
                        <a:buChar char="§"/>
                      </a:pPr>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push</a:t>
                      </a:r>
                      <a:r>
                        <a:rPr lang="es-MX" sz="1200" kern="1200" dirty="0">
                          <a:solidFill>
                            <a:schemeClr val="dk1"/>
                          </a:solidFill>
                          <a:latin typeface="Consolas" panose="020B0609020204030204" pitchFamily="49" charset="0"/>
                          <a:ea typeface="+mn-ea"/>
                          <a:cs typeface="+mn-cs"/>
                        </a:rPr>
                        <a:t> &lt;nombre-remoto&gt; &lt;nombre-rama&gt;</a:t>
                      </a:r>
                    </a:p>
                  </a:txBody>
                  <a:tcPr/>
                </a:tc>
                <a:extLst>
                  <a:ext uri="{0D108BD9-81ED-4DB2-BD59-A6C34878D82A}">
                    <a16:rowId xmlns:a16="http://schemas.microsoft.com/office/drawing/2014/main" val="2960036498"/>
                  </a:ext>
                </a:extLst>
              </a:tr>
              <a:tr h="273050">
                <a:tc>
                  <a:txBody>
                    <a:bodyPr/>
                    <a:lstStyle/>
                    <a:p>
                      <a:pPr marL="0" algn="l" defTabSz="685800" rtl="0" eaLnBrk="1" latinLnBrk="0" hangingPunct="1"/>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fetch</a:t>
                      </a:r>
                      <a:endParaRPr lang="es-MX" sz="1200" kern="1200" dirty="0">
                        <a:solidFill>
                          <a:schemeClr val="dk1"/>
                        </a:solidFill>
                        <a:latin typeface="Consolas" panose="020B0609020204030204" pitchFamily="49" charset="0"/>
                        <a:ea typeface="+mn-ea"/>
                        <a:cs typeface="+mn-cs"/>
                      </a:endParaRPr>
                    </a:p>
                  </a:txBody>
                  <a:tcPr anchor="ctr"/>
                </a:tc>
                <a:tc>
                  <a:txBody>
                    <a:bodyPr/>
                    <a:lstStyle/>
                    <a:p>
                      <a:pPr marL="0" algn="l" defTabSz="685800" rtl="0" eaLnBrk="1" latinLnBrk="0" hangingPunct="1"/>
                      <a:r>
                        <a:rPr lang="es-MX" sz="1200" kern="1200" dirty="0">
                          <a:solidFill>
                            <a:schemeClr val="dk1"/>
                          </a:solidFill>
                          <a:latin typeface="+mn-lt"/>
                          <a:ea typeface="+mn-ea"/>
                          <a:cs typeface="+mn-cs"/>
                        </a:rPr>
                        <a:t>Sirve para traer información actualizada desde un repositorio remoto hacia tu repositorio local, pero sin modificar tu rama de trabajo actual. Es decir, descarga los nuevos </a:t>
                      </a:r>
                      <a:r>
                        <a:rPr lang="es-MX" sz="1200" kern="1200" dirty="0" err="1">
                          <a:solidFill>
                            <a:schemeClr val="dk1"/>
                          </a:solidFill>
                          <a:latin typeface="+mn-lt"/>
                          <a:ea typeface="+mn-ea"/>
                          <a:cs typeface="+mn-cs"/>
                        </a:rPr>
                        <a:t>commits</a:t>
                      </a:r>
                      <a:r>
                        <a:rPr lang="es-MX" sz="1200" kern="1200" dirty="0">
                          <a:solidFill>
                            <a:schemeClr val="dk1"/>
                          </a:solidFill>
                          <a:latin typeface="+mn-lt"/>
                          <a:ea typeface="+mn-ea"/>
                          <a:cs typeface="+mn-cs"/>
                        </a:rPr>
                        <a:t>, ramas y etiquetas del remoto, y los guarda en las referencias locales (por ejemplo, </a:t>
                      </a:r>
                      <a:r>
                        <a:rPr lang="es-MX" sz="1200" kern="1200" dirty="0" err="1">
                          <a:solidFill>
                            <a:schemeClr val="dk1"/>
                          </a:solidFill>
                          <a:latin typeface="+mn-lt"/>
                          <a:ea typeface="+mn-ea"/>
                          <a:cs typeface="+mn-cs"/>
                        </a:rPr>
                        <a:t>origin</a:t>
                      </a:r>
                      <a:r>
                        <a:rPr lang="es-MX" sz="1200" kern="1200" dirty="0">
                          <a:solidFill>
                            <a:schemeClr val="dk1"/>
                          </a:solidFill>
                          <a:latin typeface="+mn-lt"/>
                          <a:ea typeface="+mn-ea"/>
                          <a:cs typeface="+mn-cs"/>
                        </a:rPr>
                        <a:t>/</a:t>
                      </a:r>
                      <a:r>
                        <a:rPr lang="es-MX" sz="1200" kern="1200" dirty="0" err="1">
                          <a:solidFill>
                            <a:schemeClr val="dk1"/>
                          </a:solidFill>
                          <a:latin typeface="+mn-lt"/>
                          <a:ea typeface="+mn-ea"/>
                          <a:cs typeface="+mn-cs"/>
                        </a:rPr>
                        <a:t>main</a:t>
                      </a:r>
                      <a:r>
                        <a:rPr lang="es-MX" sz="1200" kern="1200" dirty="0">
                          <a:solidFill>
                            <a:schemeClr val="dk1"/>
                          </a:solidFill>
                          <a:latin typeface="+mn-lt"/>
                          <a:ea typeface="+mn-ea"/>
                          <a:cs typeface="+mn-cs"/>
                        </a:rPr>
                        <a:t>), pero no los mezcla automáticamente con tu rama activa.</a:t>
                      </a:r>
                    </a:p>
                    <a:p>
                      <a:pPr marL="171450" indent="-171450" algn="l" defTabSz="685800" rtl="0" eaLnBrk="1" latinLnBrk="0" hangingPunct="1">
                        <a:buFont typeface="Wingdings" panose="05000000000000000000" pitchFamily="2" charset="2"/>
                        <a:buChar char="§"/>
                      </a:pPr>
                      <a:r>
                        <a:rPr lang="es-MX" sz="1200" kern="1200" dirty="0" err="1">
                          <a:solidFill>
                            <a:schemeClr val="dk1"/>
                          </a:solidFill>
                          <a:latin typeface="Consolas" panose="020B0609020204030204" pitchFamily="49" charset="0"/>
                          <a:ea typeface="+mn-ea"/>
                          <a:cs typeface="+mn-cs"/>
                        </a:rPr>
                        <a:t>git</a:t>
                      </a:r>
                      <a:r>
                        <a:rPr lang="es-MX" sz="1200" kern="1200" dirty="0">
                          <a:solidFill>
                            <a:schemeClr val="dk1"/>
                          </a:solidFill>
                          <a:latin typeface="Consolas" panose="020B0609020204030204" pitchFamily="49" charset="0"/>
                          <a:ea typeface="+mn-ea"/>
                          <a:cs typeface="+mn-cs"/>
                        </a:rPr>
                        <a:t> </a:t>
                      </a:r>
                      <a:r>
                        <a:rPr lang="es-MX" sz="1200" kern="1200" dirty="0" err="1">
                          <a:solidFill>
                            <a:schemeClr val="dk1"/>
                          </a:solidFill>
                          <a:latin typeface="Consolas" panose="020B0609020204030204" pitchFamily="49" charset="0"/>
                          <a:ea typeface="+mn-ea"/>
                          <a:cs typeface="+mn-cs"/>
                        </a:rPr>
                        <a:t>fetch</a:t>
                      </a:r>
                      <a:r>
                        <a:rPr lang="es-MX" sz="1200" kern="1200" dirty="0">
                          <a:solidFill>
                            <a:schemeClr val="dk1"/>
                          </a:solidFill>
                          <a:latin typeface="Consolas" panose="020B0609020204030204" pitchFamily="49" charset="0"/>
                          <a:ea typeface="+mn-ea"/>
                          <a:cs typeface="+mn-cs"/>
                        </a:rPr>
                        <a:t> &lt;nombre-remoto&gt; &lt;nombre-rama&gt;</a:t>
                      </a:r>
                    </a:p>
                  </a:txBody>
                  <a:tcPr/>
                </a:tc>
                <a:extLst>
                  <a:ext uri="{0D108BD9-81ED-4DB2-BD59-A6C34878D82A}">
                    <a16:rowId xmlns:a16="http://schemas.microsoft.com/office/drawing/2014/main" val="1590487911"/>
                  </a:ext>
                </a:extLst>
              </a:tr>
            </a:tbl>
          </a:graphicData>
        </a:graphic>
      </p:graphicFrame>
    </p:spTree>
    <p:extLst>
      <p:ext uri="{BB962C8B-B14F-4D97-AF65-F5344CB8AC3E}">
        <p14:creationId xmlns:p14="http://schemas.microsoft.com/office/powerpoint/2010/main" val="14869450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A6C636BB-E7D0-FE55-C2F5-FC57A88AB9F0}"/>
              </a:ext>
            </a:extLst>
          </p:cNvPr>
          <p:cNvSpPr txBox="1">
            <a:spLocks/>
          </p:cNvSpPr>
          <p:nvPr/>
        </p:nvSpPr>
        <p:spPr>
          <a:xfrm>
            <a:off x="666975" y="550472"/>
            <a:ext cx="7905800" cy="577171"/>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3200" dirty="0"/>
              <a:t>Archivo .</a:t>
            </a:r>
            <a:r>
              <a:rPr lang="es-MX" sz="3200" dirty="0" err="1"/>
              <a:t>gitignore</a:t>
            </a:r>
            <a:endParaRPr lang="es-MX" sz="3200" dirty="0"/>
          </a:p>
        </p:txBody>
      </p:sp>
      <p:sp>
        <p:nvSpPr>
          <p:cNvPr id="9" name="Slide Number Placeholder 5">
            <a:extLst>
              <a:ext uri="{FF2B5EF4-FFF2-40B4-BE49-F238E27FC236}">
                <a16:creationId xmlns:a16="http://schemas.microsoft.com/office/drawing/2014/main" id="{7AA4D592-1C24-9678-675B-5592FEE70AED}"/>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33</a:t>
            </a:fld>
            <a:endParaRPr lang="es-MX" sz="700">
              <a:solidFill>
                <a:schemeClr val="tx1"/>
              </a:solidFill>
              <a:latin typeface="+mn-lt"/>
            </a:endParaRPr>
          </a:p>
        </p:txBody>
      </p:sp>
      <p:sp>
        <p:nvSpPr>
          <p:cNvPr id="10" name="Date Placeholder 3">
            <a:extLst>
              <a:ext uri="{FF2B5EF4-FFF2-40B4-BE49-F238E27FC236}">
                <a16:creationId xmlns:a16="http://schemas.microsoft.com/office/drawing/2014/main" id="{01B32BC8-1722-304F-0282-503A51C392A4}"/>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16" name="Footer Placeholder 4">
            <a:extLst>
              <a:ext uri="{FF2B5EF4-FFF2-40B4-BE49-F238E27FC236}">
                <a16:creationId xmlns:a16="http://schemas.microsoft.com/office/drawing/2014/main" id="{EAE13ECB-7911-B012-DA67-027E1A7CF8DF}"/>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solidFill>
                <a:latin typeface="+mn-lt"/>
              </a:rPr>
              <a:t>GIT</a:t>
            </a:r>
          </a:p>
        </p:txBody>
      </p:sp>
      <p:sp>
        <p:nvSpPr>
          <p:cNvPr id="22" name="CuadroTexto 21">
            <a:extLst>
              <a:ext uri="{FF2B5EF4-FFF2-40B4-BE49-F238E27FC236}">
                <a16:creationId xmlns:a16="http://schemas.microsoft.com/office/drawing/2014/main" id="{AE0D90BC-4DC7-4191-B796-A8B3D1CD0F49}"/>
              </a:ext>
            </a:extLst>
          </p:cNvPr>
          <p:cNvSpPr txBox="1"/>
          <p:nvPr/>
        </p:nvSpPr>
        <p:spPr>
          <a:xfrm>
            <a:off x="666975" y="1497817"/>
            <a:ext cx="7831566" cy="247697"/>
          </a:xfrm>
          <a:prstGeom prst="rect">
            <a:avLst/>
          </a:prstGeom>
          <a:noFill/>
        </p:spPr>
        <p:txBody>
          <a:bodyPr wrap="square" rtlCol="0">
            <a:spAutoFit/>
          </a:bodyPr>
          <a:lstStyle/>
          <a:p>
            <a:pPr marL="0" indent="0" algn="just">
              <a:lnSpc>
                <a:spcPct val="110000"/>
              </a:lnSpc>
              <a:buNone/>
            </a:pPr>
            <a:r>
              <a:rPr lang="es-MX" sz="1000" dirty="0">
                <a:ea typeface="Verdana" panose="020B0604030504040204" pitchFamily="34" charset="0"/>
                <a:cs typeface="Verdana" panose="020B0604030504040204" pitchFamily="34" charset="0"/>
              </a:rPr>
              <a:t>Es un archivo de texto que le dice a Git qué archivos o carpetas ignorar en un proyecto.</a:t>
            </a:r>
          </a:p>
        </p:txBody>
      </p:sp>
      <p:sp>
        <p:nvSpPr>
          <p:cNvPr id="17" name="Date Placeholder 3">
            <a:extLst>
              <a:ext uri="{FF2B5EF4-FFF2-40B4-BE49-F238E27FC236}">
                <a16:creationId xmlns:a16="http://schemas.microsoft.com/office/drawing/2014/main" id="{FA207AE3-160D-4088-9A33-A5EA9977E17C}"/>
              </a:ext>
            </a:extLst>
          </p:cNvPr>
          <p:cNvSpPr txBox="1">
            <a:spLocks/>
          </p:cNvSpPr>
          <p:nvPr/>
        </p:nvSpPr>
        <p:spPr>
          <a:xfrm>
            <a:off x="735316" y="5293007"/>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18" name="Rectangle: Rounded Corners 19">
            <a:extLst>
              <a:ext uri="{FF2B5EF4-FFF2-40B4-BE49-F238E27FC236}">
                <a16:creationId xmlns:a16="http://schemas.microsoft.com/office/drawing/2014/main" id="{9353C458-1362-4898-93E8-FE495DE80A17}"/>
              </a:ext>
            </a:extLst>
          </p:cNvPr>
          <p:cNvSpPr/>
          <p:nvPr/>
        </p:nvSpPr>
        <p:spPr>
          <a:xfrm>
            <a:off x="3782394" y="1867386"/>
            <a:ext cx="4574163" cy="2570478"/>
          </a:xfrm>
          <a:prstGeom prst="roundRect">
            <a:avLst>
              <a:gd name="adj" fmla="val 15517"/>
            </a:avLst>
          </a:prstGeom>
          <a:gradFill flip="none" rotWithShape="1">
            <a:gsLst>
              <a:gs pos="0">
                <a:schemeClr val="tx1">
                  <a:alpha val="5000"/>
                </a:schemeClr>
              </a:gs>
              <a:gs pos="50500">
                <a:schemeClr val="accent2">
                  <a:alpha val="5000"/>
                </a:schemeClr>
              </a:gs>
              <a:gs pos="100000">
                <a:schemeClr val="tx1">
                  <a:alpha val="5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19" name="Oval 20">
            <a:extLst>
              <a:ext uri="{FF2B5EF4-FFF2-40B4-BE49-F238E27FC236}">
                <a16:creationId xmlns:a16="http://schemas.microsoft.com/office/drawing/2014/main" id="{5878C1EA-0128-46A7-B060-5E2EF9A43769}"/>
              </a:ext>
            </a:extLst>
          </p:cNvPr>
          <p:cNvSpPr/>
          <p:nvPr/>
        </p:nvSpPr>
        <p:spPr>
          <a:xfrm>
            <a:off x="3971570" y="2124527"/>
            <a:ext cx="510221" cy="510221"/>
          </a:xfrm>
          <a:prstGeom prst="ellipse">
            <a:avLst/>
          </a:prstGeom>
          <a:gradFill>
            <a:gsLst>
              <a:gs pos="0">
                <a:schemeClr val="accent1"/>
              </a:gs>
              <a:gs pos="100000">
                <a:schemeClr val="accent2"/>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grpSp>
        <p:nvGrpSpPr>
          <p:cNvPr id="20" name="Group 21">
            <a:extLst>
              <a:ext uri="{FF2B5EF4-FFF2-40B4-BE49-F238E27FC236}">
                <a16:creationId xmlns:a16="http://schemas.microsoft.com/office/drawing/2014/main" id="{3F127D6B-1E11-45EF-9F23-544F57DC0813}"/>
              </a:ext>
            </a:extLst>
          </p:cNvPr>
          <p:cNvGrpSpPr/>
          <p:nvPr/>
        </p:nvGrpSpPr>
        <p:grpSpPr>
          <a:xfrm>
            <a:off x="4570658" y="2057212"/>
            <a:ext cx="3586289" cy="2380651"/>
            <a:chOff x="1987550" y="4491298"/>
            <a:chExt cx="2024967" cy="2815786"/>
          </a:xfrm>
        </p:grpSpPr>
        <p:sp>
          <p:nvSpPr>
            <p:cNvPr id="21" name="TextBox 22">
              <a:extLst>
                <a:ext uri="{FF2B5EF4-FFF2-40B4-BE49-F238E27FC236}">
                  <a16:creationId xmlns:a16="http://schemas.microsoft.com/office/drawing/2014/main" id="{EDE4A384-36FB-4773-9D22-56C07F70DF88}"/>
                </a:ext>
              </a:extLst>
            </p:cNvPr>
            <p:cNvSpPr txBox="1"/>
            <p:nvPr/>
          </p:nvSpPr>
          <p:spPr>
            <a:xfrm>
              <a:off x="1987550" y="4491298"/>
              <a:ext cx="2002472" cy="333523"/>
            </a:xfrm>
            <a:prstGeom prst="rect">
              <a:avLst/>
            </a:prstGeom>
            <a:noFill/>
          </p:spPr>
          <p:txBody>
            <a:bodyPr wrap="square" rtlCol="0">
              <a:spAutoFit/>
            </a:bodyPr>
            <a:lstStyle/>
            <a:p>
              <a:r>
                <a:rPr lang="es-MX" sz="2400" dirty="0"/>
                <a:t>Puntos clave</a:t>
              </a:r>
              <a:endParaRPr lang="en-ID" sz="2400" dirty="0"/>
            </a:p>
          </p:txBody>
        </p:sp>
        <p:sp>
          <p:nvSpPr>
            <p:cNvPr id="23" name="TextBox 23">
              <a:extLst>
                <a:ext uri="{FF2B5EF4-FFF2-40B4-BE49-F238E27FC236}">
                  <a16:creationId xmlns:a16="http://schemas.microsoft.com/office/drawing/2014/main" id="{0A7AF94B-9BC8-482D-A3CB-75D18714B5C5}"/>
                </a:ext>
              </a:extLst>
            </p:cNvPr>
            <p:cNvSpPr txBox="1"/>
            <p:nvPr/>
          </p:nvSpPr>
          <p:spPr>
            <a:xfrm>
              <a:off x="1987550" y="5068288"/>
              <a:ext cx="2024967" cy="2238796"/>
            </a:xfrm>
            <a:prstGeom prst="rect">
              <a:avLst/>
            </a:prstGeom>
            <a:noFill/>
          </p:spPr>
          <p:txBody>
            <a:bodyPr wrap="square" rtlCol="0">
              <a:spAutoFit/>
            </a:bodyPr>
            <a:lstStyle/>
            <a:p>
              <a:r>
                <a:rPr lang="es-MX" sz="900" b="1" dirty="0"/>
                <a:t>Creación:</a:t>
              </a:r>
              <a:r>
                <a:rPr lang="es-MX" sz="900" dirty="0"/>
                <a:t> Se crea un archivo llamado .</a:t>
              </a:r>
              <a:r>
                <a:rPr lang="es-MX" sz="900" dirty="0" err="1"/>
                <a:t>gitignore</a:t>
              </a:r>
              <a:r>
                <a:rPr lang="es-MX" sz="900" dirty="0"/>
                <a:t> en el directorio principal del proyecto.</a:t>
              </a:r>
            </a:p>
            <a:p>
              <a:endParaRPr lang="es-MX" sz="900" dirty="0"/>
            </a:p>
            <a:p>
              <a:r>
                <a:rPr lang="es-MX" sz="900" b="1" dirty="0"/>
                <a:t>Sintaxis: </a:t>
              </a:r>
              <a:r>
                <a:rPr lang="es-MX" sz="900" dirty="0"/>
                <a:t>Se pueden listar archivos, carpetas (ej. /</a:t>
              </a:r>
              <a:r>
                <a:rPr lang="es-MX" sz="900" dirty="0" err="1"/>
                <a:t>node_modules</a:t>
              </a:r>
              <a:r>
                <a:rPr lang="es-MX" sz="900" dirty="0"/>
                <a:t>/), o usar comodines (ej. *.log) para ignorar archivos .log.</a:t>
              </a:r>
            </a:p>
            <a:p>
              <a:endParaRPr lang="es-MX" sz="900" dirty="0"/>
            </a:p>
            <a:p>
              <a:r>
                <a:rPr lang="es-MX" sz="900" b="1" dirty="0"/>
                <a:t>Archivos ya rastreados: </a:t>
              </a:r>
              <a:r>
                <a:rPr lang="es-MX" sz="900" dirty="0"/>
                <a:t>Si un archivo fue subido antes de agregarlo al .</a:t>
              </a:r>
              <a:r>
                <a:rPr lang="es-MX" sz="900" dirty="0" err="1"/>
                <a:t>gitignore</a:t>
              </a:r>
              <a:r>
                <a:rPr lang="es-MX" sz="900" dirty="0"/>
                <a:t>, se debe eliminar del índice con </a:t>
              </a:r>
              <a:r>
                <a:rPr lang="es-MX" sz="900" dirty="0" err="1"/>
                <a:t>git</a:t>
              </a:r>
              <a:r>
                <a:rPr lang="es-MX" sz="900" dirty="0"/>
                <a:t> </a:t>
              </a:r>
              <a:r>
                <a:rPr lang="es-MX" sz="900" dirty="0" err="1"/>
                <a:t>rm</a:t>
              </a:r>
              <a:r>
                <a:rPr lang="es-MX" sz="900" dirty="0"/>
                <a:t> --</a:t>
              </a:r>
              <a:r>
                <a:rPr lang="es-MX" sz="900" dirty="0" err="1"/>
                <a:t>cached</a:t>
              </a:r>
              <a:r>
                <a:rPr lang="es-MX" sz="900" dirty="0"/>
                <a:t> &lt;archivo&gt;.</a:t>
              </a:r>
            </a:p>
            <a:p>
              <a:endParaRPr lang="es-MX" sz="900" dirty="0"/>
            </a:p>
            <a:p>
              <a:r>
                <a:rPr lang="es-MX" sz="900" b="1" dirty="0"/>
                <a:t>Comentarios:</a:t>
              </a:r>
              <a:r>
                <a:rPr lang="es-MX" sz="900" dirty="0"/>
                <a:t> Se usa # al inicio de una línea para añadir comentarios</a:t>
              </a:r>
              <a:endParaRPr lang="en-ID" sz="900" dirty="0"/>
            </a:p>
          </p:txBody>
        </p:sp>
      </p:grpSp>
      <p:pic>
        <p:nvPicPr>
          <p:cNvPr id="4" name="Imagen 3">
            <a:extLst>
              <a:ext uri="{FF2B5EF4-FFF2-40B4-BE49-F238E27FC236}">
                <a16:creationId xmlns:a16="http://schemas.microsoft.com/office/drawing/2014/main" id="{9F7A1EB6-1C34-4375-A42E-7880EF196C70}"/>
              </a:ext>
            </a:extLst>
          </p:cNvPr>
          <p:cNvPicPr>
            <a:picLocks noChangeAspect="1"/>
          </p:cNvPicPr>
          <p:nvPr/>
        </p:nvPicPr>
        <p:blipFill>
          <a:blip r:embed="rId2"/>
          <a:stretch>
            <a:fillRect/>
          </a:stretch>
        </p:blipFill>
        <p:spPr>
          <a:xfrm>
            <a:off x="457563" y="2024650"/>
            <a:ext cx="3294928" cy="2420274"/>
          </a:xfrm>
          <a:prstGeom prst="rect">
            <a:avLst/>
          </a:prstGeom>
        </p:spPr>
      </p:pic>
    </p:spTree>
    <p:extLst>
      <p:ext uri="{BB962C8B-B14F-4D97-AF65-F5344CB8AC3E}">
        <p14:creationId xmlns:p14="http://schemas.microsoft.com/office/powerpoint/2010/main" val="15727397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834EB6-283A-35A8-AD87-63FE1ABA46C7}"/>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D82BB72E-C17E-063F-6F7A-EAA510EDE0A1}"/>
              </a:ext>
            </a:extLst>
          </p:cNvPr>
          <p:cNvSpPr txBox="1"/>
          <p:nvPr/>
        </p:nvSpPr>
        <p:spPr>
          <a:xfrm>
            <a:off x="1018780" y="1941184"/>
            <a:ext cx="7873999" cy="1815882"/>
          </a:xfrm>
          <a:prstGeom prst="rect">
            <a:avLst/>
          </a:prstGeom>
          <a:noFill/>
        </p:spPr>
        <p:txBody>
          <a:bodyPr wrap="square" rtlCol="0">
            <a:spAutoFit/>
          </a:bodyPr>
          <a:lstStyle/>
          <a:p>
            <a:pPr latinLnBrk="1"/>
            <a:r>
              <a:rPr lang="es-MX" sz="1600" dirty="0"/>
              <a:t># Comentario</a:t>
            </a:r>
          </a:p>
          <a:p>
            <a:pPr latinLnBrk="1"/>
            <a:r>
              <a:rPr lang="es-MX" sz="1600" dirty="0"/>
              <a:t>archivo-temporal.txt  # Ignora un archivo específico</a:t>
            </a:r>
          </a:p>
          <a:p>
            <a:pPr latinLnBrk="1"/>
            <a:r>
              <a:rPr lang="es-MX" sz="1600" dirty="0"/>
              <a:t>node_modules/          # Ignora toda una carpeta</a:t>
            </a:r>
          </a:p>
          <a:p>
            <a:pPr latinLnBrk="1"/>
            <a:r>
              <a:rPr lang="es-MX" sz="1600" dirty="0"/>
              <a:t>*.log                              # Ignora todos los archivos con extensión .log</a:t>
            </a:r>
          </a:p>
          <a:p>
            <a:pPr latinLnBrk="1"/>
            <a:r>
              <a:rPr lang="es-MX" sz="1600" dirty="0"/>
              <a:t>!importante.log          #  Pero NO ignores este archivo .log en específico</a:t>
            </a:r>
          </a:p>
          <a:p>
            <a:pPr latinLnBrk="1"/>
            <a:r>
              <a:rPr lang="es-MX" sz="1600" dirty="0"/>
              <a:t>/config/secret.txt       # Ignora el archivo desde la raíz del repo</a:t>
            </a:r>
          </a:p>
          <a:p>
            <a:pPr latinLnBrk="1"/>
            <a:endParaRPr lang="es-MX" sz="1600" dirty="0"/>
          </a:p>
        </p:txBody>
      </p:sp>
      <p:sp>
        <p:nvSpPr>
          <p:cNvPr id="6" name="Título 1">
            <a:extLst>
              <a:ext uri="{FF2B5EF4-FFF2-40B4-BE49-F238E27FC236}">
                <a16:creationId xmlns:a16="http://schemas.microsoft.com/office/drawing/2014/main" id="{559B8F43-63FD-E49E-9BAE-2164B03DE721}"/>
              </a:ext>
            </a:extLst>
          </p:cNvPr>
          <p:cNvSpPr txBox="1">
            <a:spLocks/>
          </p:cNvSpPr>
          <p:nvPr/>
        </p:nvSpPr>
        <p:spPr>
          <a:xfrm>
            <a:off x="924560" y="524951"/>
            <a:ext cx="7097125" cy="557520"/>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dirty="0"/>
              <a:t>Creando y Usando .gitignore</a:t>
            </a:r>
            <a:endParaRPr lang="es-MX" sz="2400" dirty="0">
              <a:cs typeface="Verdana" panose="020B0604030504040204" pitchFamily="34" charset="0"/>
            </a:endParaRPr>
          </a:p>
        </p:txBody>
      </p:sp>
      <p:sp>
        <p:nvSpPr>
          <p:cNvPr id="7" name="Slide Number Placeholder 5">
            <a:extLst>
              <a:ext uri="{FF2B5EF4-FFF2-40B4-BE49-F238E27FC236}">
                <a16:creationId xmlns:a16="http://schemas.microsoft.com/office/drawing/2014/main" id="{BCBD0AE2-D85E-B623-948D-963D88499917}"/>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34</a:t>
            </a:fld>
            <a:endParaRPr lang="es-MX" sz="700">
              <a:solidFill>
                <a:schemeClr val="tx1"/>
              </a:solidFill>
              <a:latin typeface="+mn-lt"/>
            </a:endParaRPr>
          </a:p>
        </p:txBody>
      </p:sp>
      <p:sp>
        <p:nvSpPr>
          <p:cNvPr id="8" name="Date Placeholder 3">
            <a:extLst>
              <a:ext uri="{FF2B5EF4-FFF2-40B4-BE49-F238E27FC236}">
                <a16:creationId xmlns:a16="http://schemas.microsoft.com/office/drawing/2014/main" id="{E6B82736-D8D1-4E89-7C2D-91B826FE6575}"/>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2" name="Footer Placeholder 4">
            <a:extLst>
              <a:ext uri="{FF2B5EF4-FFF2-40B4-BE49-F238E27FC236}">
                <a16:creationId xmlns:a16="http://schemas.microsoft.com/office/drawing/2014/main" id="{26522B39-F06E-1775-249D-B7D6F2E6625E}"/>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a:solidFill>
                  <a:schemeClr val="tx1"/>
                </a:solidFill>
                <a:latin typeface="+mn-lt"/>
              </a:rPr>
              <a:t>[TÍTULO DE LA PRESENTACIÓN]</a:t>
            </a:r>
          </a:p>
        </p:txBody>
      </p:sp>
      <p:pic>
        <p:nvPicPr>
          <p:cNvPr id="3" name="Imagen 2" descr="Git - Wikipedia, la enciclopedia libre">
            <a:extLst>
              <a:ext uri="{FF2B5EF4-FFF2-40B4-BE49-F238E27FC236}">
                <a16:creationId xmlns:a16="http://schemas.microsoft.com/office/drawing/2014/main" id="{4FE3742C-BB36-F58B-F9C8-B01FD99E424B}"/>
              </a:ext>
            </a:extLst>
          </p:cNvPr>
          <p:cNvPicPr>
            <a:picLocks noChangeAspect="1"/>
          </p:cNvPicPr>
          <p:nvPr/>
        </p:nvPicPr>
        <p:blipFill>
          <a:blip r:embed="rId3"/>
          <a:stretch>
            <a:fillRect/>
          </a:stretch>
        </p:blipFill>
        <p:spPr>
          <a:xfrm>
            <a:off x="8141103" y="482389"/>
            <a:ext cx="647297" cy="267847"/>
          </a:xfrm>
          <a:prstGeom prst="rect">
            <a:avLst/>
          </a:prstGeom>
        </p:spPr>
      </p:pic>
    </p:spTree>
    <p:extLst>
      <p:ext uri="{BB962C8B-B14F-4D97-AF65-F5344CB8AC3E}">
        <p14:creationId xmlns:p14="http://schemas.microsoft.com/office/powerpoint/2010/main" val="27994664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C6808F-4EEC-5744-F186-CA0429F98DA4}"/>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A26F58FE-DC7E-4C69-B614-C13536BDCD37}"/>
              </a:ext>
            </a:extLst>
          </p:cNvPr>
          <p:cNvSpPr txBox="1"/>
          <p:nvPr/>
        </p:nvSpPr>
        <p:spPr>
          <a:xfrm>
            <a:off x="675476" y="1308281"/>
            <a:ext cx="8217302" cy="3447098"/>
          </a:xfrm>
          <a:prstGeom prst="rect">
            <a:avLst/>
          </a:prstGeom>
          <a:noFill/>
        </p:spPr>
        <p:txBody>
          <a:bodyPr wrap="square" rtlCol="0">
            <a:spAutoFit/>
          </a:bodyPr>
          <a:lstStyle/>
          <a:p>
            <a:r>
              <a:rPr lang="es-MX" dirty="0"/>
              <a:t>Comando: git init</a:t>
            </a:r>
          </a:p>
          <a:p>
            <a:endParaRPr lang="es-MX" dirty="0"/>
          </a:p>
          <a:p>
            <a:r>
              <a:rPr lang="es-MX" b="1" dirty="0"/>
              <a:t>Acción:</a:t>
            </a:r>
            <a:r>
              <a:rPr lang="es-MX" dirty="0"/>
              <a:t> Convierte una carpeta existente en un repositorio de Git. Crea la subcarpeta .git.</a:t>
            </a:r>
          </a:p>
          <a:p>
            <a:endParaRPr lang="es-MX" dirty="0"/>
          </a:p>
          <a:p>
            <a:r>
              <a:rPr lang="es-MX" sz="1600" b="1" dirty="0"/>
              <a:t>Ejemplo Práctico (Windows):</a:t>
            </a:r>
            <a:endParaRPr lang="es-MX" sz="1600" dirty="0"/>
          </a:p>
          <a:p>
            <a:pPr lvl="1"/>
            <a:r>
              <a:rPr lang="es-MX" sz="1600" dirty="0"/>
              <a:t>1.- Abrir CMD o PowerShell.</a:t>
            </a:r>
          </a:p>
          <a:p>
            <a:pPr lvl="1"/>
            <a:r>
              <a:rPr lang="es-MX" sz="1600" dirty="0"/>
              <a:t>2.- Crear una carpeta para el proyecto: mkdir C:\Users\TuUsuario\Desktop\MiPrimerRepo</a:t>
            </a:r>
          </a:p>
          <a:p>
            <a:pPr lvl="1"/>
            <a:r>
              <a:rPr lang="es-MX" sz="1600" dirty="0"/>
              <a:t>3.- Entrar a la carpeta: cd C:\Users\TuUsuario\Desktop\MiPrimerRepo</a:t>
            </a:r>
          </a:p>
          <a:p>
            <a:pPr lvl="1"/>
            <a:r>
              <a:rPr lang="es-MX" sz="1600" dirty="0"/>
              <a:t>4.- Inicializar Git: git init</a:t>
            </a:r>
          </a:p>
          <a:p>
            <a:pPr lvl="1"/>
            <a:r>
              <a:rPr lang="es-MX" sz="1600" dirty="0"/>
              <a:t>5.- Verificar que se creó la carpeta oculta: dir /a (en CMD) o ls -Force (en PowerShell)</a:t>
            </a:r>
          </a:p>
        </p:txBody>
      </p:sp>
      <p:sp>
        <p:nvSpPr>
          <p:cNvPr id="6" name="Título 1">
            <a:extLst>
              <a:ext uri="{FF2B5EF4-FFF2-40B4-BE49-F238E27FC236}">
                <a16:creationId xmlns:a16="http://schemas.microsoft.com/office/drawing/2014/main" id="{C6A10F70-2052-7F3B-8E14-865CBCCA80F5}"/>
              </a:ext>
            </a:extLst>
          </p:cNvPr>
          <p:cNvSpPr txBox="1">
            <a:spLocks/>
          </p:cNvSpPr>
          <p:nvPr/>
        </p:nvSpPr>
        <p:spPr>
          <a:xfrm>
            <a:off x="924560" y="524951"/>
            <a:ext cx="7097125" cy="557520"/>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dirty="0"/>
              <a:t>Inicializando un Repositorio</a:t>
            </a:r>
            <a:endParaRPr lang="es-MX" sz="3600" dirty="0">
              <a:cs typeface="Verdana" panose="020B0604030504040204" pitchFamily="34" charset="0"/>
            </a:endParaRPr>
          </a:p>
        </p:txBody>
      </p:sp>
      <p:sp>
        <p:nvSpPr>
          <p:cNvPr id="7" name="Slide Number Placeholder 5">
            <a:extLst>
              <a:ext uri="{FF2B5EF4-FFF2-40B4-BE49-F238E27FC236}">
                <a16:creationId xmlns:a16="http://schemas.microsoft.com/office/drawing/2014/main" id="{849821E8-9588-7E10-0BB3-3CE9EFEF0B62}"/>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35</a:t>
            </a:fld>
            <a:endParaRPr lang="es-MX" sz="700">
              <a:solidFill>
                <a:schemeClr val="tx1"/>
              </a:solidFill>
              <a:latin typeface="+mn-lt"/>
            </a:endParaRPr>
          </a:p>
        </p:txBody>
      </p:sp>
      <p:sp>
        <p:nvSpPr>
          <p:cNvPr id="8" name="Date Placeholder 3">
            <a:extLst>
              <a:ext uri="{FF2B5EF4-FFF2-40B4-BE49-F238E27FC236}">
                <a16:creationId xmlns:a16="http://schemas.microsoft.com/office/drawing/2014/main" id="{13745F1F-F2CA-2F6F-E3CF-DE88761B34D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2" name="Footer Placeholder 4">
            <a:extLst>
              <a:ext uri="{FF2B5EF4-FFF2-40B4-BE49-F238E27FC236}">
                <a16:creationId xmlns:a16="http://schemas.microsoft.com/office/drawing/2014/main" id="{2C9FBF5B-D59B-EC0A-FC0E-AAA2FB87526D}"/>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a:solidFill>
                  <a:schemeClr val="tx1"/>
                </a:solidFill>
                <a:latin typeface="+mn-lt"/>
              </a:rPr>
              <a:t>[TÍTULO DE LA PRESENTACIÓN]</a:t>
            </a:r>
          </a:p>
        </p:txBody>
      </p:sp>
      <p:pic>
        <p:nvPicPr>
          <p:cNvPr id="3" name="Imagen 2" descr="Git - Wikipedia, la enciclopedia libre">
            <a:extLst>
              <a:ext uri="{FF2B5EF4-FFF2-40B4-BE49-F238E27FC236}">
                <a16:creationId xmlns:a16="http://schemas.microsoft.com/office/drawing/2014/main" id="{7E087B3C-A21F-2194-92D4-E7FDC51B2759}"/>
              </a:ext>
            </a:extLst>
          </p:cNvPr>
          <p:cNvPicPr>
            <a:picLocks noChangeAspect="1"/>
          </p:cNvPicPr>
          <p:nvPr/>
        </p:nvPicPr>
        <p:blipFill>
          <a:blip r:embed="rId3"/>
          <a:stretch>
            <a:fillRect/>
          </a:stretch>
        </p:blipFill>
        <p:spPr>
          <a:xfrm>
            <a:off x="8141103" y="482389"/>
            <a:ext cx="647297" cy="267847"/>
          </a:xfrm>
          <a:prstGeom prst="rect">
            <a:avLst/>
          </a:prstGeom>
        </p:spPr>
      </p:pic>
    </p:spTree>
    <p:extLst>
      <p:ext uri="{BB962C8B-B14F-4D97-AF65-F5344CB8AC3E}">
        <p14:creationId xmlns:p14="http://schemas.microsoft.com/office/powerpoint/2010/main" val="35347088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7F0CE-0839-B486-E9C9-4FABF61CA20B}"/>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7F4F7574-7FCB-E068-828E-F8AA3AC8C65E}"/>
              </a:ext>
            </a:extLst>
          </p:cNvPr>
          <p:cNvSpPr txBox="1"/>
          <p:nvPr/>
        </p:nvSpPr>
        <p:spPr>
          <a:xfrm>
            <a:off x="713650" y="1404894"/>
            <a:ext cx="8034109" cy="2862322"/>
          </a:xfrm>
          <a:prstGeom prst="rect">
            <a:avLst/>
          </a:prstGeom>
          <a:noFill/>
        </p:spPr>
        <p:txBody>
          <a:bodyPr wrap="square" rtlCol="0">
            <a:spAutoFit/>
          </a:bodyPr>
          <a:lstStyle/>
          <a:p>
            <a:r>
              <a:rPr lang="es-MX" dirty="0"/>
              <a:t>El comando más importante y más usado (git status).</a:t>
            </a:r>
          </a:p>
          <a:p>
            <a:r>
              <a:rPr lang="es-MX" b="1" dirty="0"/>
              <a:t>Función:</a:t>
            </a:r>
            <a:r>
              <a:rPr lang="es-MX" dirty="0"/>
              <a:t> Muestra el estado actual del working directory y el staging area.</a:t>
            </a:r>
          </a:p>
          <a:p>
            <a:r>
              <a:rPr lang="es-MX" dirty="0"/>
              <a:t>Te dice:</a:t>
            </a:r>
          </a:p>
          <a:p>
            <a:pPr lvl="1"/>
            <a:r>
              <a:rPr lang="es-MX" dirty="0"/>
              <a:t>Archivos sin seguimiento (untracked).</a:t>
            </a:r>
          </a:p>
          <a:p>
            <a:pPr lvl="1"/>
            <a:r>
              <a:rPr lang="es-MX" dirty="0"/>
              <a:t>Archivos modificados (modified).</a:t>
            </a:r>
          </a:p>
          <a:p>
            <a:pPr lvl="1"/>
            <a:r>
              <a:rPr lang="es-MX" dirty="0"/>
              <a:t>Archivos en el staging area (staged).</a:t>
            </a:r>
          </a:p>
          <a:p>
            <a:r>
              <a:rPr lang="es-MX" b="1" dirty="0"/>
              <a:t>Ejemplo Práctico:</a:t>
            </a:r>
            <a:endParaRPr lang="es-MX" dirty="0"/>
          </a:p>
          <a:p>
            <a:pPr lvl="1"/>
            <a:r>
              <a:rPr lang="es-MX" dirty="0"/>
              <a:t>Crear un archivo: echo "Mi primer proyecto" &gt; README.md</a:t>
            </a:r>
          </a:p>
          <a:p>
            <a:pPr lvl="1"/>
            <a:r>
              <a:rPr lang="es-MX" dirty="0"/>
              <a:t>Ver el estado: git status</a:t>
            </a:r>
          </a:p>
        </p:txBody>
      </p:sp>
      <p:sp>
        <p:nvSpPr>
          <p:cNvPr id="6" name="Título 1">
            <a:extLst>
              <a:ext uri="{FF2B5EF4-FFF2-40B4-BE49-F238E27FC236}">
                <a16:creationId xmlns:a16="http://schemas.microsoft.com/office/drawing/2014/main" id="{A5AF4A27-A001-A05C-E0B3-A49056D119B2}"/>
              </a:ext>
            </a:extLst>
          </p:cNvPr>
          <p:cNvSpPr txBox="1">
            <a:spLocks/>
          </p:cNvSpPr>
          <p:nvPr/>
        </p:nvSpPr>
        <p:spPr>
          <a:xfrm>
            <a:off x="924560" y="524951"/>
            <a:ext cx="7097125" cy="557520"/>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dirty="0"/>
              <a:t>El Estado de tus Archivos</a:t>
            </a:r>
            <a:endParaRPr lang="es-MX" sz="3600" dirty="0">
              <a:cs typeface="Verdana" panose="020B0604030504040204" pitchFamily="34" charset="0"/>
            </a:endParaRPr>
          </a:p>
        </p:txBody>
      </p:sp>
      <p:sp>
        <p:nvSpPr>
          <p:cNvPr id="7" name="Slide Number Placeholder 5">
            <a:extLst>
              <a:ext uri="{FF2B5EF4-FFF2-40B4-BE49-F238E27FC236}">
                <a16:creationId xmlns:a16="http://schemas.microsoft.com/office/drawing/2014/main" id="{6F25D3BA-09DA-7651-CF3C-F948A725DEB1}"/>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36</a:t>
            </a:fld>
            <a:endParaRPr lang="es-MX" sz="700">
              <a:solidFill>
                <a:schemeClr val="tx1"/>
              </a:solidFill>
              <a:latin typeface="+mn-lt"/>
            </a:endParaRPr>
          </a:p>
        </p:txBody>
      </p:sp>
      <p:sp>
        <p:nvSpPr>
          <p:cNvPr id="8" name="Date Placeholder 3">
            <a:extLst>
              <a:ext uri="{FF2B5EF4-FFF2-40B4-BE49-F238E27FC236}">
                <a16:creationId xmlns:a16="http://schemas.microsoft.com/office/drawing/2014/main" id="{E53D50ED-29FE-1E36-9ADE-522A2B39F6F8}"/>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2" name="Footer Placeholder 4">
            <a:extLst>
              <a:ext uri="{FF2B5EF4-FFF2-40B4-BE49-F238E27FC236}">
                <a16:creationId xmlns:a16="http://schemas.microsoft.com/office/drawing/2014/main" id="{D4574137-F614-DB04-4382-2B9272383ADC}"/>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a:solidFill>
                  <a:schemeClr val="tx1"/>
                </a:solidFill>
                <a:latin typeface="+mn-lt"/>
              </a:rPr>
              <a:t>[TÍTULO DE LA PRESENTACIÓN]</a:t>
            </a:r>
          </a:p>
        </p:txBody>
      </p:sp>
      <p:pic>
        <p:nvPicPr>
          <p:cNvPr id="3" name="Imagen 2" descr="Git - Wikipedia, la enciclopedia libre">
            <a:extLst>
              <a:ext uri="{FF2B5EF4-FFF2-40B4-BE49-F238E27FC236}">
                <a16:creationId xmlns:a16="http://schemas.microsoft.com/office/drawing/2014/main" id="{DFD6D956-9C6C-5BE2-6E8A-AF58643BCB03}"/>
              </a:ext>
            </a:extLst>
          </p:cNvPr>
          <p:cNvPicPr>
            <a:picLocks noChangeAspect="1"/>
          </p:cNvPicPr>
          <p:nvPr/>
        </p:nvPicPr>
        <p:blipFill>
          <a:blip r:embed="rId3"/>
          <a:stretch>
            <a:fillRect/>
          </a:stretch>
        </p:blipFill>
        <p:spPr>
          <a:xfrm>
            <a:off x="8141103" y="482389"/>
            <a:ext cx="647297" cy="267847"/>
          </a:xfrm>
          <a:prstGeom prst="rect">
            <a:avLst/>
          </a:prstGeom>
        </p:spPr>
      </p:pic>
    </p:spTree>
    <p:extLst>
      <p:ext uri="{BB962C8B-B14F-4D97-AF65-F5344CB8AC3E}">
        <p14:creationId xmlns:p14="http://schemas.microsoft.com/office/powerpoint/2010/main" val="72266908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8665E0-C3F1-1271-9B91-00B67C5CF7A8}"/>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B79334AD-5692-07D3-EF24-268693B6DFC7}"/>
              </a:ext>
            </a:extLst>
          </p:cNvPr>
          <p:cNvSpPr txBox="1"/>
          <p:nvPr/>
        </p:nvSpPr>
        <p:spPr>
          <a:xfrm>
            <a:off x="1023438" y="1562883"/>
            <a:ext cx="7097124" cy="2862322"/>
          </a:xfrm>
          <a:prstGeom prst="rect">
            <a:avLst/>
          </a:prstGeom>
          <a:noFill/>
        </p:spPr>
        <p:txBody>
          <a:bodyPr wrap="square" rtlCol="0">
            <a:spAutoFit/>
          </a:bodyPr>
          <a:lstStyle/>
          <a:p>
            <a:r>
              <a:rPr lang="es-MX" dirty="0"/>
              <a:t>El </a:t>
            </a:r>
            <a:r>
              <a:rPr lang="es-MX" b="1" dirty="0"/>
              <a:t>Staging Area</a:t>
            </a:r>
            <a:r>
              <a:rPr lang="es-MX" dirty="0"/>
              <a:t> (Índice) es un área intermedia. Es donde construyes la "foto" del próximo commit.</a:t>
            </a:r>
          </a:p>
          <a:p>
            <a:endParaRPr lang="es-MX" dirty="0"/>
          </a:p>
          <a:p>
            <a:r>
              <a:rPr lang="es-MX" dirty="0"/>
              <a:t>Comando: </a:t>
            </a:r>
            <a:r>
              <a:rPr lang="es-MX" b="1" dirty="0"/>
              <a:t>git add </a:t>
            </a:r>
            <a:r>
              <a:rPr lang="es-MX" dirty="0"/>
              <a:t>&lt;archivo&gt; o </a:t>
            </a:r>
            <a:r>
              <a:rPr lang="es-MX" b="1" dirty="0"/>
              <a:t>git add . </a:t>
            </a:r>
            <a:r>
              <a:rPr lang="es-MX" dirty="0"/>
              <a:t>(para añadir todos los cambios).</a:t>
            </a:r>
          </a:p>
          <a:p>
            <a:endParaRPr lang="es-MX" dirty="0"/>
          </a:p>
          <a:p>
            <a:r>
              <a:rPr lang="es-MX" b="1" dirty="0"/>
              <a:t>Ejemplo Práctico:</a:t>
            </a:r>
            <a:endParaRPr lang="es-MX" dirty="0"/>
          </a:p>
          <a:p>
            <a:pPr lvl="1"/>
            <a:r>
              <a:rPr lang="es-MX" dirty="0"/>
              <a:t>Añadir el archivo al staging: git add README.md</a:t>
            </a:r>
          </a:p>
          <a:p>
            <a:pPr lvl="1"/>
            <a:r>
              <a:rPr lang="es-MX" dirty="0"/>
              <a:t>Ver el estado: git status (Ahora el archivo aparecerá en verde como "Changes to be committed").</a:t>
            </a:r>
          </a:p>
        </p:txBody>
      </p:sp>
      <p:sp>
        <p:nvSpPr>
          <p:cNvPr id="6" name="Título 1">
            <a:extLst>
              <a:ext uri="{FF2B5EF4-FFF2-40B4-BE49-F238E27FC236}">
                <a16:creationId xmlns:a16="http://schemas.microsoft.com/office/drawing/2014/main" id="{ED611746-7BE0-3F2F-E67F-EEAD0396CEEE}"/>
              </a:ext>
            </a:extLst>
          </p:cNvPr>
          <p:cNvSpPr txBox="1">
            <a:spLocks/>
          </p:cNvSpPr>
          <p:nvPr/>
        </p:nvSpPr>
        <p:spPr>
          <a:xfrm>
            <a:off x="924560" y="524951"/>
            <a:ext cx="7097125" cy="557520"/>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dirty="0"/>
              <a:t>Preparando Cambios </a:t>
            </a:r>
            <a:r>
              <a:rPr lang="es-MX" sz="1600" dirty="0"/>
              <a:t>(Staging Area)</a:t>
            </a:r>
            <a:endParaRPr lang="es-MX" sz="1600" dirty="0">
              <a:cs typeface="Verdana" panose="020B0604030504040204" pitchFamily="34" charset="0"/>
            </a:endParaRPr>
          </a:p>
        </p:txBody>
      </p:sp>
      <p:sp>
        <p:nvSpPr>
          <p:cNvPr id="7" name="Slide Number Placeholder 5">
            <a:extLst>
              <a:ext uri="{FF2B5EF4-FFF2-40B4-BE49-F238E27FC236}">
                <a16:creationId xmlns:a16="http://schemas.microsoft.com/office/drawing/2014/main" id="{7B4F285F-0FC1-44A1-532A-4AA0D004594C}"/>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37</a:t>
            </a:fld>
            <a:endParaRPr lang="es-MX" sz="700">
              <a:solidFill>
                <a:schemeClr val="tx1"/>
              </a:solidFill>
              <a:latin typeface="+mn-lt"/>
            </a:endParaRPr>
          </a:p>
        </p:txBody>
      </p:sp>
      <p:sp>
        <p:nvSpPr>
          <p:cNvPr id="8" name="Date Placeholder 3">
            <a:extLst>
              <a:ext uri="{FF2B5EF4-FFF2-40B4-BE49-F238E27FC236}">
                <a16:creationId xmlns:a16="http://schemas.microsoft.com/office/drawing/2014/main" id="{855FB1CE-0793-E13B-9A58-F98B652B83DF}"/>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2" name="Footer Placeholder 4">
            <a:extLst>
              <a:ext uri="{FF2B5EF4-FFF2-40B4-BE49-F238E27FC236}">
                <a16:creationId xmlns:a16="http://schemas.microsoft.com/office/drawing/2014/main" id="{6DEB7E41-0D3D-9026-E861-B0E766BA063B}"/>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a:solidFill>
                  <a:schemeClr val="tx1"/>
                </a:solidFill>
                <a:latin typeface="+mn-lt"/>
              </a:rPr>
              <a:t>[TÍTULO DE LA PRESENTACIÓN]</a:t>
            </a:r>
          </a:p>
        </p:txBody>
      </p:sp>
      <p:pic>
        <p:nvPicPr>
          <p:cNvPr id="3" name="Imagen 2" descr="Git - Wikipedia, la enciclopedia libre">
            <a:extLst>
              <a:ext uri="{FF2B5EF4-FFF2-40B4-BE49-F238E27FC236}">
                <a16:creationId xmlns:a16="http://schemas.microsoft.com/office/drawing/2014/main" id="{E1BF2728-205C-50B7-5E9C-14D8368D5965}"/>
              </a:ext>
            </a:extLst>
          </p:cNvPr>
          <p:cNvPicPr>
            <a:picLocks noChangeAspect="1"/>
          </p:cNvPicPr>
          <p:nvPr/>
        </p:nvPicPr>
        <p:blipFill>
          <a:blip r:embed="rId3"/>
          <a:stretch>
            <a:fillRect/>
          </a:stretch>
        </p:blipFill>
        <p:spPr>
          <a:xfrm>
            <a:off x="8141103" y="482389"/>
            <a:ext cx="647297" cy="267847"/>
          </a:xfrm>
          <a:prstGeom prst="rect">
            <a:avLst/>
          </a:prstGeom>
        </p:spPr>
      </p:pic>
    </p:spTree>
    <p:extLst>
      <p:ext uri="{BB962C8B-B14F-4D97-AF65-F5344CB8AC3E}">
        <p14:creationId xmlns:p14="http://schemas.microsoft.com/office/powerpoint/2010/main" val="2969426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E0194-41F4-7BC9-D831-699D7FDAD076}"/>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0DC15EF3-E727-FAEB-6989-5516E101669B}"/>
              </a:ext>
            </a:extLst>
          </p:cNvPr>
          <p:cNvSpPr txBox="1"/>
          <p:nvPr/>
        </p:nvSpPr>
        <p:spPr>
          <a:xfrm>
            <a:off x="677997" y="1417964"/>
            <a:ext cx="8214781" cy="3139321"/>
          </a:xfrm>
          <a:prstGeom prst="rect">
            <a:avLst/>
          </a:prstGeom>
          <a:noFill/>
        </p:spPr>
        <p:txBody>
          <a:bodyPr wrap="square" rtlCol="0">
            <a:spAutoFit/>
          </a:bodyPr>
          <a:lstStyle/>
          <a:p>
            <a:r>
              <a:rPr lang="es-MX" dirty="0"/>
              <a:t>Un commit es una instantánea de tu proyecto en un momento dado.</a:t>
            </a:r>
          </a:p>
          <a:p>
            <a:r>
              <a:rPr lang="es-MX" dirty="0"/>
              <a:t>Debe ir acompañado de un mensaje descriptivo (-m).</a:t>
            </a:r>
          </a:p>
          <a:p>
            <a:endParaRPr lang="es-MX" dirty="0"/>
          </a:p>
          <a:p>
            <a:r>
              <a:rPr lang="es-MX" dirty="0"/>
              <a:t>Comando: </a:t>
            </a:r>
            <a:r>
              <a:rPr lang="es-MX" b="1" dirty="0"/>
              <a:t>git commit</a:t>
            </a:r>
            <a:r>
              <a:rPr lang="es-MX" dirty="0"/>
              <a:t> -m "Mensaje descriptivo del cambio"</a:t>
            </a:r>
          </a:p>
          <a:p>
            <a:endParaRPr lang="es-MX" b="1" dirty="0"/>
          </a:p>
          <a:p>
            <a:r>
              <a:rPr lang="es-MX" b="1" dirty="0"/>
              <a:t>Ejemplo Práctico:</a:t>
            </a:r>
            <a:endParaRPr lang="es-MX" dirty="0"/>
          </a:p>
          <a:p>
            <a:pPr lvl="1"/>
            <a:r>
              <a:rPr lang="es-MX" dirty="0"/>
              <a:t>Hacer el commit: git commit -m "Commit inicial: Agrego archivo README"</a:t>
            </a:r>
          </a:p>
          <a:p>
            <a:pPr lvl="1"/>
            <a:r>
              <a:rPr lang="es-MX" dirty="0"/>
              <a:t>Ver el estado: git status (Ya no hay nada para commit, el working directory está limpio).</a:t>
            </a:r>
          </a:p>
          <a:p>
            <a:pPr lvl="1"/>
            <a:r>
              <a:rPr lang="es-MX" dirty="0"/>
              <a:t>Ver el historial: git log</a:t>
            </a:r>
          </a:p>
        </p:txBody>
      </p:sp>
      <p:sp>
        <p:nvSpPr>
          <p:cNvPr id="6" name="Título 1">
            <a:extLst>
              <a:ext uri="{FF2B5EF4-FFF2-40B4-BE49-F238E27FC236}">
                <a16:creationId xmlns:a16="http://schemas.microsoft.com/office/drawing/2014/main" id="{0D2EE027-EC0B-B0ED-6ED2-AB27F461747C}"/>
              </a:ext>
            </a:extLst>
          </p:cNvPr>
          <p:cNvSpPr txBox="1">
            <a:spLocks/>
          </p:cNvSpPr>
          <p:nvPr/>
        </p:nvSpPr>
        <p:spPr>
          <a:xfrm>
            <a:off x="924560" y="524951"/>
            <a:ext cx="7422245" cy="557520"/>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dirty="0"/>
              <a:t>Guardando la Fotografía (Commit)</a:t>
            </a:r>
            <a:endParaRPr lang="es-MX" sz="3600" dirty="0">
              <a:cs typeface="Verdana" panose="020B0604030504040204" pitchFamily="34" charset="0"/>
            </a:endParaRPr>
          </a:p>
        </p:txBody>
      </p:sp>
      <p:sp>
        <p:nvSpPr>
          <p:cNvPr id="7" name="Slide Number Placeholder 5">
            <a:extLst>
              <a:ext uri="{FF2B5EF4-FFF2-40B4-BE49-F238E27FC236}">
                <a16:creationId xmlns:a16="http://schemas.microsoft.com/office/drawing/2014/main" id="{A7CB5ABC-EB7A-E0E4-2E82-D55A1278DB88}"/>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38</a:t>
            </a:fld>
            <a:endParaRPr lang="es-MX" sz="700">
              <a:solidFill>
                <a:schemeClr val="tx1"/>
              </a:solidFill>
              <a:latin typeface="+mn-lt"/>
            </a:endParaRPr>
          </a:p>
        </p:txBody>
      </p:sp>
      <p:sp>
        <p:nvSpPr>
          <p:cNvPr id="8" name="Date Placeholder 3">
            <a:extLst>
              <a:ext uri="{FF2B5EF4-FFF2-40B4-BE49-F238E27FC236}">
                <a16:creationId xmlns:a16="http://schemas.microsoft.com/office/drawing/2014/main" id="{93255EE2-F2D2-3A5E-2738-7FBAF1A3259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2" name="Footer Placeholder 4">
            <a:extLst>
              <a:ext uri="{FF2B5EF4-FFF2-40B4-BE49-F238E27FC236}">
                <a16:creationId xmlns:a16="http://schemas.microsoft.com/office/drawing/2014/main" id="{31BC0ABC-2D36-5998-FC23-BB68094E1ABE}"/>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a:solidFill>
                  <a:schemeClr val="tx1"/>
                </a:solidFill>
                <a:latin typeface="+mn-lt"/>
              </a:rPr>
              <a:t>[TÍTULO DE LA PRESENTACIÓN]</a:t>
            </a:r>
          </a:p>
        </p:txBody>
      </p:sp>
      <p:pic>
        <p:nvPicPr>
          <p:cNvPr id="3" name="Imagen 2" descr="Git - Wikipedia, la enciclopedia libre">
            <a:extLst>
              <a:ext uri="{FF2B5EF4-FFF2-40B4-BE49-F238E27FC236}">
                <a16:creationId xmlns:a16="http://schemas.microsoft.com/office/drawing/2014/main" id="{BAC163C7-EEB3-50EE-799F-B3EBF84A7272}"/>
              </a:ext>
            </a:extLst>
          </p:cNvPr>
          <p:cNvPicPr>
            <a:picLocks noChangeAspect="1"/>
          </p:cNvPicPr>
          <p:nvPr/>
        </p:nvPicPr>
        <p:blipFill>
          <a:blip r:embed="rId3"/>
          <a:stretch>
            <a:fillRect/>
          </a:stretch>
        </p:blipFill>
        <p:spPr>
          <a:xfrm>
            <a:off x="8141103" y="482389"/>
            <a:ext cx="647297" cy="267847"/>
          </a:xfrm>
          <a:prstGeom prst="rect">
            <a:avLst/>
          </a:prstGeom>
        </p:spPr>
      </p:pic>
    </p:spTree>
    <p:extLst>
      <p:ext uri="{BB962C8B-B14F-4D97-AF65-F5344CB8AC3E}">
        <p14:creationId xmlns:p14="http://schemas.microsoft.com/office/powerpoint/2010/main" val="33147941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F0F05-375D-297E-4A77-EB221D5F685A}"/>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47B148DB-A03E-F870-E9B3-5EEBEC3C113C}"/>
              </a:ext>
            </a:extLst>
          </p:cNvPr>
          <p:cNvSpPr txBox="1"/>
          <p:nvPr/>
        </p:nvSpPr>
        <p:spPr>
          <a:xfrm>
            <a:off x="764451" y="1679214"/>
            <a:ext cx="3451949" cy="2862322"/>
          </a:xfrm>
          <a:prstGeom prst="rect">
            <a:avLst/>
          </a:prstGeom>
          <a:noFill/>
        </p:spPr>
        <p:txBody>
          <a:bodyPr wrap="square" rtlCol="0">
            <a:spAutoFit/>
          </a:bodyPr>
          <a:lstStyle/>
          <a:p>
            <a:br>
              <a:rPr lang="es-MX" dirty="0"/>
            </a:br>
            <a:r>
              <a:rPr lang="es-MX" dirty="0"/>
              <a:t>Working Directory (Archivos)</a:t>
            </a:r>
            <a:br>
              <a:rPr lang="es-MX" dirty="0"/>
            </a:br>
            <a:r>
              <a:rPr lang="es-MX" dirty="0"/>
              <a:t>|</a:t>
            </a:r>
            <a:br>
              <a:rPr lang="es-MX" dirty="0"/>
            </a:br>
            <a:r>
              <a:rPr lang="es-MX" dirty="0"/>
              <a:t>| git add</a:t>
            </a:r>
            <a:br>
              <a:rPr lang="es-MX" dirty="0"/>
            </a:br>
            <a:r>
              <a:rPr lang="es-MX" dirty="0"/>
              <a:t>v</a:t>
            </a:r>
            <a:br>
              <a:rPr lang="es-MX" dirty="0"/>
            </a:br>
            <a:r>
              <a:rPr lang="es-MX" dirty="0"/>
              <a:t>Staging Area (Índice)</a:t>
            </a:r>
            <a:br>
              <a:rPr lang="es-MX" dirty="0"/>
            </a:br>
            <a:r>
              <a:rPr lang="es-MX" dirty="0"/>
              <a:t>|</a:t>
            </a:r>
            <a:br>
              <a:rPr lang="es-MX" dirty="0"/>
            </a:br>
            <a:r>
              <a:rPr lang="es-MX" dirty="0"/>
              <a:t>| git commit</a:t>
            </a:r>
            <a:br>
              <a:rPr lang="es-MX" dirty="0"/>
            </a:br>
            <a:r>
              <a:rPr lang="es-MX" dirty="0"/>
              <a:t>v</a:t>
            </a:r>
            <a:br>
              <a:rPr lang="es-MX" dirty="0"/>
            </a:br>
            <a:r>
              <a:rPr lang="es-MX" dirty="0"/>
              <a:t>Repositorio (.git)</a:t>
            </a:r>
          </a:p>
        </p:txBody>
      </p:sp>
      <p:sp>
        <p:nvSpPr>
          <p:cNvPr id="6" name="Título 1">
            <a:extLst>
              <a:ext uri="{FF2B5EF4-FFF2-40B4-BE49-F238E27FC236}">
                <a16:creationId xmlns:a16="http://schemas.microsoft.com/office/drawing/2014/main" id="{6E6B8BBD-53EA-D741-EDDD-1FC85A8D954B}"/>
              </a:ext>
            </a:extLst>
          </p:cNvPr>
          <p:cNvSpPr txBox="1">
            <a:spLocks/>
          </p:cNvSpPr>
          <p:nvPr/>
        </p:nvSpPr>
        <p:spPr>
          <a:xfrm>
            <a:off x="924560" y="524951"/>
            <a:ext cx="7097125" cy="557520"/>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dirty="0"/>
              <a:t>Flujo de Trabajo Básico (Ciclo de Vida)</a:t>
            </a:r>
          </a:p>
          <a:p>
            <a:br>
              <a:rPr lang="es-MX" dirty="0"/>
            </a:br>
            <a:endParaRPr lang="es-MX" dirty="0"/>
          </a:p>
        </p:txBody>
      </p:sp>
      <p:sp>
        <p:nvSpPr>
          <p:cNvPr id="7" name="Slide Number Placeholder 5">
            <a:extLst>
              <a:ext uri="{FF2B5EF4-FFF2-40B4-BE49-F238E27FC236}">
                <a16:creationId xmlns:a16="http://schemas.microsoft.com/office/drawing/2014/main" id="{5E5767EB-5E91-2B43-17CB-70375C2BE3D5}"/>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39</a:t>
            </a:fld>
            <a:endParaRPr lang="es-MX" sz="700">
              <a:solidFill>
                <a:schemeClr val="tx1"/>
              </a:solidFill>
              <a:latin typeface="+mn-lt"/>
            </a:endParaRPr>
          </a:p>
        </p:txBody>
      </p:sp>
      <p:sp>
        <p:nvSpPr>
          <p:cNvPr id="8" name="Date Placeholder 3">
            <a:extLst>
              <a:ext uri="{FF2B5EF4-FFF2-40B4-BE49-F238E27FC236}">
                <a16:creationId xmlns:a16="http://schemas.microsoft.com/office/drawing/2014/main" id="{AD9FD063-CA68-9A8F-9662-9D39BA2080A7}"/>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2" name="Footer Placeholder 4">
            <a:extLst>
              <a:ext uri="{FF2B5EF4-FFF2-40B4-BE49-F238E27FC236}">
                <a16:creationId xmlns:a16="http://schemas.microsoft.com/office/drawing/2014/main" id="{A8DF2E3B-2CF2-4E0D-50FA-0DF3555FAAEE}"/>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a:solidFill>
                  <a:schemeClr val="tx1"/>
                </a:solidFill>
                <a:latin typeface="+mn-lt"/>
              </a:rPr>
              <a:t>[TÍTULO DE LA PRESENTACIÓN]</a:t>
            </a:r>
          </a:p>
        </p:txBody>
      </p:sp>
      <p:sp>
        <p:nvSpPr>
          <p:cNvPr id="3" name="CuadroTexto 2">
            <a:extLst>
              <a:ext uri="{FF2B5EF4-FFF2-40B4-BE49-F238E27FC236}">
                <a16:creationId xmlns:a16="http://schemas.microsoft.com/office/drawing/2014/main" id="{073188DD-AD3A-85A0-4506-C8CB548191A4}"/>
              </a:ext>
            </a:extLst>
          </p:cNvPr>
          <p:cNvSpPr txBox="1"/>
          <p:nvPr/>
        </p:nvSpPr>
        <p:spPr>
          <a:xfrm>
            <a:off x="4572000" y="1679214"/>
            <a:ext cx="4196080" cy="3046988"/>
          </a:xfrm>
          <a:prstGeom prst="rect">
            <a:avLst/>
          </a:prstGeom>
          <a:noFill/>
        </p:spPr>
        <p:txBody>
          <a:bodyPr wrap="square" rtlCol="0">
            <a:spAutoFit/>
          </a:bodyPr>
          <a:lstStyle/>
          <a:p>
            <a:r>
              <a:rPr lang="es-MX" sz="1600" b="1" dirty="0"/>
              <a:t>Estados de un archivo:</a:t>
            </a:r>
            <a:endParaRPr lang="es-MX" sz="1600" dirty="0"/>
          </a:p>
          <a:p>
            <a:pPr lvl="1"/>
            <a:r>
              <a:rPr lang="es-MX" sz="1600" b="1" dirty="0"/>
              <a:t>Untracked:</a:t>
            </a:r>
            <a:r>
              <a:rPr lang="es-MX" sz="1600" dirty="0"/>
              <a:t> Archivo nuevo, Git no le da seguimiento.</a:t>
            </a:r>
          </a:p>
          <a:p>
            <a:pPr lvl="1"/>
            <a:r>
              <a:rPr lang="es-MX" sz="1600" b="1" dirty="0"/>
              <a:t>Unmodified:</a:t>
            </a:r>
            <a:r>
              <a:rPr lang="es-MX" sz="1600" dirty="0"/>
              <a:t> Archivo ya commit, sin cambios.</a:t>
            </a:r>
          </a:p>
          <a:p>
            <a:pPr lvl="1"/>
            <a:r>
              <a:rPr lang="es-MX" sz="1600" b="1" dirty="0"/>
              <a:t>Modified:</a:t>
            </a:r>
            <a:r>
              <a:rPr lang="es-MX" sz="1600" dirty="0"/>
              <a:t> Archivo commit, pero con cambios desde el último commit.</a:t>
            </a:r>
          </a:p>
          <a:p>
            <a:pPr lvl="1"/>
            <a:r>
              <a:rPr lang="es-MX" sz="1600" b="1" dirty="0"/>
              <a:t>Staged:</a:t>
            </a:r>
            <a:r>
              <a:rPr lang="es-MX" sz="1600" dirty="0"/>
              <a:t> Archivo modificado o nuevo que se ha añadido al staging area y será parte del próximo commit.</a:t>
            </a:r>
          </a:p>
        </p:txBody>
      </p:sp>
      <p:pic>
        <p:nvPicPr>
          <p:cNvPr id="4" name="Imagen 3" descr="Git - Wikipedia, la enciclopedia libre">
            <a:extLst>
              <a:ext uri="{FF2B5EF4-FFF2-40B4-BE49-F238E27FC236}">
                <a16:creationId xmlns:a16="http://schemas.microsoft.com/office/drawing/2014/main" id="{A844523B-40C8-C3DD-83F7-C905810DBCED}"/>
              </a:ext>
            </a:extLst>
          </p:cNvPr>
          <p:cNvPicPr>
            <a:picLocks noChangeAspect="1"/>
          </p:cNvPicPr>
          <p:nvPr/>
        </p:nvPicPr>
        <p:blipFill>
          <a:blip r:embed="rId3"/>
          <a:stretch>
            <a:fillRect/>
          </a:stretch>
        </p:blipFill>
        <p:spPr>
          <a:xfrm>
            <a:off x="8141103" y="482389"/>
            <a:ext cx="647297" cy="267847"/>
          </a:xfrm>
          <a:prstGeom prst="rect">
            <a:avLst/>
          </a:prstGeom>
        </p:spPr>
      </p:pic>
    </p:spTree>
    <p:extLst>
      <p:ext uri="{BB962C8B-B14F-4D97-AF65-F5344CB8AC3E}">
        <p14:creationId xmlns:p14="http://schemas.microsoft.com/office/powerpoint/2010/main" val="30766025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40</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dirty="0">
                <a:ea typeface="Vita Std ExLt" pitchFamily="2" charset="77"/>
                <a:cs typeface="Verdana" panose="020B0604030504040204" pitchFamily="34" charset="0"/>
              </a:rPr>
              <a:t>Repositorio Local</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sp>
        <p:nvSpPr>
          <p:cNvPr id="2" name="Rectángulo 1"/>
          <p:cNvSpPr/>
          <p:nvPr/>
        </p:nvSpPr>
        <p:spPr>
          <a:xfrm>
            <a:off x="453965" y="1263111"/>
            <a:ext cx="3124573" cy="615553"/>
          </a:xfrm>
          <a:prstGeom prst="rect">
            <a:avLst/>
          </a:prstGeom>
        </p:spPr>
        <p:txBody>
          <a:bodyPr wrap="none">
            <a:spAutoFit/>
          </a:bodyPr>
          <a:lstStyle/>
          <a:p>
            <a:r>
              <a:rPr lang="es-MX" sz="1200" dirty="0"/>
              <a:t>1. Crear una carpeta para el proyecto.</a:t>
            </a:r>
          </a:p>
          <a:p>
            <a:pPr marL="171450" indent="-171450">
              <a:buFont typeface="Wingdings" panose="05000000000000000000" pitchFamily="2" charset="2"/>
              <a:buChar char="ü"/>
            </a:pPr>
            <a:r>
              <a:rPr lang="es-MX" sz="1100" dirty="0">
                <a:latin typeface="Consolas" panose="020B0609020204030204" pitchFamily="49" charset="0"/>
              </a:rPr>
              <a:t>  </a:t>
            </a:r>
            <a:r>
              <a:rPr lang="es-MX" sz="1100" dirty="0" err="1">
                <a:latin typeface="Consolas" panose="020B0609020204030204" pitchFamily="49" charset="0"/>
              </a:rPr>
              <a:t>mkdir</a:t>
            </a:r>
            <a:r>
              <a:rPr lang="es-MX" sz="1100" dirty="0">
                <a:latin typeface="Consolas" panose="020B0609020204030204" pitchFamily="49" charset="0"/>
              </a:rPr>
              <a:t> mi-proyecto</a:t>
            </a:r>
          </a:p>
          <a:p>
            <a:pPr marL="171450" indent="-171450">
              <a:buFont typeface="Wingdings" panose="05000000000000000000" pitchFamily="2" charset="2"/>
              <a:buChar char="ü"/>
            </a:pPr>
            <a:r>
              <a:rPr lang="es-MX" sz="1100" dirty="0">
                <a:latin typeface="Consolas" panose="020B0609020204030204" pitchFamily="49" charset="0"/>
              </a:rPr>
              <a:t>  cd mi-proyecto</a:t>
            </a:r>
          </a:p>
        </p:txBody>
      </p:sp>
      <p:sp>
        <p:nvSpPr>
          <p:cNvPr id="3" name="Rectángulo 2"/>
          <p:cNvSpPr/>
          <p:nvPr/>
        </p:nvSpPr>
        <p:spPr>
          <a:xfrm>
            <a:off x="453965" y="2003046"/>
            <a:ext cx="2294218" cy="446276"/>
          </a:xfrm>
          <a:prstGeom prst="rect">
            <a:avLst/>
          </a:prstGeom>
        </p:spPr>
        <p:txBody>
          <a:bodyPr wrap="none">
            <a:spAutoFit/>
          </a:bodyPr>
          <a:lstStyle/>
          <a:p>
            <a:r>
              <a:rPr lang="es-MX" sz="1200" dirty="0"/>
              <a:t>2. Inicializar el repositorio </a:t>
            </a:r>
            <a:r>
              <a:rPr lang="es-MX" sz="1200" dirty="0" err="1"/>
              <a:t>git</a:t>
            </a:r>
            <a:r>
              <a:rPr lang="es-MX" sz="1200" dirty="0"/>
              <a:t>.</a:t>
            </a:r>
          </a:p>
          <a:p>
            <a:pPr marL="228600" indent="-228600">
              <a:buFont typeface="Wingdings" panose="05000000000000000000" pitchFamily="2" charset="2"/>
              <a:buChar char="ü"/>
            </a:pPr>
            <a:r>
              <a:rPr lang="es-MX" sz="1100" dirty="0" err="1">
                <a:latin typeface="Consolas" panose="020B0609020204030204" pitchFamily="49" charset="0"/>
              </a:rPr>
              <a:t>git</a:t>
            </a:r>
            <a:r>
              <a:rPr lang="es-MX" sz="1100" dirty="0">
                <a:latin typeface="Consolas" panose="020B0609020204030204" pitchFamily="49" charset="0"/>
              </a:rPr>
              <a:t> </a:t>
            </a:r>
            <a:r>
              <a:rPr lang="es-MX" sz="1100" dirty="0" err="1">
                <a:latin typeface="Consolas" panose="020B0609020204030204" pitchFamily="49" charset="0"/>
              </a:rPr>
              <a:t>init</a:t>
            </a:r>
            <a:endParaRPr lang="es-MX" sz="1100" dirty="0">
              <a:latin typeface="Consolas" panose="020B0609020204030204" pitchFamily="49" charset="0"/>
            </a:endParaRPr>
          </a:p>
        </p:txBody>
      </p:sp>
      <p:sp>
        <p:nvSpPr>
          <p:cNvPr id="12" name="Rectángulo 11"/>
          <p:cNvSpPr/>
          <p:nvPr/>
        </p:nvSpPr>
        <p:spPr>
          <a:xfrm>
            <a:off x="453965" y="2578050"/>
            <a:ext cx="2877711" cy="446276"/>
          </a:xfrm>
          <a:prstGeom prst="rect">
            <a:avLst/>
          </a:prstGeom>
        </p:spPr>
        <p:txBody>
          <a:bodyPr wrap="none">
            <a:spAutoFit/>
          </a:bodyPr>
          <a:lstStyle/>
          <a:p>
            <a:r>
              <a:rPr lang="es-MX" sz="1200" dirty="0"/>
              <a:t>3. Crear un archivo de ejemplo.</a:t>
            </a:r>
          </a:p>
          <a:p>
            <a:pPr marL="228600" indent="-228600">
              <a:buFont typeface="Wingdings" panose="05000000000000000000" pitchFamily="2" charset="2"/>
              <a:buChar char="ü"/>
            </a:pPr>
            <a:r>
              <a:rPr lang="es-MX" sz="1100" dirty="0">
                <a:latin typeface="Consolas" panose="020B0609020204030204" pitchFamily="49" charset="0"/>
              </a:rPr>
              <a:t>echo "# Mi Proyecto" &gt; README.md</a:t>
            </a:r>
          </a:p>
        </p:txBody>
      </p:sp>
      <p:sp>
        <p:nvSpPr>
          <p:cNvPr id="13" name="Rectángulo 12"/>
          <p:cNvSpPr/>
          <p:nvPr/>
        </p:nvSpPr>
        <p:spPr>
          <a:xfrm>
            <a:off x="453965" y="3176413"/>
            <a:ext cx="2848857" cy="446276"/>
          </a:xfrm>
          <a:prstGeom prst="rect">
            <a:avLst/>
          </a:prstGeom>
        </p:spPr>
        <p:txBody>
          <a:bodyPr wrap="none">
            <a:spAutoFit/>
          </a:bodyPr>
          <a:lstStyle/>
          <a:p>
            <a:r>
              <a:rPr lang="es-MX" sz="1200" dirty="0"/>
              <a:t>4. Verificar el estado del repositorio.</a:t>
            </a:r>
          </a:p>
          <a:p>
            <a:pPr marL="228600" indent="-228600">
              <a:buFont typeface="Wingdings" panose="05000000000000000000" pitchFamily="2" charset="2"/>
              <a:buChar char="ü"/>
            </a:pPr>
            <a:r>
              <a:rPr lang="es-MX" sz="1100" dirty="0" err="1">
                <a:latin typeface="Consolas" panose="020B0609020204030204" pitchFamily="49" charset="0"/>
              </a:rPr>
              <a:t>git</a:t>
            </a:r>
            <a:r>
              <a:rPr lang="es-MX" sz="1100" dirty="0">
                <a:latin typeface="Consolas" panose="020B0609020204030204" pitchFamily="49" charset="0"/>
              </a:rPr>
              <a:t> status</a:t>
            </a:r>
          </a:p>
        </p:txBody>
      </p:sp>
      <p:sp>
        <p:nvSpPr>
          <p:cNvPr id="14" name="Rectángulo 13"/>
          <p:cNvSpPr/>
          <p:nvPr/>
        </p:nvSpPr>
        <p:spPr>
          <a:xfrm>
            <a:off x="453965" y="3781354"/>
            <a:ext cx="4272323" cy="784830"/>
          </a:xfrm>
          <a:prstGeom prst="rect">
            <a:avLst/>
          </a:prstGeom>
        </p:spPr>
        <p:txBody>
          <a:bodyPr wrap="none">
            <a:spAutoFit/>
          </a:bodyPr>
          <a:lstStyle/>
          <a:p>
            <a:r>
              <a:rPr lang="es-MX" sz="1200" dirty="0"/>
              <a:t>5. Agregar el archivo al área de preparación (</a:t>
            </a:r>
            <a:r>
              <a:rPr lang="es-MX" sz="1200" dirty="0" err="1"/>
              <a:t>staging</a:t>
            </a:r>
            <a:r>
              <a:rPr lang="es-MX" sz="1200" dirty="0"/>
              <a:t>)</a:t>
            </a:r>
          </a:p>
          <a:p>
            <a:pPr marL="228600" indent="-228600">
              <a:buFont typeface="Wingdings" panose="05000000000000000000" pitchFamily="2" charset="2"/>
              <a:buChar char="ü"/>
            </a:pPr>
            <a:r>
              <a:rPr lang="es-MX" sz="1100" b="1" dirty="0" err="1">
                <a:latin typeface="Consolas" panose="020B0609020204030204" pitchFamily="49" charset="0"/>
              </a:rPr>
              <a:t>git</a:t>
            </a:r>
            <a:r>
              <a:rPr lang="es-MX" sz="1100" b="1" dirty="0">
                <a:latin typeface="Consolas" panose="020B0609020204030204" pitchFamily="49" charset="0"/>
              </a:rPr>
              <a:t> </a:t>
            </a:r>
            <a:r>
              <a:rPr lang="es-MX" sz="1100" b="1" dirty="0" err="1">
                <a:latin typeface="Consolas" panose="020B0609020204030204" pitchFamily="49" charset="0"/>
              </a:rPr>
              <a:t>add</a:t>
            </a:r>
            <a:r>
              <a:rPr lang="es-MX" sz="1100" b="1" dirty="0">
                <a:latin typeface="Consolas" panose="020B0609020204030204" pitchFamily="49" charset="0"/>
              </a:rPr>
              <a:t> README.md</a:t>
            </a:r>
          </a:p>
          <a:p>
            <a:r>
              <a:rPr lang="es-MX" sz="1100" dirty="0"/>
              <a:t>O para agregar todos los archivos:</a:t>
            </a:r>
          </a:p>
          <a:p>
            <a:pPr marL="171450" indent="-171450">
              <a:buFont typeface="Wingdings" panose="05000000000000000000" pitchFamily="2" charset="2"/>
              <a:buChar char="ü"/>
            </a:pPr>
            <a:r>
              <a:rPr lang="es-MX" sz="1100" dirty="0" err="1">
                <a:latin typeface="Consolas" panose="020B0609020204030204" pitchFamily="49" charset="0"/>
              </a:rPr>
              <a:t>git</a:t>
            </a:r>
            <a:r>
              <a:rPr lang="es-MX" sz="1100" dirty="0">
                <a:latin typeface="Consolas" panose="020B0609020204030204" pitchFamily="49" charset="0"/>
              </a:rPr>
              <a:t> </a:t>
            </a:r>
            <a:r>
              <a:rPr lang="es-MX" sz="1100" dirty="0" err="1">
                <a:latin typeface="Consolas" panose="020B0609020204030204" pitchFamily="49" charset="0"/>
              </a:rPr>
              <a:t>add</a:t>
            </a:r>
            <a:r>
              <a:rPr lang="es-MX" sz="1100" dirty="0">
                <a:latin typeface="Consolas" panose="020B0609020204030204" pitchFamily="49" charset="0"/>
              </a:rPr>
              <a:t> .</a:t>
            </a:r>
          </a:p>
        </p:txBody>
      </p:sp>
      <p:sp>
        <p:nvSpPr>
          <p:cNvPr id="15" name="Rectángulo 14"/>
          <p:cNvSpPr/>
          <p:nvPr/>
        </p:nvSpPr>
        <p:spPr>
          <a:xfrm>
            <a:off x="4726288" y="1225514"/>
            <a:ext cx="3897221" cy="446276"/>
          </a:xfrm>
          <a:prstGeom prst="rect">
            <a:avLst/>
          </a:prstGeom>
        </p:spPr>
        <p:txBody>
          <a:bodyPr wrap="none">
            <a:spAutoFit/>
          </a:bodyPr>
          <a:lstStyle/>
          <a:p>
            <a:r>
              <a:rPr lang="es-MX" sz="1200" dirty="0"/>
              <a:t>6. Crear el primer </a:t>
            </a:r>
            <a:r>
              <a:rPr lang="es-MX" sz="1200" dirty="0" err="1"/>
              <a:t>commit</a:t>
            </a:r>
            <a:r>
              <a:rPr lang="es-MX" sz="1200" dirty="0"/>
              <a:t>.</a:t>
            </a:r>
          </a:p>
          <a:p>
            <a:pPr marL="171450" indent="-171450">
              <a:buFont typeface="Wingdings" panose="05000000000000000000" pitchFamily="2" charset="2"/>
              <a:buChar char="ü"/>
            </a:pPr>
            <a:r>
              <a:rPr lang="en-US" sz="1100" dirty="0" err="1">
                <a:latin typeface="Consolas" panose="020B0609020204030204" pitchFamily="49" charset="0"/>
              </a:rPr>
              <a:t>git</a:t>
            </a:r>
            <a:r>
              <a:rPr lang="en-US" sz="1100" dirty="0">
                <a:latin typeface="Consolas" panose="020B0609020204030204" pitchFamily="49" charset="0"/>
              </a:rPr>
              <a:t> commit -m "Primer commit: </a:t>
            </a:r>
            <a:r>
              <a:rPr lang="en-US" sz="1100" dirty="0" err="1">
                <a:latin typeface="Consolas" panose="020B0609020204030204" pitchFamily="49" charset="0"/>
              </a:rPr>
              <a:t>agregar</a:t>
            </a:r>
            <a:r>
              <a:rPr lang="en-US" sz="1100" dirty="0">
                <a:latin typeface="Consolas" panose="020B0609020204030204" pitchFamily="49" charset="0"/>
              </a:rPr>
              <a:t> README"</a:t>
            </a:r>
            <a:endParaRPr lang="es-MX" sz="1100" dirty="0">
              <a:latin typeface="Consolas" panose="020B0609020204030204" pitchFamily="49" charset="0"/>
            </a:endParaRPr>
          </a:p>
        </p:txBody>
      </p:sp>
      <p:sp>
        <p:nvSpPr>
          <p:cNvPr id="16" name="Rectángulo 15"/>
          <p:cNvSpPr/>
          <p:nvPr/>
        </p:nvSpPr>
        <p:spPr>
          <a:xfrm>
            <a:off x="4726288" y="1965449"/>
            <a:ext cx="2170787" cy="446276"/>
          </a:xfrm>
          <a:prstGeom prst="rect">
            <a:avLst/>
          </a:prstGeom>
        </p:spPr>
        <p:txBody>
          <a:bodyPr wrap="none">
            <a:spAutoFit/>
          </a:bodyPr>
          <a:lstStyle/>
          <a:p>
            <a:r>
              <a:rPr lang="es-MX" sz="1200" dirty="0"/>
              <a:t>7. Ver historial de </a:t>
            </a:r>
            <a:r>
              <a:rPr lang="es-MX" sz="1200" dirty="0" err="1"/>
              <a:t>commits</a:t>
            </a:r>
            <a:r>
              <a:rPr lang="es-MX" sz="1200" dirty="0"/>
              <a:t>.</a:t>
            </a:r>
          </a:p>
          <a:p>
            <a:pPr marL="228600" indent="-228600">
              <a:buFont typeface="Wingdings" panose="05000000000000000000" pitchFamily="2" charset="2"/>
              <a:buChar char="ü"/>
            </a:pPr>
            <a:r>
              <a:rPr lang="es-MX" sz="1100" dirty="0" err="1">
                <a:latin typeface="Consolas" panose="020B0609020204030204" pitchFamily="49" charset="0"/>
              </a:rPr>
              <a:t>git</a:t>
            </a:r>
            <a:r>
              <a:rPr lang="es-MX" sz="1100" dirty="0">
                <a:latin typeface="Consolas" panose="020B0609020204030204" pitchFamily="49" charset="0"/>
              </a:rPr>
              <a:t> log</a:t>
            </a:r>
          </a:p>
        </p:txBody>
      </p:sp>
      <p:sp>
        <p:nvSpPr>
          <p:cNvPr id="17" name="Rectángulo 16"/>
          <p:cNvSpPr/>
          <p:nvPr/>
        </p:nvSpPr>
        <p:spPr>
          <a:xfrm>
            <a:off x="4726288" y="2540453"/>
            <a:ext cx="2800767" cy="1492716"/>
          </a:xfrm>
          <a:prstGeom prst="rect">
            <a:avLst/>
          </a:prstGeom>
        </p:spPr>
        <p:txBody>
          <a:bodyPr wrap="none">
            <a:spAutoFit/>
          </a:bodyPr>
          <a:lstStyle/>
          <a:p>
            <a:r>
              <a:rPr lang="es-MX" sz="1200" dirty="0"/>
              <a:t>8. Flujo resumido.</a:t>
            </a:r>
          </a:p>
          <a:p>
            <a:pPr marL="228600" indent="-228600">
              <a:buFont typeface="Wingdings" panose="05000000000000000000" pitchFamily="2" charset="2"/>
              <a:buChar char="ü"/>
            </a:pPr>
            <a:r>
              <a:rPr lang="es-MX" sz="1100" dirty="0" err="1">
                <a:latin typeface="Consolas" panose="020B0609020204030204" pitchFamily="49" charset="0"/>
              </a:rPr>
              <a:t>mkdir</a:t>
            </a:r>
            <a:r>
              <a:rPr lang="es-MX" sz="1100" dirty="0">
                <a:latin typeface="Consolas" panose="020B0609020204030204" pitchFamily="49" charset="0"/>
              </a:rPr>
              <a:t> mi-proyecto</a:t>
            </a:r>
          </a:p>
          <a:p>
            <a:pPr marL="228600" indent="-228600">
              <a:buFont typeface="Wingdings" panose="05000000000000000000" pitchFamily="2" charset="2"/>
              <a:buChar char="ü"/>
            </a:pPr>
            <a:r>
              <a:rPr lang="es-MX" sz="1100" dirty="0">
                <a:latin typeface="Consolas" panose="020B0609020204030204" pitchFamily="49" charset="0"/>
              </a:rPr>
              <a:t>cd mi-proyecto</a:t>
            </a:r>
          </a:p>
          <a:p>
            <a:pPr marL="228600" indent="-228600">
              <a:buFont typeface="Wingdings" panose="05000000000000000000" pitchFamily="2" charset="2"/>
              <a:buChar char="ü"/>
            </a:pPr>
            <a:r>
              <a:rPr lang="es-MX" sz="1100" dirty="0" err="1">
                <a:latin typeface="Consolas" panose="020B0609020204030204" pitchFamily="49" charset="0"/>
              </a:rPr>
              <a:t>git</a:t>
            </a:r>
            <a:r>
              <a:rPr lang="es-MX" sz="1100" dirty="0">
                <a:latin typeface="Consolas" panose="020B0609020204030204" pitchFamily="49" charset="0"/>
              </a:rPr>
              <a:t> </a:t>
            </a:r>
            <a:r>
              <a:rPr lang="es-MX" sz="1100" dirty="0" err="1">
                <a:latin typeface="Consolas" panose="020B0609020204030204" pitchFamily="49" charset="0"/>
              </a:rPr>
              <a:t>init</a:t>
            </a:r>
            <a:endParaRPr lang="es-MX" sz="1100" dirty="0">
              <a:latin typeface="Consolas" panose="020B0609020204030204" pitchFamily="49" charset="0"/>
            </a:endParaRPr>
          </a:p>
          <a:p>
            <a:pPr marL="228600" indent="-228600">
              <a:buFont typeface="Wingdings" panose="05000000000000000000" pitchFamily="2" charset="2"/>
              <a:buChar char="ü"/>
            </a:pPr>
            <a:r>
              <a:rPr lang="es-MX" sz="1100" dirty="0">
                <a:latin typeface="Consolas" panose="020B0609020204030204" pitchFamily="49" charset="0"/>
              </a:rPr>
              <a:t>echo "Hola Mundo" &gt; archivo.txt</a:t>
            </a:r>
          </a:p>
          <a:p>
            <a:pPr marL="228600" indent="-228600">
              <a:buFont typeface="Wingdings" panose="05000000000000000000" pitchFamily="2" charset="2"/>
              <a:buChar char="ü"/>
            </a:pPr>
            <a:r>
              <a:rPr lang="es-MX" sz="1100" dirty="0" err="1">
                <a:latin typeface="Consolas" panose="020B0609020204030204" pitchFamily="49" charset="0"/>
              </a:rPr>
              <a:t>git</a:t>
            </a:r>
            <a:r>
              <a:rPr lang="es-MX" sz="1100" dirty="0">
                <a:latin typeface="Consolas" panose="020B0609020204030204" pitchFamily="49" charset="0"/>
              </a:rPr>
              <a:t> </a:t>
            </a:r>
            <a:r>
              <a:rPr lang="es-MX" sz="1100" dirty="0" err="1">
                <a:latin typeface="Consolas" panose="020B0609020204030204" pitchFamily="49" charset="0"/>
              </a:rPr>
              <a:t>add</a:t>
            </a:r>
            <a:r>
              <a:rPr lang="es-MX" sz="1100" dirty="0">
                <a:latin typeface="Consolas" panose="020B0609020204030204" pitchFamily="49" charset="0"/>
              </a:rPr>
              <a:t> .</a:t>
            </a:r>
          </a:p>
          <a:p>
            <a:pPr marL="228600" indent="-228600">
              <a:buFont typeface="Wingdings" panose="05000000000000000000" pitchFamily="2" charset="2"/>
              <a:buChar char="ü"/>
            </a:pPr>
            <a:r>
              <a:rPr lang="es-MX" sz="1100" dirty="0" err="1">
                <a:latin typeface="Consolas" panose="020B0609020204030204" pitchFamily="49" charset="0"/>
              </a:rPr>
              <a:t>git</a:t>
            </a:r>
            <a:r>
              <a:rPr lang="es-MX" sz="1100" dirty="0">
                <a:latin typeface="Consolas" panose="020B0609020204030204" pitchFamily="49" charset="0"/>
              </a:rPr>
              <a:t> </a:t>
            </a:r>
            <a:r>
              <a:rPr lang="es-MX" sz="1100" dirty="0" err="1">
                <a:latin typeface="Consolas" panose="020B0609020204030204" pitchFamily="49" charset="0"/>
              </a:rPr>
              <a:t>commit</a:t>
            </a:r>
            <a:r>
              <a:rPr lang="es-MX" sz="1100" dirty="0">
                <a:latin typeface="Consolas" panose="020B0609020204030204" pitchFamily="49" charset="0"/>
              </a:rPr>
              <a:t> -m "Primer </a:t>
            </a:r>
            <a:r>
              <a:rPr lang="es-MX" sz="1100" dirty="0" err="1">
                <a:latin typeface="Consolas" panose="020B0609020204030204" pitchFamily="49" charset="0"/>
              </a:rPr>
              <a:t>commit</a:t>
            </a:r>
            <a:r>
              <a:rPr lang="es-MX" sz="1100" dirty="0">
                <a:latin typeface="Consolas" panose="020B0609020204030204" pitchFamily="49" charset="0"/>
              </a:rPr>
              <a:t>"</a:t>
            </a:r>
          </a:p>
          <a:p>
            <a:pPr marL="228600" indent="-228600">
              <a:buFont typeface="Wingdings" panose="05000000000000000000" pitchFamily="2" charset="2"/>
              <a:buChar char="ü"/>
            </a:pPr>
            <a:r>
              <a:rPr lang="es-MX" sz="1100" dirty="0" err="1">
                <a:latin typeface="Consolas" panose="020B0609020204030204" pitchFamily="49" charset="0"/>
              </a:rPr>
              <a:t>git</a:t>
            </a:r>
            <a:r>
              <a:rPr lang="es-MX" sz="1100" dirty="0">
                <a:latin typeface="Consolas" panose="020B0609020204030204" pitchFamily="49" charset="0"/>
              </a:rPr>
              <a:t> log</a:t>
            </a:r>
          </a:p>
        </p:txBody>
      </p:sp>
    </p:spTree>
    <p:extLst>
      <p:ext uri="{BB962C8B-B14F-4D97-AF65-F5344CB8AC3E}">
        <p14:creationId xmlns:p14="http://schemas.microsoft.com/office/powerpoint/2010/main" val="2162999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500"/>
                                        <p:tgtEl>
                                          <p:spTgt spid="16"/>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Effect transition="in" filter="randombar(horizontal)">
                                      <p:cBhvr>
                                        <p:cTn id="3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2" grpId="0"/>
      <p:bldP spid="13" grpId="0"/>
      <p:bldP spid="14" grpId="0"/>
      <p:bldP spid="15" grpId="0"/>
      <p:bldP spid="16" grpId="0"/>
      <p:bldP spid="17"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41</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dirty="0">
                <a:ea typeface="Vita Std ExLt" pitchFamily="2" charset="77"/>
                <a:cs typeface="Verdana" panose="020B0604030504040204" pitchFamily="34" charset="0"/>
              </a:rPr>
              <a:t>Repositorio Local</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pic>
        <p:nvPicPr>
          <p:cNvPr id="8" name="Imagen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614944" y="1105087"/>
            <a:ext cx="3587750" cy="3515050"/>
          </a:xfrm>
          <a:prstGeom prst="rect">
            <a:avLst/>
          </a:prstGeom>
        </p:spPr>
      </p:pic>
    </p:spTree>
    <p:extLst>
      <p:ext uri="{BB962C8B-B14F-4D97-AF65-F5344CB8AC3E}">
        <p14:creationId xmlns:p14="http://schemas.microsoft.com/office/powerpoint/2010/main" val="40246978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0FC55-ADA5-3D43-AF35-223ADE651E06}"/>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154C069A-08E1-290C-68BE-EE1FED71F265}"/>
              </a:ext>
            </a:extLst>
          </p:cNvPr>
          <p:cNvSpPr txBox="1"/>
          <p:nvPr/>
        </p:nvSpPr>
        <p:spPr>
          <a:xfrm>
            <a:off x="335280" y="1201694"/>
            <a:ext cx="8666480" cy="2862322"/>
          </a:xfrm>
          <a:prstGeom prst="rect">
            <a:avLst/>
          </a:prstGeom>
          <a:noFill/>
        </p:spPr>
        <p:txBody>
          <a:bodyPr wrap="square" rtlCol="0">
            <a:spAutoFit/>
          </a:bodyPr>
          <a:lstStyle/>
          <a:p>
            <a:r>
              <a:rPr lang="es-MX" sz="1200" dirty="0"/>
              <a:t>1.- En el escritorio, crea una carpeta llamada ProyectoRecetas.</a:t>
            </a:r>
          </a:p>
          <a:p>
            <a:r>
              <a:rPr lang="es-MX" sz="1200" dirty="0"/>
              <a:t>2.- Inicializa un repositorio Git dentro de ella.</a:t>
            </a:r>
          </a:p>
          <a:p>
            <a:r>
              <a:rPr lang="es-MX" sz="1200" dirty="0"/>
              <a:t>3.- Crea un archivo índice.txt y escribe dentro: "Mis recetas favoritas".</a:t>
            </a:r>
          </a:p>
          <a:p>
            <a:r>
              <a:rPr lang="es-MX" sz="1200" dirty="0"/>
              <a:t>4.- Verifica el estado del repositorio.</a:t>
            </a:r>
          </a:p>
          <a:p>
            <a:r>
              <a:rPr lang="es-MX" sz="1200" dirty="0"/>
              <a:t>5.- Añade el archivo al staging area.</a:t>
            </a:r>
          </a:p>
          <a:p>
            <a:r>
              <a:rPr lang="es-MX" sz="1200" dirty="0"/>
              <a:t>6.- Haz un commit con el mensaje "Añade índice de recetas".</a:t>
            </a:r>
          </a:p>
          <a:p>
            <a:r>
              <a:rPr lang="es-MX" sz="1200" dirty="0"/>
              <a:t>7.- Crea un nuevo archivo tortilla.txt y escribe dentro los ingredientes de una tortilla de patatas (huevos, patatas, cebolla, aceite, sal).</a:t>
            </a:r>
          </a:p>
          <a:p>
            <a:r>
              <a:rPr lang="es-MX" sz="1200" dirty="0"/>
              <a:t>8.- Verifica el estado (tortilla.txt debería aparecer como untracked).</a:t>
            </a:r>
          </a:p>
          <a:p>
            <a:r>
              <a:rPr lang="es-MX" sz="1200" dirty="0"/>
              <a:t>9.- Añade tortilla.txt al staging.</a:t>
            </a:r>
          </a:p>
          <a:p>
            <a:r>
              <a:rPr lang="es-MX" sz="1200" dirty="0"/>
              <a:t>10.- Modifica índice.txt y añade una nueva línea: "- Tortilla de patatas".</a:t>
            </a:r>
          </a:p>
          <a:p>
            <a:r>
              <a:rPr lang="es-MX" sz="1200" dirty="0"/>
              <a:t>11.- Verifica el estado (verás tortilla.txt en staging y índice.txt modificado).</a:t>
            </a:r>
          </a:p>
          <a:p>
            <a:r>
              <a:rPr lang="es-MX" sz="1200" dirty="0"/>
              <a:t>12.- Añade TODOS los cambios (git add .) y haz un nuevo commit con el mensaje "Añade receta de tortilla y actualiza índice".</a:t>
            </a:r>
          </a:p>
          <a:p>
            <a:r>
              <a:rPr lang="es-MX" sz="1200" dirty="0"/>
              <a:t>13.- Finalmente, mira el historial con git log.</a:t>
            </a:r>
          </a:p>
        </p:txBody>
      </p:sp>
      <p:sp>
        <p:nvSpPr>
          <p:cNvPr id="6" name="Título 1">
            <a:extLst>
              <a:ext uri="{FF2B5EF4-FFF2-40B4-BE49-F238E27FC236}">
                <a16:creationId xmlns:a16="http://schemas.microsoft.com/office/drawing/2014/main" id="{8B2FC354-CABF-A8C0-D212-A0E6D71896CD}"/>
              </a:ext>
            </a:extLst>
          </p:cNvPr>
          <p:cNvSpPr txBox="1">
            <a:spLocks/>
          </p:cNvSpPr>
          <p:nvPr/>
        </p:nvSpPr>
        <p:spPr>
          <a:xfrm>
            <a:off x="924560" y="524951"/>
            <a:ext cx="7097125" cy="557520"/>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dirty="0"/>
              <a:t>EJERCICIO PRÁCTICO 1</a:t>
            </a:r>
            <a:endParaRPr lang="es-MX" sz="3600" dirty="0">
              <a:cs typeface="Verdana" panose="020B0604030504040204" pitchFamily="34" charset="0"/>
            </a:endParaRPr>
          </a:p>
        </p:txBody>
      </p:sp>
      <p:sp>
        <p:nvSpPr>
          <p:cNvPr id="7" name="Slide Number Placeholder 5">
            <a:extLst>
              <a:ext uri="{FF2B5EF4-FFF2-40B4-BE49-F238E27FC236}">
                <a16:creationId xmlns:a16="http://schemas.microsoft.com/office/drawing/2014/main" id="{1B0FAB47-E9A6-3FFA-FB87-A1964C618C5D}"/>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42</a:t>
            </a:fld>
            <a:endParaRPr lang="es-MX" sz="700">
              <a:solidFill>
                <a:schemeClr val="tx1"/>
              </a:solidFill>
              <a:latin typeface="+mn-lt"/>
            </a:endParaRPr>
          </a:p>
        </p:txBody>
      </p:sp>
      <p:sp>
        <p:nvSpPr>
          <p:cNvPr id="8" name="Date Placeholder 3">
            <a:extLst>
              <a:ext uri="{FF2B5EF4-FFF2-40B4-BE49-F238E27FC236}">
                <a16:creationId xmlns:a16="http://schemas.microsoft.com/office/drawing/2014/main" id="{722D7E0E-DB0D-8BD3-2EF8-7CA7A023A168}"/>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2" name="Footer Placeholder 4">
            <a:extLst>
              <a:ext uri="{FF2B5EF4-FFF2-40B4-BE49-F238E27FC236}">
                <a16:creationId xmlns:a16="http://schemas.microsoft.com/office/drawing/2014/main" id="{36C156C2-9594-1435-B523-746F711A29AE}"/>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a:solidFill>
                  <a:schemeClr val="tx1"/>
                </a:solidFill>
                <a:latin typeface="+mn-lt"/>
              </a:rPr>
              <a:t>[TÍTULO DE LA PRESENTACIÓN]</a:t>
            </a:r>
          </a:p>
        </p:txBody>
      </p:sp>
      <p:pic>
        <p:nvPicPr>
          <p:cNvPr id="3" name="Imagen 2" descr="Git - Wikipedia, la enciclopedia libre">
            <a:extLst>
              <a:ext uri="{FF2B5EF4-FFF2-40B4-BE49-F238E27FC236}">
                <a16:creationId xmlns:a16="http://schemas.microsoft.com/office/drawing/2014/main" id="{190C3989-1407-6D53-FA89-A68F7EFC8A90}"/>
              </a:ext>
            </a:extLst>
          </p:cNvPr>
          <p:cNvPicPr>
            <a:picLocks noChangeAspect="1"/>
          </p:cNvPicPr>
          <p:nvPr/>
        </p:nvPicPr>
        <p:blipFill>
          <a:blip r:embed="rId3"/>
          <a:stretch>
            <a:fillRect/>
          </a:stretch>
        </p:blipFill>
        <p:spPr>
          <a:xfrm>
            <a:off x="8141103" y="482389"/>
            <a:ext cx="647297" cy="267847"/>
          </a:xfrm>
          <a:prstGeom prst="rect">
            <a:avLst/>
          </a:prstGeom>
        </p:spPr>
      </p:pic>
    </p:spTree>
    <p:extLst>
      <p:ext uri="{BB962C8B-B14F-4D97-AF65-F5344CB8AC3E}">
        <p14:creationId xmlns:p14="http://schemas.microsoft.com/office/powerpoint/2010/main" val="365248026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A6C636BB-E7D0-FE55-C2F5-FC57A88AB9F0}"/>
              </a:ext>
            </a:extLst>
          </p:cNvPr>
          <p:cNvSpPr txBox="1">
            <a:spLocks/>
          </p:cNvSpPr>
          <p:nvPr/>
        </p:nvSpPr>
        <p:spPr>
          <a:xfrm>
            <a:off x="666975" y="550472"/>
            <a:ext cx="7905800" cy="577171"/>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3200" dirty="0"/>
              <a:t>Flujo de trabajo </a:t>
            </a:r>
            <a:r>
              <a:rPr lang="es-MX" sz="3200" dirty="0" err="1"/>
              <a:t>Gitflow</a:t>
            </a:r>
            <a:endParaRPr lang="es-MX" sz="3200" dirty="0"/>
          </a:p>
        </p:txBody>
      </p:sp>
      <p:sp>
        <p:nvSpPr>
          <p:cNvPr id="9" name="Slide Number Placeholder 5">
            <a:extLst>
              <a:ext uri="{FF2B5EF4-FFF2-40B4-BE49-F238E27FC236}">
                <a16:creationId xmlns:a16="http://schemas.microsoft.com/office/drawing/2014/main" id="{7AA4D592-1C24-9678-675B-5592FEE70AED}"/>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43</a:t>
            </a:fld>
            <a:endParaRPr lang="es-MX" sz="700">
              <a:solidFill>
                <a:schemeClr val="tx1"/>
              </a:solidFill>
              <a:latin typeface="+mn-lt"/>
            </a:endParaRPr>
          </a:p>
        </p:txBody>
      </p:sp>
      <p:sp>
        <p:nvSpPr>
          <p:cNvPr id="10" name="Date Placeholder 3">
            <a:extLst>
              <a:ext uri="{FF2B5EF4-FFF2-40B4-BE49-F238E27FC236}">
                <a16:creationId xmlns:a16="http://schemas.microsoft.com/office/drawing/2014/main" id="{01B32BC8-1722-304F-0282-503A51C392A4}"/>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16" name="Footer Placeholder 4">
            <a:extLst>
              <a:ext uri="{FF2B5EF4-FFF2-40B4-BE49-F238E27FC236}">
                <a16:creationId xmlns:a16="http://schemas.microsoft.com/office/drawing/2014/main" id="{EAE13ECB-7911-B012-DA67-027E1A7CF8DF}"/>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solidFill>
                <a:latin typeface="+mn-lt"/>
              </a:rPr>
              <a:t>GIT</a:t>
            </a:r>
          </a:p>
        </p:txBody>
      </p:sp>
      <p:sp>
        <p:nvSpPr>
          <p:cNvPr id="22" name="CuadroTexto 21">
            <a:extLst>
              <a:ext uri="{FF2B5EF4-FFF2-40B4-BE49-F238E27FC236}">
                <a16:creationId xmlns:a16="http://schemas.microsoft.com/office/drawing/2014/main" id="{AE0D90BC-4DC7-4191-B796-A8B3D1CD0F49}"/>
              </a:ext>
            </a:extLst>
          </p:cNvPr>
          <p:cNvSpPr txBox="1"/>
          <p:nvPr/>
        </p:nvSpPr>
        <p:spPr>
          <a:xfrm>
            <a:off x="666975" y="1497817"/>
            <a:ext cx="7769659" cy="586251"/>
          </a:xfrm>
          <a:prstGeom prst="rect">
            <a:avLst/>
          </a:prstGeom>
          <a:noFill/>
        </p:spPr>
        <p:txBody>
          <a:bodyPr wrap="square" rtlCol="0">
            <a:spAutoFit/>
          </a:bodyPr>
          <a:lstStyle/>
          <a:p>
            <a:pPr marL="0" indent="0" algn="just">
              <a:lnSpc>
                <a:spcPct val="110000"/>
              </a:lnSpc>
              <a:buNone/>
            </a:pPr>
            <a:r>
              <a:rPr lang="es-MX" sz="1000" dirty="0" err="1">
                <a:ea typeface="Verdana" panose="020B0604030504040204" pitchFamily="34" charset="0"/>
                <a:cs typeface="Verdana" panose="020B0604030504040204" pitchFamily="34" charset="0"/>
              </a:rPr>
              <a:t>Gitflow</a:t>
            </a:r>
            <a:r>
              <a:rPr lang="es-MX" sz="1000" dirty="0">
                <a:ea typeface="Verdana" panose="020B0604030504040204" pitchFamily="34" charset="0"/>
                <a:cs typeface="Verdana" panose="020B0604030504040204" pitchFamily="34" charset="0"/>
              </a:rPr>
              <a:t> es un modelo alternativo de creación de ramas en Git en el que se utilizan ramas de función y varias ramas principales</a:t>
            </a:r>
          </a:p>
          <a:p>
            <a:pPr marL="0" indent="0" algn="just">
              <a:lnSpc>
                <a:spcPct val="110000"/>
              </a:lnSpc>
              <a:buNone/>
            </a:pPr>
            <a:endParaRPr lang="es-MX" sz="1000" dirty="0">
              <a:ea typeface="Verdana" panose="020B0604030504040204" pitchFamily="34" charset="0"/>
              <a:cs typeface="Verdana" panose="020B0604030504040204" pitchFamily="34" charset="0"/>
            </a:endParaRPr>
          </a:p>
        </p:txBody>
      </p:sp>
      <p:sp>
        <p:nvSpPr>
          <p:cNvPr id="8" name="CuadroTexto 7">
            <a:extLst>
              <a:ext uri="{FF2B5EF4-FFF2-40B4-BE49-F238E27FC236}">
                <a16:creationId xmlns:a16="http://schemas.microsoft.com/office/drawing/2014/main" id="{329B241F-D629-4BE0-808A-E02CF515E374}"/>
              </a:ext>
            </a:extLst>
          </p:cNvPr>
          <p:cNvSpPr txBox="1"/>
          <p:nvPr/>
        </p:nvSpPr>
        <p:spPr>
          <a:xfrm>
            <a:off x="666976" y="2323447"/>
            <a:ext cx="2964746" cy="1601913"/>
          </a:xfrm>
          <a:prstGeom prst="rect">
            <a:avLst/>
          </a:prstGeom>
          <a:noFill/>
        </p:spPr>
        <p:txBody>
          <a:bodyPr wrap="square" rtlCol="0">
            <a:spAutoFit/>
          </a:bodyPr>
          <a:lstStyle/>
          <a:p>
            <a:pPr marL="171450" indent="-171450" algn="just">
              <a:lnSpc>
                <a:spcPct val="110000"/>
              </a:lnSpc>
              <a:buFont typeface="Arial" panose="020B0604020202020204" pitchFamily="34" charset="0"/>
              <a:buChar char="•"/>
            </a:pPr>
            <a:r>
              <a:rPr lang="es-MX" sz="1000" dirty="0">
                <a:ea typeface="Verdana" panose="020B0604030504040204" pitchFamily="34" charset="0"/>
                <a:cs typeface="Verdana" panose="020B0604030504040204" pitchFamily="34" charset="0"/>
              </a:rPr>
              <a:t>Ramas Clave en </a:t>
            </a:r>
            <a:r>
              <a:rPr lang="es-MX" sz="1000" dirty="0" err="1">
                <a:ea typeface="Verdana" panose="020B0604030504040204" pitchFamily="34" charset="0"/>
                <a:cs typeface="Verdana" panose="020B0604030504040204" pitchFamily="34" charset="0"/>
              </a:rPr>
              <a:t>Gitflow</a:t>
            </a:r>
            <a:r>
              <a:rPr lang="es-MX" sz="1000" dirty="0">
                <a:ea typeface="Verdana" panose="020B0604030504040204" pitchFamily="34" charset="0"/>
                <a:cs typeface="Verdana" panose="020B0604030504040204" pitchFamily="34" charset="0"/>
              </a:rPr>
              <a:t>.</a:t>
            </a:r>
          </a:p>
          <a:p>
            <a:pPr marL="171450" indent="-171450" algn="just">
              <a:lnSpc>
                <a:spcPct val="110000"/>
              </a:lnSpc>
              <a:buFont typeface="Arial" panose="020B0604020202020204" pitchFamily="34" charset="0"/>
              <a:buChar char="•"/>
            </a:pPr>
            <a:r>
              <a:rPr lang="es-MX" sz="1000" dirty="0">
                <a:ea typeface="Verdana" panose="020B0604030504040204" pitchFamily="34" charset="0"/>
                <a:cs typeface="Verdana" panose="020B0604030504040204" pitchFamily="34" charset="0"/>
              </a:rPr>
              <a:t>El Flujo de Trabajo de </a:t>
            </a:r>
            <a:r>
              <a:rPr lang="es-MX" sz="1000" dirty="0" err="1">
                <a:ea typeface="Verdana" panose="020B0604030504040204" pitchFamily="34" charset="0"/>
                <a:cs typeface="Verdana" panose="020B0604030504040204" pitchFamily="34" charset="0"/>
              </a:rPr>
              <a:t>Gitflow</a:t>
            </a:r>
            <a:endParaRPr lang="es-MX" sz="1000" dirty="0">
              <a:ea typeface="Verdana" panose="020B0604030504040204" pitchFamily="34" charset="0"/>
              <a:cs typeface="Verdana" panose="020B0604030504040204" pitchFamily="34" charset="0"/>
            </a:endParaRPr>
          </a:p>
          <a:p>
            <a:pPr marL="171450" indent="-171450" algn="just">
              <a:lnSpc>
                <a:spcPct val="110000"/>
              </a:lnSpc>
              <a:buFont typeface="Arial" panose="020B0604020202020204" pitchFamily="34" charset="0"/>
              <a:buChar char="•"/>
            </a:pPr>
            <a:r>
              <a:rPr lang="es-MX" sz="1000" dirty="0">
                <a:ea typeface="Verdana" panose="020B0604030504040204" pitchFamily="34" charset="0"/>
                <a:cs typeface="Verdana" panose="020B0604030504040204" pitchFamily="34" charset="0"/>
              </a:rPr>
              <a:t>Comandos Git en </a:t>
            </a:r>
            <a:r>
              <a:rPr lang="es-MX" sz="1000" dirty="0" err="1">
                <a:ea typeface="Verdana" panose="020B0604030504040204" pitchFamily="34" charset="0"/>
                <a:cs typeface="Verdana" panose="020B0604030504040204" pitchFamily="34" charset="0"/>
              </a:rPr>
              <a:t>Gitflow</a:t>
            </a:r>
            <a:endParaRPr lang="es-MX" sz="1000" dirty="0">
              <a:ea typeface="Verdana" panose="020B0604030504040204" pitchFamily="34" charset="0"/>
              <a:cs typeface="Verdana" panose="020B0604030504040204" pitchFamily="34" charset="0"/>
            </a:endParaRPr>
          </a:p>
          <a:p>
            <a:pPr marL="171450" indent="-171450" algn="just">
              <a:lnSpc>
                <a:spcPct val="110000"/>
              </a:lnSpc>
              <a:buFont typeface="Arial" panose="020B0604020202020204" pitchFamily="34" charset="0"/>
              <a:buChar char="•"/>
            </a:pPr>
            <a:r>
              <a:rPr lang="es-MX" sz="1000" dirty="0">
                <a:ea typeface="Verdana" panose="020B0604030504040204" pitchFamily="34" charset="0"/>
                <a:cs typeface="Verdana" panose="020B0604030504040204" pitchFamily="34" charset="0"/>
              </a:rPr>
              <a:t>Beneficios de </a:t>
            </a:r>
            <a:r>
              <a:rPr lang="es-MX" sz="1000" dirty="0" err="1">
                <a:ea typeface="Verdana" panose="020B0604030504040204" pitchFamily="34" charset="0"/>
                <a:cs typeface="Verdana" panose="020B0604030504040204" pitchFamily="34" charset="0"/>
              </a:rPr>
              <a:t>Gitflow</a:t>
            </a:r>
            <a:endParaRPr lang="es-MX" sz="1000" dirty="0">
              <a:ea typeface="Verdana" panose="020B0604030504040204" pitchFamily="34" charset="0"/>
              <a:cs typeface="Verdana" panose="020B0604030504040204" pitchFamily="34" charset="0"/>
            </a:endParaRPr>
          </a:p>
          <a:p>
            <a:pPr marL="171450" indent="-171450" algn="just">
              <a:lnSpc>
                <a:spcPct val="110000"/>
              </a:lnSpc>
              <a:buFont typeface="Arial" panose="020B0604020202020204" pitchFamily="34" charset="0"/>
              <a:buChar char="•"/>
            </a:pPr>
            <a:r>
              <a:rPr lang="es-MX" sz="1000" dirty="0">
                <a:ea typeface="Verdana" panose="020B0604030504040204" pitchFamily="34" charset="0"/>
                <a:cs typeface="Verdana" panose="020B0604030504040204" pitchFamily="34" charset="0"/>
              </a:rPr>
              <a:t>Desventajas de </a:t>
            </a:r>
            <a:r>
              <a:rPr lang="es-MX" sz="1000" dirty="0" err="1">
                <a:ea typeface="Verdana" panose="020B0604030504040204" pitchFamily="34" charset="0"/>
                <a:cs typeface="Verdana" panose="020B0604030504040204" pitchFamily="34" charset="0"/>
              </a:rPr>
              <a:t>Gitflow</a:t>
            </a:r>
            <a:endParaRPr lang="es-MX" sz="1000" dirty="0">
              <a:ea typeface="Verdana" panose="020B0604030504040204" pitchFamily="34" charset="0"/>
              <a:cs typeface="Verdana" panose="020B0604030504040204" pitchFamily="34" charset="0"/>
            </a:endParaRPr>
          </a:p>
          <a:p>
            <a:pPr marL="171450" indent="-171450" algn="just">
              <a:lnSpc>
                <a:spcPct val="110000"/>
              </a:lnSpc>
              <a:buFont typeface="Arial" panose="020B0604020202020204" pitchFamily="34" charset="0"/>
              <a:buChar char="•"/>
            </a:pPr>
            <a:r>
              <a:rPr lang="es-MX" sz="1000" dirty="0">
                <a:ea typeface="Verdana" panose="020B0604030504040204" pitchFamily="34" charset="0"/>
                <a:cs typeface="Verdana" panose="020B0604030504040204" pitchFamily="34" charset="0"/>
              </a:rPr>
              <a:t>Herramientas para </a:t>
            </a:r>
            <a:r>
              <a:rPr lang="es-MX" sz="1000" dirty="0" err="1">
                <a:ea typeface="Verdana" panose="020B0604030504040204" pitchFamily="34" charset="0"/>
                <a:cs typeface="Verdana" panose="020B0604030504040204" pitchFamily="34" charset="0"/>
              </a:rPr>
              <a:t>Gitflow</a:t>
            </a:r>
            <a:endParaRPr lang="es-MX" sz="1000" dirty="0">
              <a:ea typeface="Verdana" panose="020B0604030504040204" pitchFamily="34" charset="0"/>
              <a:cs typeface="Verdana" panose="020B0604030504040204" pitchFamily="34" charset="0"/>
            </a:endParaRPr>
          </a:p>
          <a:p>
            <a:pPr marL="171450" indent="-171450" algn="just">
              <a:lnSpc>
                <a:spcPct val="110000"/>
              </a:lnSpc>
              <a:buFont typeface="Arial" panose="020B0604020202020204" pitchFamily="34" charset="0"/>
              <a:buChar char="•"/>
            </a:pPr>
            <a:r>
              <a:rPr lang="es-MX" sz="1000" dirty="0">
                <a:ea typeface="Verdana" panose="020B0604030504040204" pitchFamily="34" charset="0"/>
                <a:cs typeface="Verdana" panose="020B0604030504040204" pitchFamily="34" charset="0"/>
              </a:rPr>
              <a:t>¿Cuándo Utilizar </a:t>
            </a:r>
            <a:r>
              <a:rPr lang="es-MX" sz="1000" dirty="0" err="1">
                <a:ea typeface="Verdana" panose="020B0604030504040204" pitchFamily="34" charset="0"/>
                <a:cs typeface="Verdana" panose="020B0604030504040204" pitchFamily="34" charset="0"/>
              </a:rPr>
              <a:t>Gitflow</a:t>
            </a:r>
            <a:r>
              <a:rPr lang="es-MX" sz="1000" dirty="0">
                <a:ea typeface="Verdana" panose="020B0604030504040204" pitchFamily="34" charset="0"/>
                <a:cs typeface="Verdana" panose="020B0604030504040204" pitchFamily="34" charset="0"/>
              </a:rPr>
              <a:t>?</a:t>
            </a:r>
          </a:p>
          <a:p>
            <a:pPr marL="171450" indent="-171450" algn="just">
              <a:lnSpc>
                <a:spcPct val="110000"/>
              </a:lnSpc>
              <a:buFont typeface="Arial" panose="020B0604020202020204" pitchFamily="34" charset="0"/>
              <a:buChar char="•"/>
            </a:pPr>
            <a:r>
              <a:rPr lang="es-MX" sz="1000" dirty="0">
                <a:ea typeface="Verdana" panose="020B0604030504040204" pitchFamily="34" charset="0"/>
                <a:cs typeface="Verdana" panose="020B0604030504040204" pitchFamily="34" charset="0"/>
              </a:rPr>
              <a:t>¿Cuándo No Utilizar </a:t>
            </a:r>
            <a:r>
              <a:rPr lang="es-MX" sz="1000" dirty="0" err="1">
                <a:ea typeface="Verdana" panose="020B0604030504040204" pitchFamily="34" charset="0"/>
                <a:cs typeface="Verdana" panose="020B0604030504040204" pitchFamily="34" charset="0"/>
              </a:rPr>
              <a:t>Gitflow</a:t>
            </a:r>
            <a:r>
              <a:rPr lang="es-MX" sz="1000" dirty="0">
                <a:ea typeface="Verdana" panose="020B0604030504040204" pitchFamily="34" charset="0"/>
                <a:cs typeface="Verdana" panose="020B0604030504040204" pitchFamily="34" charset="0"/>
              </a:rPr>
              <a:t>?</a:t>
            </a:r>
          </a:p>
          <a:p>
            <a:pPr marL="0" indent="0" algn="just">
              <a:lnSpc>
                <a:spcPct val="110000"/>
              </a:lnSpc>
              <a:buNone/>
            </a:pPr>
            <a:endParaRPr lang="es-MX" sz="1000" dirty="0">
              <a:ea typeface="Verdana" panose="020B0604030504040204" pitchFamily="34" charset="0"/>
              <a:cs typeface="Verdana" panose="020B0604030504040204" pitchFamily="34" charset="0"/>
            </a:endParaRPr>
          </a:p>
        </p:txBody>
      </p:sp>
      <p:pic>
        <p:nvPicPr>
          <p:cNvPr id="8198" name="Picture 6" descr="Esquema Gitflow">
            <a:extLst>
              <a:ext uri="{FF2B5EF4-FFF2-40B4-BE49-F238E27FC236}">
                <a16:creationId xmlns:a16="http://schemas.microsoft.com/office/drawing/2014/main" id="{DB7F6FBF-9B1A-4735-90B2-4BFC5212C37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0361" y="2084068"/>
            <a:ext cx="4097367" cy="2535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1262874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A6C636BB-E7D0-FE55-C2F5-FC57A88AB9F0}"/>
              </a:ext>
            </a:extLst>
          </p:cNvPr>
          <p:cNvSpPr txBox="1">
            <a:spLocks/>
          </p:cNvSpPr>
          <p:nvPr/>
        </p:nvSpPr>
        <p:spPr>
          <a:xfrm>
            <a:off x="666975" y="550472"/>
            <a:ext cx="7905800" cy="577171"/>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3200" dirty="0"/>
              <a:t>Buenas prácticas de </a:t>
            </a:r>
            <a:r>
              <a:rPr lang="es-MX" sz="3200" dirty="0" err="1"/>
              <a:t>versionamiento</a:t>
            </a:r>
            <a:endParaRPr lang="es-MX" sz="3200" dirty="0"/>
          </a:p>
        </p:txBody>
      </p:sp>
      <p:sp>
        <p:nvSpPr>
          <p:cNvPr id="9" name="Slide Number Placeholder 5">
            <a:extLst>
              <a:ext uri="{FF2B5EF4-FFF2-40B4-BE49-F238E27FC236}">
                <a16:creationId xmlns:a16="http://schemas.microsoft.com/office/drawing/2014/main" id="{7AA4D592-1C24-9678-675B-5592FEE70AED}"/>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44</a:t>
            </a:fld>
            <a:endParaRPr lang="es-MX" sz="700">
              <a:solidFill>
                <a:schemeClr val="tx1"/>
              </a:solidFill>
              <a:latin typeface="+mn-lt"/>
            </a:endParaRPr>
          </a:p>
        </p:txBody>
      </p:sp>
      <p:sp>
        <p:nvSpPr>
          <p:cNvPr id="10" name="Date Placeholder 3">
            <a:extLst>
              <a:ext uri="{FF2B5EF4-FFF2-40B4-BE49-F238E27FC236}">
                <a16:creationId xmlns:a16="http://schemas.microsoft.com/office/drawing/2014/main" id="{01B32BC8-1722-304F-0282-503A51C392A4}"/>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16" name="Footer Placeholder 4">
            <a:extLst>
              <a:ext uri="{FF2B5EF4-FFF2-40B4-BE49-F238E27FC236}">
                <a16:creationId xmlns:a16="http://schemas.microsoft.com/office/drawing/2014/main" id="{EAE13ECB-7911-B012-DA67-027E1A7CF8DF}"/>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solidFill>
                <a:latin typeface="+mn-lt"/>
              </a:rPr>
              <a:t>GIT</a:t>
            </a:r>
          </a:p>
        </p:txBody>
      </p:sp>
      <p:sp>
        <p:nvSpPr>
          <p:cNvPr id="11" name="Rectangle: Rounded Corners 19">
            <a:extLst>
              <a:ext uri="{FF2B5EF4-FFF2-40B4-BE49-F238E27FC236}">
                <a16:creationId xmlns:a16="http://schemas.microsoft.com/office/drawing/2014/main" id="{7D139364-B288-4ED9-9343-CDE02947DBEC}"/>
              </a:ext>
            </a:extLst>
          </p:cNvPr>
          <p:cNvSpPr/>
          <p:nvPr/>
        </p:nvSpPr>
        <p:spPr>
          <a:xfrm>
            <a:off x="466387" y="1142761"/>
            <a:ext cx="8022049" cy="1024505"/>
          </a:xfrm>
          <a:prstGeom prst="roundRect">
            <a:avLst>
              <a:gd name="adj" fmla="val 15517"/>
            </a:avLst>
          </a:prstGeom>
          <a:gradFill flip="none" rotWithShape="1">
            <a:gsLst>
              <a:gs pos="0">
                <a:schemeClr val="tx1">
                  <a:alpha val="5000"/>
                </a:schemeClr>
              </a:gs>
              <a:gs pos="50500">
                <a:schemeClr val="accent2">
                  <a:alpha val="5000"/>
                </a:schemeClr>
              </a:gs>
              <a:gs pos="100000">
                <a:schemeClr val="tx1">
                  <a:alpha val="5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12" name="Oval 20">
            <a:extLst>
              <a:ext uri="{FF2B5EF4-FFF2-40B4-BE49-F238E27FC236}">
                <a16:creationId xmlns:a16="http://schemas.microsoft.com/office/drawing/2014/main" id="{155C9E60-FD89-4AF0-92F0-E814B99E9E66}"/>
              </a:ext>
            </a:extLst>
          </p:cNvPr>
          <p:cNvSpPr/>
          <p:nvPr/>
        </p:nvSpPr>
        <p:spPr>
          <a:xfrm>
            <a:off x="655563" y="1399903"/>
            <a:ext cx="510221" cy="510221"/>
          </a:xfrm>
          <a:prstGeom prst="ellipse">
            <a:avLst/>
          </a:prstGeom>
          <a:gradFill>
            <a:gsLst>
              <a:gs pos="0">
                <a:schemeClr val="accent1"/>
              </a:gs>
              <a:gs pos="100000">
                <a:schemeClr val="accent2"/>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grpSp>
        <p:nvGrpSpPr>
          <p:cNvPr id="13" name="Group 21">
            <a:extLst>
              <a:ext uri="{FF2B5EF4-FFF2-40B4-BE49-F238E27FC236}">
                <a16:creationId xmlns:a16="http://schemas.microsoft.com/office/drawing/2014/main" id="{37DB244B-1D05-460D-8929-A561DA4C4235}"/>
              </a:ext>
            </a:extLst>
          </p:cNvPr>
          <p:cNvGrpSpPr/>
          <p:nvPr/>
        </p:nvGrpSpPr>
        <p:grpSpPr>
          <a:xfrm>
            <a:off x="1254652" y="1332588"/>
            <a:ext cx="7092153" cy="752029"/>
            <a:chOff x="1987550" y="4491298"/>
            <a:chExt cx="2024967" cy="1133828"/>
          </a:xfrm>
        </p:grpSpPr>
        <p:sp>
          <p:nvSpPr>
            <p:cNvPr id="14" name="TextBox 22">
              <a:extLst>
                <a:ext uri="{FF2B5EF4-FFF2-40B4-BE49-F238E27FC236}">
                  <a16:creationId xmlns:a16="http://schemas.microsoft.com/office/drawing/2014/main" id="{B2279372-AF3F-44D5-82EE-127B83476EF1}"/>
                </a:ext>
              </a:extLst>
            </p:cNvPr>
            <p:cNvSpPr txBox="1"/>
            <p:nvPr/>
          </p:nvSpPr>
          <p:spPr>
            <a:xfrm>
              <a:off x="1987550" y="4491298"/>
              <a:ext cx="1828800" cy="696047"/>
            </a:xfrm>
            <a:prstGeom prst="rect">
              <a:avLst/>
            </a:prstGeom>
            <a:noFill/>
          </p:spPr>
          <p:txBody>
            <a:bodyPr wrap="square" rtlCol="0">
              <a:spAutoFit/>
            </a:bodyPr>
            <a:lstStyle/>
            <a:p>
              <a:r>
                <a:rPr lang="es-MX" sz="2400" dirty="0"/>
                <a:t>Nombres de ramas claros y consistentes</a:t>
              </a:r>
              <a:endParaRPr lang="en-ID" sz="2400" dirty="0"/>
            </a:p>
          </p:txBody>
        </p:sp>
        <p:sp>
          <p:nvSpPr>
            <p:cNvPr id="15" name="TextBox 23">
              <a:extLst>
                <a:ext uri="{FF2B5EF4-FFF2-40B4-BE49-F238E27FC236}">
                  <a16:creationId xmlns:a16="http://schemas.microsoft.com/office/drawing/2014/main" id="{18847929-BA43-44C2-8497-9B0F0D775D21}"/>
                </a:ext>
              </a:extLst>
            </p:cNvPr>
            <p:cNvSpPr txBox="1"/>
            <p:nvPr/>
          </p:nvSpPr>
          <p:spPr>
            <a:xfrm>
              <a:off x="1987550" y="5068287"/>
              <a:ext cx="2024967" cy="556839"/>
            </a:xfrm>
            <a:prstGeom prst="rect">
              <a:avLst/>
            </a:prstGeom>
            <a:noFill/>
          </p:spPr>
          <p:txBody>
            <a:bodyPr wrap="square" rtlCol="0">
              <a:spAutoFit/>
            </a:bodyPr>
            <a:lstStyle/>
            <a:p>
              <a:r>
                <a:rPr lang="es-MX" sz="900" dirty="0"/>
                <a:t>Usar una convención de nombres facilita la lectura del historial.</a:t>
              </a:r>
            </a:p>
            <a:p>
              <a:r>
                <a:rPr lang="es-MX" sz="900" dirty="0"/>
                <a:t>Incluir el tipo de trabajo, una breve descripción y, si aplica, un identificador de ticket o tarea</a:t>
              </a:r>
              <a:endParaRPr lang="en-ID" sz="900" dirty="0"/>
            </a:p>
          </p:txBody>
        </p:sp>
      </p:grpSp>
      <p:graphicFrame>
        <p:nvGraphicFramePr>
          <p:cNvPr id="6" name="Tabla 6">
            <a:extLst>
              <a:ext uri="{FF2B5EF4-FFF2-40B4-BE49-F238E27FC236}">
                <a16:creationId xmlns:a16="http://schemas.microsoft.com/office/drawing/2014/main" id="{248FC20D-9A7E-4EBD-B29F-F8C52855AFAA}"/>
              </a:ext>
            </a:extLst>
          </p:cNvPr>
          <p:cNvGraphicFramePr>
            <a:graphicFrameLocks noGrp="1"/>
          </p:cNvGraphicFramePr>
          <p:nvPr/>
        </p:nvGraphicFramePr>
        <p:xfrm>
          <a:off x="466388" y="2279002"/>
          <a:ext cx="8022048" cy="2225040"/>
        </p:xfrm>
        <a:graphic>
          <a:graphicData uri="http://schemas.openxmlformats.org/drawingml/2006/table">
            <a:tbl>
              <a:tblPr firstRow="1" bandRow="1">
                <a:tableStyleId>{5C22544A-7EE6-4342-B048-85BDC9FD1C3A}</a:tableStyleId>
              </a:tblPr>
              <a:tblGrid>
                <a:gridCol w="3029848">
                  <a:extLst>
                    <a:ext uri="{9D8B030D-6E8A-4147-A177-3AD203B41FA5}">
                      <a16:colId xmlns:a16="http://schemas.microsoft.com/office/drawing/2014/main" val="1265253361"/>
                    </a:ext>
                  </a:extLst>
                </a:gridCol>
                <a:gridCol w="4992200">
                  <a:extLst>
                    <a:ext uri="{9D8B030D-6E8A-4147-A177-3AD203B41FA5}">
                      <a16:colId xmlns:a16="http://schemas.microsoft.com/office/drawing/2014/main" val="3389384195"/>
                    </a:ext>
                  </a:extLst>
                </a:gridCol>
              </a:tblGrid>
              <a:tr h="370840">
                <a:tc>
                  <a:txBody>
                    <a:bodyPr/>
                    <a:lstStyle/>
                    <a:p>
                      <a:r>
                        <a:rPr lang="es-MX" dirty="0"/>
                        <a:t>Convenciones de Nomenclatura</a:t>
                      </a:r>
                    </a:p>
                  </a:txBody>
                  <a:tcPr/>
                </a:tc>
                <a:tc>
                  <a:txBody>
                    <a:bodyPr/>
                    <a:lstStyle/>
                    <a:p>
                      <a:r>
                        <a:rPr lang="es-MX" dirty="0"/>
                        <a:t>Descripción</a:t>
                      </a:r>
                    </a:p>
                  </a:txBody>
                  <a:tcPr/>
                </a:tc>
                <a:extLst>
                  <a:ext uri="{0D108BD9-81ED-4DB2-BD59-A6C34878D82A}">
                    <a16:rowId xmlns:a16="http://schemas.microsoft.com/office/drawing/2014/main" val="2761523386"/>
                  </a:ext>
                </a:extLst>
              </a:tr>
              <a:tr h="370840">
                <a:tc>
                  <a:txBody>
                    <a:bodyPr/>
                    <a:lstStyle/>
                    <a:p>
                      <a:r>
                        <a:rPr lang="es-MX" sz="900" b="0" dirty="0" err="1"/>
                        <a:t>feature</a:t>
                      </a:r>
                      <a:r>
                        <a:rPr lang="es-MX" sz="900" b="0" dirty="0"/>
                        <a:t>/</a:t>
                      </a:r>
                    </a:p>
                  </a:txBody>
                  <a:tcPr/>
                </a:tc>
                <a:tc>
                  <a:txBody>
                    <a:bodyPr/>
                    <a:lstStyle/>
                    <a:p>
                      <a:r>
                        <a:rPr lang="es-MX" sz="900" b="0" dirty="0"/>
                        <a:t>Para el desarrollo de nuevas características (ej. </a:t>
                      </a:r>
                      <a:r>
                        <a:rPr lang="es-MX" sz="900" b="0" dirty="0" err="1"/>
                        <a:t>feature</a:t>
                      </a:r>
                      <a:r>
                        <a:rPr lang="es-MX" sz="900" b="0" dirty="0"/>
                        <a:t>/</a:t>
                      </a:r>
                      <a:r>
                        <a:rPr lang="es-MX" sz="900" b="0" dirty="0" err="1"/>
                        <a:t>login</a:t>
                      </a:r>
                      <a:r>
                        <a:rPr lang="es-MX" sz="900" b="0" dirty="0"/>
                        <a:t>-page).</a:t>
                      </a:r>
                    </a:p>
                  </a:txBody>
                  <a:tcPr/>
                </a:tc>
                <a:extLst>
                  <a:ext uri="{0D108BD9-81ED-4DB2-BD59-A6C34878D82A}">
                    <a16:rowId xmlns:a16="http://schemas.microsoft.com/office/drawing/2014/main" val="3732187435"/>
                  </a:ext>
                </a:extLst>
              </a:tr>
              <a:tr h="370840">
                <a:tc>
                  <a:txBody>
                    <a:bodyPr/>
                    <a:lstStyle/>
                    <a:p>
                      <a:r>
                        <a:rPr lang="es-MX" sz="900" b="0" dirty="0" err="1"/>
                        <a:t>bugfix</a:t>
                      </a:r>
                      <a:r>
                        <a:rPr lang="es-MX" sz="900" b="0" dirty="0"/>
                        <a:t>/&lt;descripción&gt;</a:t>
                      </a:r>
                    </a:p>
                  </a:txBody>
                  <a:tcPr/>
                </a:tc>
                <a:tc>
                  <a:txBody>
                    <a:bodyPr/>
                    <a:lstStyle/>
                    <a:p>
                      <a:r>
                        <a:rPr lang="es-MX" sz="900" b="0" dirty="0"/>
                        <a:t>Para corregir errores sin ser urgentes</a:t>
                      </a:r>
                    </a:p>
                  </a:txBody>
                  <a:tcPr/>
                </a:tc>
                <a:extLst>
                  <a:ext uri="{0D108BD9-81ED-4DB2-BD59-A6C34878D82A}">
                    <a16:rowId xmlns:a16="http://schemas.microsoft.com/office/drawing/2014/main" val="2479717168"/>
                  </a:ext>
                </a:extLst>
              </a:tr>
              <a:tr h="370840">
                <a:tc>
                  <a:txBody>
                    <a:bodyPr/>
                    <a:lstStyle/>
                    <a:p>
                      <a:r>
                        <a:rPr lang="es-MX" sz="900" b="0" dirty="0" err="1"/>
                        <a:t>hotfix</a:t>
                      </a:r>
                      <a:r>
                        <a:rPr lang="es-MX" sz="900" b="0" dirty="0"/>
                        <a:t>/&lt;descripción&gt;</a:t>
                      </a:r>
                    </a:p>
                  </a:txBody>
                  <a:tcPr/>
                </a:tc>
                <a:tc>
                  <a:txBody>
                    <a:bodyPr/>
                    <a:lstStyle/>
                    <a:p>
                      <a:r>
                        <a:rPr lang="es-MX" sz="900" b="0" dirty="0"/>
                        <a:t>Para soluciones rápidas críticas en producción.</a:t>
                      </a:r>
                    </a:p>
                  </a:txBody>
                  <a:tcPr/>
                </a:tc>
                <a:extLst>
                  <a:ext uri="{0D108BD9-81ED-4DB2-BD59-A6C34878D82A}">
                    <a16:rowId xmlns:a16="http://schemas.microsoft.com/office/drawing/2014/main" val="1523822212"/>
                  </a:ext>
                </a:extLst>
              </a:tr>
              <a:tr h="370840">
                <a:tc>
                  <a:txBody>
                    <a:bodyPr/>
                    <a:lstStyle/>
                    <a:p>
                      <a:r>
                        <a:rPr lang="es-MX" sz="900" b="0" dirty="0" err="1"/>
                        <a:t>release</a:t>
                      </a:r>
                      <a:r>
                        <a:rPr lang="es-MX" sz="900" b="0" dirty="0"/>
                        <a:t>/&lt;</a:t>
                      </a:r>
                      <a:r>
                        <a:rPr lang="es-MX" sz="900" b="0" dirty="0" err="1"/>
                        <a:t>version</a:t>
                      </a:r>
                      <a:r>
                        <a:rPr lang="es-MX" sz="900" b="0" dirty="0"/>
                        <a:t>&gt;</a:t>
                      </a:r>
                    </a:p>
                  </a:txBody>
                  <a:tcPr/>
                </a:tc>
                <a:tc>
                  <a:txBody>
                    <a:bodyPr/>
                    <a:lstStyle/>
                    <a:p>
                      <a:r>
                        <a:rPr lang="es-MX" sz="900" b="0" dirty="0"/>
                        <a:t>Para preparar una nueva versión para lanzar (ej. </a:t>
                      </a:r>
                      <a:r>
                        <a:rPr lang="es-MX" sz="900" b="0" dirty="0" err="1"/>
                        <a:t>release</a:t>
                      </a:r>
                      <a:r>
                        <a:rPr lang="es-MX" sz="900" b="0" dirty="0"/>
                        <a:t>/v1.0.0).</a:t>
                      </a:r>
                    </a:p>
                  </a:txBody>
                  <a:tcPr/>
                </a:tc>
                <a:extLst>
                  <a:ext uri="{0D108BD9-81ED-4DB2-BD59-A6C34878D82A}">
                    <a16:rowId xmlns:a16="http://schemas.microsoft.com/office/drawing/2014/main" val="1280757437"/>
                  </a:ext>
                </a:extLst>
              </a:tr>
              <a:tr h="370840">
                <a:tc>
                  <a:txBody>
                    <a:bodyPr/>
                    <a:lstStyle/>
                    <a:p>
                      <a:r>
                        <a:rPr lang="es-MX" sz="900" b="0" dirty="0" err="1"/>
                        <a:t>hotfix</a:t>
                      </a:r>
                      <a:r>
                        <a:rPr lang="es-MX" sz="900" b="0" dirty="0"/>
                        <a:t>/ /&lt;ticket/ID&gt;</a:t>
                      </a:r>
                    </a:p>
                  </a:txBody>
                  <a:tcPr/>
                </a:tc>
                <a:tc>
                  <a:txBody>
                    <a:bodyPr/>
                    <a:lstStyle/>
                    <a:p>
                      <a:r>
                        <a:rPr lang="es-MX" sz="900" b="0" dirty="0"/>
                        <a:t>Es buena práctica incluir el número de ticket o </a:t>
                      </a:r>
                      <a:r>
                        <a:rPr lang="es-MX" sz="900" b="0" dirty="0" err="1"/>
                        <a:t>issue</a:t>
                      </a:r>
                      <a:r>
                        <a:rPr lang="es-MX" sz="900" b="0" dirty="0"/>
                        <a:t> de Jira/GitHub (ej. </a:t>
                      </a:r>
                      <a:r>
                        <a:rPr lang="es-MX" sz="900" b="0" dirty="0" err="1"/>
                        <a:t>feature</a:t>
                      </a:r>
                      <a:r>
                        <a:rPr lang="es-MX" sz="900" b="0" dirty="0"/>
                        <a:t>/JIRA-123-ui-update)</a:t>
                      </a:r>
                    </a:p>
                  </a:txBody>
                  <a:tcPr/>
                </a:tc>
                <a:extLst>
                  <a:ext uri="{0D108BD9-81ED-4DB2-BD59-A6C34878D82A}">
                    <a16:rowId xmlns:a16="http://schemas.microsoft.com/office/drawing/2014/main" val="32381639"/>
                  </a:ext>
                </a:extLst>
              </a:tr>
            </a:tbl>
          </a:graphicData>
        </a:graphic>
      </p:graphicFrame>
    </p:spTree>
    <p:extLst>
      <p:ext uri="{BB962C8B-B14F-4D97-AF65-F5344CB8AC3E}">
        <p14:creationId xmlns:p14="http://schemas.microsoft.com/office/powerpoint/2010/main" val="9770982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A6C636BB-E7D0-FE55-C2F5-FC57A88AB9F0}"/>
              </a:ext>
            </a:extLst>
          </p:cNvPr>
          <p:cNvSpPr txBox="1">
            <a:spLocks/>
          </p:cNvSpPr>
          <p:nvPr/>
        </p:nvSpPr>
        <p:spPr>
          <a:xfrm>
            <a:off x="666975" y="550472"/>
            <a:ext cx="7905800" cy="577171"/>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3200" dirty="0"/>
              <a:t>Buenas prácticas de </a:t>
            </a:r>
            <a:r>
              <a:rPr lang="es-MX" sz="3200" dirty="0" err="1"/>
              <a:t>versionamiento</a:t>
            </a:r>
            <a:endParaRPr lang="es-MX" sz="3200" dirty="0"/>
          </a:p>
        </p:txBody>
      </p:sp>
      <p:sp>
        <p:nvSpPr>
          <p:cNvPr id="9" name="Slide Number Placeholder 5">
            <a:extLst>
              <a:ext uri="{FF2B5EF4-FFF2-40B4-BE49-F238E27FC236}">
                <a16:creationId xmlns:a16="http://schemas.microsoft.com/office/drawing/2014/main" id="{7AA4D592-1C24-9678-675B-5592FEE70AED}"/>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45</a:t>
            </a:fld>
            <a:endParaRPr lang="es-MX" sz="700">
              <a:solidFill>
                <a:schemeClr val="tx1"/>
              </a:solidFill>
              <a:latin typeface="+mn-lt"/>
            </a:endParaRPr>
          </a:p>
        </p:txBody>
      </p:sp>
      <p:sp>
        <p:nvSpPr>
          <p:cNvPr id="10" name="Date Placeholder 3">
            <a:extLst>
              <a:ext uri="{FF2B5EF4-FFF2-40B4-BE49-F238E27FC236}">
                <a16:creationId xmlns:a16="http://schemas.microsoft.com/office/drawing/2014/main" id="{01B32BC8-1722-304F-0282-503A51C392A4}"/>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16" name="Footer Placeholder 4">
            <a:extLst>
              <a:ext uri="{FF2B5EF4-FFF2-40B4-BE49-F238E27FC236}">
                <a16:creationId xmlns:a16="http://schemas.microsoft.com/office/drawing/2014/main" id="{EAE13ECB-7911-B012-DA67-027E1A7CF8DF}"/>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solidFill>
                <a:latin typeface="+mn-lt"/>
              </a:rPr>
              <a:t>GIT</a:t>
            </a:r>
          </a:p>
        </p:txBody>
      </p:sp>
      <p:sp>
        <p:nvSpPr>
          <p:cNvPr id="7" name="Rectangle: Rounded Corners 19">
            <a:extLst>
              <a:ext uri="{FF2B5EF4-FFF2-40B4-BE49-F238E27FC236}">
                <a16:creationId xmlns:a16="http://schemas.microsoft.com/office/drawing/2014/main" id="{7E46778A-08A1-40E9-86C9-535E8F8224A2}"/>
              </a:ext>
            </a:extLst>
          </p:cNvPr>
          <p:cNvSpPr/>
          <p:nvPr/>
        </p:nvSpPr>
        <p:spPr>
          <a:xfrm>
            <a:off x="466387" y="1142761"/>
            <a:ext cx="8022049" cy="1139397"/>
          </a:xfrm>
          <a:prstGeom prst="roundRect">
            <a:avLst>
              <a:gd name="adj" fmla="val 15517"/>
            </a:avLst>
          </a:prstGeom>
          <a:gradFill flip="none" rotWithShape="1">
            <a:gsLst>
              <a:gs pos="0">
                <a:schemeClr val="tx1">
                  <a:alpha val="5000"/>
                </a:schemeClr>
              </a:gs>
              <a:gs pos="50500">
                <a:schemeClr val="accent2">
                  <a:alpha val="5000"/>
                </a:schemeClr>
              </a:gs>
              <a:gs pos="100000">
                <a:schemeClr val="tx1">
                  <a:alpha val="5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8" name="Oval 20">
            <a:extLst>
              <a:ext uri="{FF2B5EF4-FFF2-40B4-BE49-F238E27FC236}">
                <a16:creationId xmlns:a16="http://schemas.microsoft.com/office/drawing/2014/main" id="{252FE189-A8F3-40A1-B38A-328BCEAFC236}"/>
              </a:ext>
            </a:extLst>
          </p:cNvPr>
          <p:cNvSpPr/>
          <p:nvPr/>
        </p:nvSpPr>
        <p:spPr>
          <a:xfrm>
            <a:off x="655563" y="1399903"/>
            <a:ext cx="510221" cy="510221"/>
          </a:xfrm>
          <a:prstGeom prst="ellipse">
            <a:avLst/>
          </a:prstGeom>
          <a:gradFill>
            <a:gsLst>
              <a:gs pos="0">
                <a:schemeClr val="accent1"/>
              </a:gs>
              <a:gs pos="100000">
                <a:schemeClr val="accent2"/>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grpSp>
        <p:nvGrpSpPr>
          <p:cNvPr id="11" name="Group 21">
            <a:extLst>
              <a:ext uri="{FF2B5EF4-FFF2-40B4-BE49-F238E27FC236}">
                <a16:creationId xmlns:a16="http://schemas.microsoft.com/office/drawing/2014/main" id="{7AD6506A-34D4-477B-8BB2-1C275E4C1292}"/>
              </a:ext>
            </a:extLst>
          </p:cNvPr>
          <p:cNvGrpSpPr/>
          <p:nvPr/>
        </p:nvGrpSpPr>
        <p:grpSpPr>
          <a:xfrm>
            <a:off x="1254652" y="1332589"/>
            <a:ext cx="7092153" cy="1029028"/>
            <a:chOff x="1987550" y="4491298"/>
            <a:chExt cx="2024967" cy="1551457"/>
          </a:xfrm>
        </p:grpSpPr>
        <p:sp>
          <p:nvSpPr>
            <p:cNvPr id="12" name="TextBox 22">
              <a:extLst>
                <a:ext uri="{FF2B5EF4-FFF2-40B4-BE49-F238E27FC236}">
                  <a16:creationId xmlns:a16="http://schemas.microsoft.com/office/drawing/2014/main" id="{9FBAC124-9233-4FBA-BE76-ECA8B5B7231C}"/>
                </a:ext>
              </a:extLst>
            </p:cNvPr>
            <p:cNvSpPr txBox="1"/>
            <p:nvPr/>
          </p:nvSpPr>
          <p:spPr>
            <a:xfrm>
              <a:off x="1987550" y="4491298"/>
              <a:ext cx="2002472" cy="696048"/>
            </a:xfrm>
            <a:prstGeom prst="rect">
              <a:avLst/>
            </a:prstGeom>
            <a:noFill/>
          </p:spPr>
          <p:txBody>
            <a:bodyPr wrap="square" rtlCol="0">
              <a:spAutoFit/>
            </a:bodyPr>
            <a:lstStyle/>
            <a:p>
              <a:r>
                <a:rPr lang="es-MX" sz="2400" dirty="0" err="1"/>
                <a:t>Commits</a:t>
              </a:r>
              <a:r>
                <a:rPr lang="es-MX" sz="2400" dirty="0"/>
                <a:t> pequeños, descriptivos y coherentes</a:t>
              </a:r>
              <a:endParaRPr lang="en-ID" sz="2400" dirty="0"/>
            </a:p>
          </p:txBody>
        </p:sp>
        <p:sp>
          <p:nvSpPr>
            <p:cNvPr id="13" name="TextBox 23">
              <a:extLst>
                <a:ext uri="{FF2B5EF4-FFF2-40B4-BE49-F238E27FC236}">
                  <a16:creationId xmlns:a16="http://schemas.microsoft.com/office/drawing/2014/main" id="{830F3893-0DBD-4429-B43B-C57375D68023}"/>
                </a:ext>
              </a:extLst>
            </p:cNvPr>
            <p:cNvSpPr txBox="1"/>
            <p:nvPr/>
          </p:nvSpPr>
          <p:spPr>
            <a:xfrm>
              <a:off x="1987550" y="5068287"/>
              <a:ext cx="2024967" cy="974468"/>
            </a:xfrm>
            <a:prstGeom prst="rect">
              <a:avLst/>
            </a:prstGeom>
            <a:noFill/>
          </p:spPr>
          <p:txBody>
            <a:bodyPr wrap="square" rtlCol="0">
              <a:spAutoFit/>
            </a:bodyPr>
            <a:lstStyle/>
            <a:p>
              <a:r>
                <a:rPr lang="es-MX" sz="900" dirty="0"/>
                <a:t>Un </a:t>
              </a:r>
              <a:r>
                <a:rPr lang="es-MX" sz="900" dirty="0" err="1"/>
                <a:t>commit</a:t>
              </a:r>
              <a:r>
                <a:rPr lang="es-MX" sz="900" dirty="0"/>
                <a:t> debe representar un cambio lógico. </a:t>
              </a:r>
            </a:p>
            <a:p>
              <a:r>
                <a:rPr lang="es-MX" sz="900" dirty="0"/>
                <a:t>Evita agrupar modificaciones no relacionadas. </a:t>
              </a:r>
            </a:p>
            <a:p>
              <a:r>
                <a:rPr lang="es-MX" sz="900" dirty="0"/>
                <a:t>Si un </a:t>
              </a:r>
              <a:r>
                <a:rPr lang="es-MX" sz="900" dirty="0" err="1"/>
                <a:t>commit</a:t>
              </a:r>
              <a:r>
                <a:rPr lang="es-MX" sz="900" dirty="0"/>
                <a:t> “rompe” algo, debe ser fácil identificarlo y revertirlo.</a:t>
              </a:r>
            </a:p>
            <a:p>
              <a:endParaRPr lang="en-ID" sz="900" dirty="0"/>
            </a:p>
          </p:txBody>
        </p:sp>
      </p:grpSp>
      <p:pic>
        <p:nvPicPr>
          <p:cNvPr id="4" name="Imagen 3">
            <a:extLst>
              <a:ext uri="{FF2B5EF4-FFF2-40B4-BE49-F238E27FC236}">
                <a16:creationId xmlns:a16="http://schemas.microsoft.com/office/drawing/2014/main" id="{071889D2-2AE7-41C2-A450-57FA29A6DE27}"/>
              </a:ext>
            </a:extLst>
          </p:cNvPr>
          <p:cNvPicPr>
            <a:picLocks noChangeAspect="1"/>
          </p:cNvPicPr>
          <p:nvPr/>
        </p:nvPicPr>
        <p:blipFill>
          <a:blip r:embed="rId2"/>
          <a:stretch>
            <a:fillRect/>
          </a:stretch>
        </p:blipFill>
        <p:spPr>
          <a:xfrm>
            <a:off x="1368339" y="2514106"/>
            <a:ext cx="6218144" cy="1744114"/>
          </a:xfrm>
          <a:prstGeom prst="rect">
            <a:avLst/>
          </a:prstGeom>
        </p:spPr>
      </p:pic>
    </p:spTree>
    <p:extLst>
      <p:ext uri="{BB962C8B-B14F-4D97-AF65-F5344CB8AC3E}">
        <p14:creationId xmlns:p14="http://schemas.microsoft.com/office/powerpoint/2010/main" val="36782172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A6C636BB-E7D0-FE55-C2F5-FC57A88AB9F0}"/>
              </a:ext>
            </a:extLst>
          </p:cNvPr>
          <p:cNvSpPr txBox="1">
            <a:spLocks/>
          </p:cNvSpPr>
          <p:nvPr/>
        </p:nvSpPr>
        <p:spPr>
          <a:xfrm>
            <a:off x="666975" y="550472"/>
            <a:ext cx="7905800" cy="577171"/>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3200" dirty="0"/>
              <a:t>Buenas prácticas de </a:t>
            </a:r>
            <a:r>
              <a:rPr lang="es-MX" sz="3200" dirty="0" err="1"/>
              <a:t>versionamiento</a:t>
            </a:r>
            <a:endParaRPr lang="es-MX" sz="3200" dirty="0"/>
          </a:p>
        </p:txBody>
      </p:sp>
      <p:sp>
        <p:nvSpPr>
          <p:cNvPr id="9" name="Slide Number Placeholder 5">
            <a:extLst>
              <a:ext uri="{FF2B5EF4-FFF2-40B4-BE49-F238E27FC236}">
                <a16:creationId xmlns:a16="http://schemas.microsoft.com/office/drawing/2014/main" id="{7AA4D592-1C24-9678-675B-5592FEE70AED}"/>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46</a:t>
            </a:fld>
            <a:endParaRPr lang="es-MX" sz="700">
              <a:solidFill>
                <a:schemeClr val="tx1"/>
              </a:solidFill>
              <a:latin typeface="+mn-lt"/>
            </a:endParaRPr>
          </a:p>
        </p:txBody>
      </p:sp>
      <p:sp>
        <p:nvSpPr>
          <p:cNvPr id="10" name="Date Placeholder 3">
            <a:extLst>
              <a:ext uri="{FF2B5EF4-FFF2-40B4-BE49-F238E27FC236}">
                <a16:creationId xmlns:a16="http://schemas.microsoft.com/office/drawing/2014/main" id="{01B32BC8-1722-304F-0282-503A51C392A4}"/>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16" name="Footer Placeholder 4">
            <a:extLst>
              <a:ext uri="{FF2B5EF4-FFF2-40B4-BE49-F238E27FC236}">
                <a16:creationId xmlns:a16="http://schemas.microsoft.com/office/drawing/2014/main" id="{EAE13ECB-7911-B012-DA67-027E1A7CF8DF}"/>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solidFill>
                <a:latin typeface="+mn-lt"/>
              </a:rPr>
              <a:t>GIT</a:t>
            </a:r>
          </a:p>
        </p:txBody>
      </p:sp>
      <p:sp>
        <p:nvSpPr>
          <p:cNvPr id="7" name="Rectangle: Rounded Corners 19">
            <a:extLst>
              <a:ext uri="{FF2B5EF4-FFF2-40B4-BE49-F238E27FC236}">
                <a16:creationId xmlns:a16="http://schemas.microsoft.com/office/drawing/2014/main" id="{F82F6E06-B708-4426-AFDA-DF280D57CEFD}"/>
              </a:ext>
            </a:extLst>
          </p:cNvPr>
          <p:cNvSpPr/>
          <p:nvPr/>
        </p:nvSpPr>
        <p:spPr>
          <a:xfrm>
            <a:off x="466387" y="1142761"/>
            <a:ext cx="4551287" cy="3477376"/>
          </a:xfrm>
          <a:prstGeom prst="roundRect">
            <a:avLst>
              <a:gd name="adj" fmla="val 15517"/>
            </a:avLst>
          </a:prstGeom>
          <a:gradFill flip="none" rotWithShape="1">
            <a:gsLst>
              <a:gs pos="0">
                <a:schemeClr val="tx1">
                  <a:alpha val="5000"/>
                </a:schemeClr>
              </a:gs>
              <a:gs pos="50500">
                <a:schemeClr val="accent2">
                  <a:alpha val="5000"/>
                </a:schemeClr>
              </a:gs>
              <a:gs pos="100000">
                <a:schemeClr val="tx1">
                  <a:alpha val="5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8" name="Oval 20">
            <a:extLst>
              <a:ext uri="{FF2B5EF4-FFF2-40B4-BE49-F238E27FC236}">
                <a16:creationId xmlns:a16="http://schemas.microsoft.com/office/drawing/2014/main" id="{96FADAED-1209-4A0D-BE42-D4F512F9BB1A}"/>
              </a:ext>
            </a:extLst>
          </p:cNvPr>
          <p:cNvSpPr/>
          <p:nvPr/>
        </p:nvSpPr>
        <p:spPr>
          <a:xfrm>
            <a:off x="655563" y="1399903"/>
            <a:ext cx="510221" cy="510221"/>
          </a:xfrm>
          <a:prstGeom prst="ellipse">
            <a:avLst/>
          </a:prstGeom>
          <a:gradFill>
            <a:gsLst>
              <a:gs pos="0">
                <a:schemeClr val="accent1"/>
              </a:gs>
              <a:gs pos="100000">
                <a:schemeClr val="accent2"/>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grpSp>
        <p:nvGrpSpPr>
          <p:cNvPr id="11" name="Group 21">
            <a:extLst>
              <a:ext uri="{FF2B5EF4-FFF2-40B4-BE49-F238E27FC236}">
                <a16:creationId xmlns:a16="http://schemas.microsoft.com/office/drawing/2014/main" id="{923A0D50-2D7E-4604-8671-139F873A8998}"/>
              </a:ext>
            </a:extLst>
          </p:cNvPr>
          <p:cNvGrpSpPr/>
          <p:nvPr/>
        </p:nvGrpSpPr>
        <p:grpSpPr>
          <a:xfrm>
            <a:off x="1254651" y="1332589"/>
            <a:ext cx="3586289" cy="3383996"/>
            <a:chOff x="1987550" y="4491298"/>
            <a:chExt cx="2024967" cy="2444715"/>
          </a:xfrm>
        </p:grpSpPr>
        <p:sp>
          <p:nvSpPr>
            <p:cNvPr id="12" name="TextBox 22">
              <a:extLst>
                <a:ext uri="{FF2B5EF4-FFF2-40B4-BE49-F238E27FC236}">
                  <a16:creationId xmlns:a16="http://schemas.microsoft.com/office/drawing/2014/main" id="{F0790F24-0FFB-4B71-8441-A66B2C1D40A0}"/>
                </a:ext>
              </a:extLst>
            </p:cNvPr>
            <p:cNvSpPr txBox="1"/>
            <p:nvPr/>
          </p:nvSpPr>
          <p:spPr>
            <a:xfrm>
              <a:off x="1987550" y="4491298"/>
              <a:ext cx="2002472" cy="696048"/>
            </a:xfrm>
            <a:prstGeom prst="rect">
              <a:avLst/>
            </a:prstGeom>
            <a:noFill/>
          </p:spPr>
          <p:txBody>
            <a:bodyPr wrap="square" rtlCol="0">
              <a:spAutoFit/>
            </a:bodyPr>
            <a:lstStyle/>
            <a:p>
              <a:r>
                <a:rPr lang="es-MX" sz="2400" dirty="0" err="1"/>
                <a:t>Pull</a:t>
              </a:r>
              <a:r>
                <a:rPr lang="es-MX" sz="2400" dirty="0"/>
                <a:t> </a:t>
              </a:r>
              <a:r>
                <a:rPr lang="es-MX" sz="2400" dirty="0" err="1"/>
                <a:t>Requests</a:t>
              </a:r>
              <a:r>
                <a:rPr lang="es-MX" sz="2400" dirty="0"/>
                <a:t> claros y revisiones efectivas</a:t>
              </a:r>
              <a:endParaRPr lang="en-ID" sz="2400" dirty="0"/>
            </a:p>
          </p:txBody>
        </p:sp>
        <p:sp>
          <p:nvSpPr>
            <p:cNvPr id="13" name="TextBox 23">
              <a:extLst>
                <a:ext uri="{FF2B5EF4-FFF2-40B4-BE49-F238E27FC236}">
                  <a16:creationId xmlns:a16="http://schemas.microsoft.com/office/drawing/2014/main" id="{D6B68A15-12F8-4253-91DD-FAB8F745AEEA}"/>
                </a:ext>
              </a:extLst>
            </p:cNvPr>
            <p:cNvSpPr txBox="1"/>
            <p:nvPr/>
          </p:nvSpPr>
          <p:spPr>
            <a:xfrm>
              <a:off x="1987550" y="5068287"/>
              <a:ext cx="2024967" cy="1867726"/>
            </a:xfrm>
            <a:prstGeom prst="rect">
              <a:avLst/>
            </a:prstGeom>
            <a:noFill/>
          </p:spPr>
          <p:txBody>
            <a:bodyPr wrap="square" rtlCol="0">
              <a:spAutoFit/>
            </a:bodyPr>
            <a:lstStyle/>
            <a:p>
              <a:r>
                <a:rPr lang="es-MX" sz="900" dirty="0"/>
                <a:t>Un </a:t>
              </a:r>
              <a:r>
                <a:rPr lang="es-MX" sz="900" dirty="0" err="1"/>
                <a:t>Pull</a:t>
              </a:r>
              <a:r>
                <a:rPr lang="es-MX" sz="900" dirty="0"/>
                <a:t> </a:t>
              </a:r>
              <a:r>
                <a:rPr lang="es-MX" sz="900" dirty="0" err="1"/>
                <a:t>Request</a:t>
              </a:r>
              <a:r>
                <a:rPr lang="es-MX" sz="900" dirty="0"/>
                <a:t> (PR) debe explicar qué cambia, por qué y cómo probarlo. </a:t>
              </a:r>
            </a:p>
            <a:p>
              <a:endParaRPr lang="es-MX" sz="900" dirty="0"/>
            </a:p>
            <a:p>
              <a:r>
                <a:rPr lang="es-MX" sz="900" dirty="0"/>
                <a:t>Consejos prácticos:</a:t>
              </a:r>
            </a:p>
            <a:p>
              <a:endParaRPr lang="es-MX" sz="900" dirty="0"/>
            </a:p>
            <a:p>
              <a:r>
                <a:rPr lang="es-MX" sz="900" b="1" dirty="0"/>
                <a:t>Título descriptivo:</a:t>
              </a:r>
              <a:r>
                <a:rPr lang="es-MX" sz="900" dirty="0"/>
                <a:t> “Corrige bug en carga de datos SQL” es mejor que “</a:t>
              </a:r>
              <a:r>
                <a:rPr lang="es-MX" sz="900" dirty="0" err="1"/>
                <a:t>Update</a:t>
              </a:r>
              <a:r>
                <a:rPr lang="es-MX" sz="900" dirty="0"/>
                <a:t> script”.</a:t>
              </a:r>
            </a:p>
            <a:p>
              <a:endParaRPr lang="es-MX" sz="900" dirty="0"/>
            </a:p>
            <a:p>
              <a:r>
                <a:rPr lang="es-MX" sz="900" b="1" dirty="0"/>
                <a:t>Descripción breve:</a:t>
              </a:r>
              <a:r>
                <a:rPr lang="es-MX" sz="900" dirty="0"/>
                <a:t> explica el motivo del cambio y su impacto.</a:t>
              </a:r>
            </a:p>
            <a:p>
              <a:r>
                <a:rPr lang="es-MX" sz="900" b="1" dirty="0"/>
                <a:t>Adjunta capturas o logs</a:t>
              </a:r>
              <a:r>
                <a:rPr lang="es-MX" sz="900" dirty="0"/>
                <a:t> si es visual o afecta a pipelines.</a:t>
              </a:r>
            </a:p>
            <a:p>
              <a:endParaRPr lang="es-MX" sz="900" b="1" dirty="0"/>
            </a:p>
            <a:p>
              <a:r>
                <a:rPr lang="es-MX" sz="900" b="1" dirty="0"/>
                <a:t>Incluye </a:t>
              </a:r>
              <a:r>
                <a:rPr lang="es-MX" sz="900" b="1" dirty="0" err="1"/>
                <a:t>checklist</a:t>
              </a:r>
              <a:r>
                <a:rPr lang="es-MX" sz="900" b="1" dirty="0"/>
                <a:t> </a:t>
              </a:r>
              <a:r>
                <a:rPr lang="es-MX" sz="900" dirty="0"/>
                <a:t>(</a:t>
              </a:r>
              <a:r>
                <a:rPr lang="es-MX" sz="900" dirty="0" err="1"/>
                <a:t>tests</a:t>
              </a:r>
              <a:r>
                <a:rPr lang="es-MX" sz="900" dirty="0"/>
                <a:t>, validaciones, documentación actualizada).</a:t>
              </a:r>
            </a:p>
            <a:p>
              <a:endParaRPr lang="es-MX" sz="900" dirty="0"/>
            </a:p>
            <a:p>
              <a:r>
                <a:rPr lang="es-MX" sz="900" b="1" dirty="0"/>
                <a:t>No más de 300-400 líneas de cambio:</a:t>
              </a:r>
              <a:r>
                <a:rPr lang="es-MX" sz="900" dirty="0"/>
                <a:t> </a:t>
              </a:r>
              <a:r>
                <a:rPr lang="es-MX" sz="900" dirty="0" err="1"/>
                <a:t>PRs</a:t>
              </a:r>
              <a:r>
                <a:rPr lang="es-MX" sz="900" dirty="0"/>
                <a:t> enormes ralentizan revisiones y CI.</a:t>
              </a:r>
            </a:p>
            <a:p>
              <a:endParaRPr lang="en-ID" sz="900" dirty="0"/>
            </a:p>
          </p:txBody>
        </p:sp>
      </p:grpSp>
      <p:pic>
        <p:nvPicPr>
          <p:cNvPr id="4" name="Imagen 3">
            <a:extLst>
              <a:ext uri="{FF2B5EF4-FFF2-40B4-BE49-F238E27FC236}">
                <a16:creationId xmlns:a16="http://schemas.microsoft.com/office/drawing/2014/main" id="{6245A9ED-C011-442F-ACC6-225F3C740798}"/>
              </a:ext>
            </a:extLst>
          </p:cNvPr>
          <p:cNvPicPr>
            <a:picLocks noChangeAspect="1"/>
          </p:cNvPicPr>
          <p:nvPr/>
        </p:nvPicPr>
        <p:blipFill>
          <a:blip r:embed="rId2"/>
          <a:stretch>
            <a:fillRect/>
          </a:stretch>
        </p:blipFill>
        <p:spPr>
          <a:xfrm>
            <a:off x="5106541" y="1417640"/>
            <a:ext cx="3555884" cy="2370589"/>
          </a:xfrm>
          <a:prstGeom prst="rect">
            <a:avLst/>
          </a:prstGeom>
        </p:spPr>
      </p:pic>
    </p:spTree>
    <p:extLst>
      <p:ext uri="{BB962C8B-B14F-4D97-AF65-F5344CB8AC3E}">
        <p14:creationId xmlns:p14="http://schemas.microsoft.com/office/powerpoint/2010/main" val="24630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1">
            <a:extLst>
              <a:ext uri="{FF2B5EF4-FFF2-40B4-BE49-F238E27FC236}">
                <a16:creationId xmlns:a16="http://schemas.microsoft.com/office/drawing/2014/main" id="{A6C636BB-E7D0-FE55-C2F5-FC57A88AB9F0}"/>
              </a:ext>
            </a:extLst>
          </p:cNvPr>
          <p:cNvSpPr txBox="1">
            <a:spLocks/>
          </p:cNvSpPr>
          <p:nvPr/>
        </p:nvSpPr>
        <p:spPr>
          <a:xfrm>
            <a:off x="666975" y="550472"/>
            <a:ext cx="5587828" cy="577171"/>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3200" dirty="0"/>
              <a:t>Uso de servidores Git</a:t>
            </a:r>
          </a:p>
        </p:txBody>
      </p:sp>
      <p:sp>
        <p:nvSpPr>
          <p:cNvPr id="9" name="Slide Number Placeholder 5">
            <a:extLst>
              <a:ext uri="{FF2B5EF4-FFF2-40B4-BE49-F238E27FC236}">
                <a16:creationId xmlns:a16="http://schemas.microsoft.com/office/drawing/2014/main" id="{7AA4D592-1C24-9678-675B-5592FEE70AED}"/>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47</a:t>
            </a:fld>
            <a:endParaRPr lang="es-MX" sz="700">
              <a:solidFill>
                <a:schemeClr val="tx1"/>
              </a:solidFill>
              <a:latin typeface="+mn-lt"/>
            </a:endParaRPr>
          </a:p>
        </p:txBody>
      </p:sp>
      <p:sp>
        <p:nvSpPr>
          <p:cNvPr id="10" name="Date Placeholder 3">
            <a:extLst>
              <a:ext uri="{FF2B5EF4-FFF2-40B4-BE49-F238E27FC236}">
                <a16:creationId xmlns:a16="http://schemas.microsoft.com/office/drawing/2014/main" id="{01B32BC8-1722-304F-0282-503A51C392A4}"/>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16" name="Footer Placeholder 4">
            <a:extLst>
              <a:ext uri="{FF2B5EF4-FFF2-40B4-BE49-F238E27FC236}">
                <a16:creationId xmlns:a16="http://schemas.microsoft.com/office/drawing/2014/main" id="{EAE13ECB-7911-B012-DA67-027E1A7CF8DF}"/>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solidFill>
                <a:latin typeface="+mn-lt"/>
              </a:rPr>
              <a:t>GIT</a:t>
            </a:r>
          </a:p>
        </p:txBody>
      </p:sp>
      <p:sp>
        <p:nvSpPr>
          <p:cNvPr id="24" name="Rectangle: Rounded Corners 19">
            <a:extLst>
              <a:ext uri="{FF2B5EF4-FFF2-40B4-BE49-F238E27FC236}">
                <a16:creationId xmlns:a16="http://schemas.microsoft.com/office/drawing/2014/main" id="{A9FD11FC-80EA-4AB3-8161-FB6BE1130C7B}"/>
              </a:ext>
            </a:extLst>
          </p:cNvPr>
          <p:cNvSpPr/>
          <p:nvPr/>
        </p:nvSpPr>
        <p:spPr>
          <a:xfrm>
            <a:off x="457761" y="1127643"/>
            <a:ext cx="4649020" cy="1141104"/>
          </a:xfrm>
          <a:prstGeom prst="roundRect">
            <a:avLst>
              <a:gd name="adj" fmla="val 15517"/>
            </a:avLst>
          </a:prstGeom>
          <a:gradFill flip="none" rotWithShape="1">
            <a:gsLst>
              <a:gs pos="0">
                <a:schemeClr val="tx1">
                  <a:alpha val="5000"/>
                </a:schemeClr>
              </a:gs>
              <a:gs pos="50500">
                <a:schemeClr val="accent2">
                  <a:alpha val="5000"/>
                </a:schemeClr>
              </a:gs>
              <a:gs pos="100000">
                <a:schemeClr val="tx1">
                  <a:alpha val="5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25" name="Oval 20">
            <a:extLst>
              <a:ext uri="{FF2B5EF4-FFF2-40B4-BE49-F238E27FC236}">
                <a16:creationId xmlns:a16="http://schemas.microsoft.com/office/drawing/2014/main" id="{4543655F-EEEF-47B1-86E0-897FA56412F4}"/>
              </a:ext>
            </a:extLst>
          </p:cNvPr>
          <p:cNvSpPr/>
          <p:nvPr/>
        </p:nvSpPr>
        <p:spPr>
          <a:xfrm>
            <a:off x="664191" y="1449703"/>
            <a:ext cx="510221" cy="510221"/>
          </a:xfrm>
          <a:prstGeom prst="ellipse">
            <a:avLst/>
          </a:prstGeom>
          <a:gradFill>
            <a:gsLst>
              <a:gs pos="0">
                <a:schemeClr val="accent1"/>
              </a:gs>
              <a:gs pos="100000">
                <a:schemeClr val="accent2"/>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grpSp>
        <p:nvGrpSpPr>
          <p:cNvPr id="26" name="Group 21">
            <a:extLst>
              <a:ext uri="{FF2B5EF4-FFF2-40B4-BE49-F238E27FC236}">
                <a16:creationId xmlns:a16="http://schemas.microsoft.com/office/drawing/2014/main" id="{79A9365C-2765-42F2-A9FC-9D06A8C1041E}"/>
              </a:ext>
            </a:extLst>
          </p:cNvPr>
          <p:cNvGrpSpPr/>
          <p:nvPr/>
        </p:nvGrpSpPr>
        <p:grpSpPr>
          <a:xfrm>
            <a:off x="1246025" y="1317469"/>
            <a:ext cx="4274881" cy="890528"/>
            <a:chOff x="1987550" y="4491298"/>
            <a:chExt cx="2024967" cy="1342642"/>
          </a:xfrm>
        </p:grpSpPr>
        <p:sp>
          <p:nvSpPr>
            <p:cNvPr id="27" name="TextBox 22">
              <a:extLst>
                <a:ext uri="{FF2B5EF4-FFF2-40B4-BE49-F238E27FC236}">
                  <a16:creationId xmlns:a16="http://schemas.microsoft.com/office/drawing/2014/main" id="{9771985A-0BFD-4D4B-B453-006C784658A0}"/>
                </a:ext>
              </a:extLst>
            </p:cNvPr>
            <p:cNvSpPr txBox="1"/>
            <p:nvPr/>
          </p:nvSpPr>
          <p:spPr>
            <a:xfrm>
              <a:off x="1987550" y="4491298"/>
              <a:ext cx="1828800" cy="696048"/>
            </a:xfrm>
            <a:prstGeom prst="rect">
              <a:avLst/>
            </a:prstGeom>
            <a:noFill/>
          </p:spPr>
          <p:txBody>
            <a:bodyPr wrap="square" rtlCol="0">
              <a:spAutoFit/>
            </a:bodyPr>
            <a:lstStyle/>
            <a:p>
              <a:r>
                <a:rPr lang="es-MX" sz="2400" dirty="0">
                  <a:ea typeface="Verdana" panose="020B0604030504040204" pitchFamily="34" charset="0"/>
                  <a:cs typeface="Verdana" panose="020B0604030504040204" pitchFamily="34" charset="0"/>
                </a:rPr>
                <a:t>¿Qué es un servidor Git?</a:t>
              </a:r>
            </a:p>
          </p:txBody>
        </p:sp>
        <p:sp>
          <p:nvSpPr>
            <p:cNvPr id="28" name="TextBox 23">
              <a:extLst>
                <a:ext uri="{FF2B5EF4-FFF2-40B4-BE49-F238E27FC236}">
                  <a16:creationId xmlns:a16="http://schemas.microsoft.com/office/drawing/2014/main" id="{04CDB232-9187-4B2E-9D40-CED831BA8F38}"/>
                </a:ext>
              </a:extLst>
            </p:cNvPr>
            <p:cNvSpPr txBox="1"/>
            <p:nvPr/>
          </p:nvSpPr>
          <p:spPr>
            <a:xfrm>
              <a:off x="1987550" y="5068287"/>
              <a:ext cx="2024967" cy="765653"/>
            </a:xfrm>
            <a:prstGeom prst="rect">
              <a:avLst/>
            </a:prstGeom>
            <a:noFill/>
          </p:spPr>
          <p:txBody>
            <a:bodyPr wrap="square" rtlCol="0">
              <a:spAutoFit/>
            </a:bodyPr>
            <a:lstStyle/>
            <a:p>
              <a:pPr marL="171450" indent="-171450">
                <a:buFont typeface="Arial" panose="020B0604020202020204" pitchFamily="34" charset="0"/>
                <a:buChar char="•"/>
              </a:pPr>
              <a:r>
                <a:rPr lang="es-MX" sz="900" dirty="0">
                  <a:ea typeface="Verdana" panose="020B0604030504040204" pitchFamily="34" charset="0"/>
                  <a:cs typeface="Verdana" panose="020B0604030504040204" pitchFamily="34" charset="0"/>
                </a:rPr>
                <a:t>Plataforma en la nube donde se alojan repositorios.</a:t>
              </a:r>
            </a:p>
            <a:p>
              <a:pPr marL="171450" indent="-171450">
                <a:buFont typeface="Arial" panose="020B0604020202020204" pitchFamily="34" charset="0"/>
                <a:buChar char="•"/>
              </a:pPr>
              <a:r>
                <a:rPr lang="es-MX" sz="900" dirty="0">
                  <a:ea typeface="Verdana" panose="020B0604030504040204" pitchFamily="34" charset="0"/>
                  <a:cs typeface="Verdana" panose="020B0604030504040204" pitchFamily="34" charset="0"/>
                </a:rPr>
                <a:t>Guarda una copia segura del proyecto</a:t>
              </a:r>
            </a:p>
            <a:p>
              <a:pPr marL="171450" indent="-171450">
                <a:buFont typeface="Arial" panose="020B0604020202020204" pitchFamily="34" charset="0"/>
                <a:buChar char="•"/>
              </a:pPr>
              <a:r>
                <a:rPr lang="es-MX" sz="900" dirty="0">
                  <a:ea typeface="Verdana" panose="020B0604030504040204" pitchFamily="34" charset="0"/>
                  <a:cs typeface="Verdana" panose="020B0604030504040204" pitchFamily="34" charset="0"/>
                </a:rPr>
                <a:t>Permite trabajo colaborativo</a:t>
              </a:r>
              <a:endParaRPr lang="en-ID" sz="900" dirty="0"/>
            </a:p>
          </p:txBody>
        </p:sp>
      </p:grpSp>
      <p:sp>
        <p:nvSpPr>
          <p:cNvPr id="34" name="Rectangle: Rounded Corners 19">
            <a:extLst>
              <a:ext uri="{FF2B5EF4-FFF2-40B4-BE49-F238E27FC236}">
                <a16:creationId xmlns:a16="http://schemas.microsoft.com/office/drawing/2014/main" id="{57DC27BF-3655-4043-BAD3-6395C8D618EF}"/>
              </a:ext>
            </a:extLst>
          </p:cNvPr>
          <p:cNvSpPr/>
          <p:nvPr/>
        </p:nvSpPr>
        <p:spPr>
          <a:xfrm>
            <a:off x="457761" y="2342288"/>
            <a:ext cx="4649020" cy="1248352"/>
          </a:xfrm>
          <a:prstGeom prst="roundRect">
            <a:avLst>
              <a:gd name="adj" fmla="val 15517"/>
            </a:avLst>
          </a:prstGeom>
          <a:gradFill flip="none" rotWithShape="1">
            <a:gsLst>
              <a:gs pos="0">
                <a:schemeClr val="tx1">
                  <a:alpha val="5000"/>
                </a:schemeClr>
              </a:gs>
              <a:gs pos="50500">
                <a:schemeClr val="accent2">
                  <a:alpha val="5000"/>
                </a:schemeClr>
              </a:gs>
              <a:gs pos="100000">
                <a:schemeClr val="tx1">
                  <a:alpha val="5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35" name="Oval 20">
            <a:extLst>
              <a:ext uri="{FF2B5EF4-FFF2-40B4-BE49-F238E27FC236}">
                <a16:creationId xmlns:a16="http://schemas.microsoft.com/office/drawing/2014/main" id="{2446EFD1-59B7-4052-A85E-4F8D35788236}"/>
              </a:ext>
            </a:extLst>
          </p:cNvPr>
          <p:cNvSpPr/>
          <p:nvPr/>
        </p:nvSpPr>
        <p:spPr>
          <a:xfrm>
            <a:off x="664191" y="2733356"/>
            <a:ext cx="510221" cy="510221"/>
          </a:xfrm>
          <a:prstGeom prst="ellipse">
            <a:avLst/>
          </a:prstGeom>
          <a:gradFill>
            <a:gsLst>
              <a:gs pos="0">
                <a:schemeClr val="accent1"/>
              </a:gs>
              <a:gs pos="100000">
                <a:schemeClr val="accent2"/>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grpSp>
        <p:nvGrpSpPr>
          <p:cNvPr id="36" name="Group 21">
            <a:extLst>
              <a:ext uri="{FF2B5EF4-FFF2-40B4-BE49-F238E27FC236}">
                <a16:creationId xmlns:a16="http://schemas.microsoft.com/office/drawing/2014/main" id="{15154A0D-871C-4783-A6C0-41E382476A20}"/>
              </a:ext>
            </a:extLst>
          </p:cNvPr>
          <p:cNvGrpSpPr/>
          <p:nvPr/>
        </p:nvGrpSpPr>
        <p:grpSpPr>
          <a:xfrm>
            <a:off x="1246025" y="2532115"/>
            <a:ext cx="4274881" cy="1029028"/>
            <a:chOff x="1987550" y="4491298"/>
            <a:chExt cx="2024967" cy="1551457"/>
          </a:xfrm>
        </p:grpSpPr>
        <p:sp>
          <p:nvSpPr>
            <p:cNvPr id="37" name="TextBox 22">
              <a:extLst>
                <a:ext uri="{FF2B5EF4-FFF2-40B4-BE49-F238E27FC236}">
                  <a16:creationId xmlns:a16="http://schemas.microsoft.com/office/drawing/2014/main" id="{96B20F2E-0655-4D58-AE47-A3F826B011BC}"/>
                </a:ext>
              </a:extLst>
            </p:cNvPr>
            <p:cNvSpPr txBox="1"/>
            <p:nvPr/>
          </p:nvSpPr>
          <p:spPr>
            <a:xfrm>
              <a:off x="1987550" y="4491298"/>
              <a:ext cx="1828800" cy="696048"/>
            </a:xfrm>
            <a:prstGeom prst="rect">
              <a:avLst/>
            </a:prstGeom>
            <a:noFill/>
          </p:spPr>
          <p:txBody>
            <a:bodyPr wrap="square" rtlCol="0">
              <a:spAutoFit/>
            </a:bodyPr>
            <a:lstStyle/>
            <a:p>
              <a:r>
                <a:rPr lang="es-MX" sz="2400" dirty="0">
                  <a:ea typeface="Verdana" panose="020B0604030504040204" pitchFamily="34" charset="0"/>
                  <a:cs typeface="Verdana" panose="020B0604030504040204" pitchFamily="34" charset="0"/>
                </a:rPr>
                <a:t>¿Para qué se usan?</a:t>
              </a:r>
            </a:p>
          </p:txBody>
        </p:sp>
        <p:sp>
          <p:nvSpPr>
            <p:cNvPr id="48" name="TextBox 23">
              <a:extLst>
                <a:ext uri="{FF2B5EF4-FFF2-40B4-BE49-F238E27FC236}">
                  <a16:creationId xmlns:a16="http://schemas.microsoft.com/office/drawing/2014/main" id="{9FFA438B-D03F-4C96-B59F-B4F0D9834695}"/>
                </a:ext>
              </a:extLst>
            </p:cNvPr>
            <p:cNvSpPr txBox="1"/>
            <p:nvPr/>
          </p:nvSpPr>
          <p:spPr>
            <a:xfrm>
              <a:off x="1987550" y="5068287"/>
              <a:ext cx="2024967" cy="974468"/>
            </a:xfrm>
            <a:prstGeom prst="rect">
              <a:avLst/>
            </a:prstGeom>
            <a:noFill/>
          </p:spPr>
          <p:txBody>
            <a:bodyPr wrap="square" rtlCol="0">
              <a:spAutoFit/>
            </a:bodyPr>
            <a:lstStyle/>
            <a:p>
              <a:pPr marL="171450" indent="-171450">
                <a:buFont typeface="Arial" panose="020B0604020202020204" pitchFamily="34" charset="0"/>
                <a:buChar char="•"/>
              </a:pPr>
              <a:r>
                <a:rPr lang="es-MX" sz="900" dirty="0">
                  <a:ea typeface="Verdana" panose="020B0604030504040204" pitchFamily="34" charset="0"/>
                  <a:cs typeface="Verdana" panose="020B0604030504040204" pitchFamily="34" charset="0"/>
                </a:rPr>
                <a:t>Respaldo del código</a:t>
              </a:r>
            </a:p>
            <a:p>
              <a:pPr marL="171450" indent="-171450">
                <a:buFont typeface="Arial" panose="020B0604020202020204" pitchFamily="34" charset="0"/>
                <a:buChar char="•"/>
              </a:pPr>
              <a:r>
                <a:rPr lang="es-MX" sz="900" dirty="0">
                  <a:ea typeface="Verdana" panose="020B0604030504040204" pitchFamily="34" charset="0"/>
                  <a:cs typeface="Verdana" panose="020B0604030504040204" pitchFamily="34" charset="0"/>
                </a:rPr>
                <a:t>Compartir proyectos</a:t>
              </a:r>
            </a:p>
            <a:p>
              <a:pPr marL="171450" indent="-171450">
                <a:buFont typeface="Arial" panose="020B0604020202020204" pitchFamily="34" charset="0"/>
                <a:buChar char="•"/>
              </a:pPr>
              <a:r>
                <a:rPr lang="es-MX" sz="900" dirty="0">
                  <a:ea typeface="Verdana" panose="020B0604030504040204" pitchFamily="34" charset="0"/>
                  <a:cs typeface="Verdana" panose="020B0604030504040204" pitchFamily="34" charset="0"/>
                </a:rPr>
                <a:t>Trabajo en equipo</a:t>
              </a:r>
            </a:p>
            <a:p>
              <a:pPr marL="171450" indent="-171450">
                <a:buFont typeface="Arial" panose="020B0604020202020204" pitchFamily="34" charset="0"/>
                <a:buChar char="•"/>
              </a:pPr>
              <a:r>
                <a:rPr lang="es-MX" sz="900" dirty="0">
                  <a:ea typeface="Verdana" panose="020B0604030504040204" pitchFamily="34" charset="0"/>
                  <a:cs typeface="Verdana" panose="020B0604030504040204" pitchFamily="34" charset="0"/>
                </a:rPr>
                <a:t>Control de cambios</a:t>
              </a:r>
              <a:endParaRPr lang="en-ID" sz="900" dirty="0"/>
            </a:p>
          </p:txBody>
        </p:sp>
      </p:grpSp>
      <p:sp>
        <p:nvSpPr>
          <p:cNvPr id="49" name="Rectangle: Rounded Corners 19">
            <a:extLst>
              <a:ext uri="{FF2B5EF4-FFF2-40B4-BE49-F238E27FC236}">
                <a16:creationId xmlns:a16="http://schemas.microsoft.com/office/drawing/2014/main" id="{FAB15336-32CA-468C-8912-2BDB637A6D50}"/>
              </a:ext>
            </a:extLst>
          </p:cNvPr>
          <p:cNvSpPr/>
          <p:nvPr/>
        </p:nvSpPr>
        <p:spPr>
          <a:xfrm>
            <a:off x="457760" y="3666153"/>
            <a:ext cx="4649020" cy="1141104"/>
          </a:xfrm>
          <a:prstGeom prst="roundRect">
            <a:avLst>
              <a:gd name="adj" fmla="val 15517"/>
            </a:avLst>
          </a:prstGeom>
          <a:gradFill flip="none" rotWithShape="1">
            <a:gsLst>
              <a:gs pos="0">
                <a:schemeClr val="tx1">
                  <a:alpha val="5000"/>
                </a:schemeClr>
              </a:gs>
              <a:gs pos="50500">
                <a:schemeClr val="accent2">
                  <a:alpha val="5000"/>
                </a:schemeClr>
              </a:gs>
              <a:gs pos="100000">
                <a:schemeClr val="tx1">
                  <a:alpha val="5000"/>
                </a:schemeClr>
              </a:gs>
            </a:gsLst>
            <a:path path="circle">
              <a:fillToRect l="100000" t="100000"/>
            </a:path>
            <a:tileRect r="-100000" b="-100000"/>
          </a:gradFill>
          <a:ln>
            <a:gradFill>
              <a:gsLst>
                <a:gs pos="0">
                  <a:schemeClr val="bg1">
                    <a:alpha val="12000"/>
                  </a:schemeClr>
                </a:gs>
                <a:gs pos="50500">
                  <a:schemeClr val="bg1">
                    <a:alpha val="0"/>
                  </a:schemeClr>
                </a:gs>
                <a:gs pos="100000">
                  <a:schemeClr val="bg1">
                    <a:alpha val="35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700"/>
          </a:p>
        </p:txBody>
      </p:sp>
      <p:sp>
        <p:nvSpPr>
          <p:cNvPr id="50" name="Oval 20">
            <a:extLst>
              <a:ext uri="{FF2B5EF4-FFF2-40B4-BE49-F238E27FC236}">
                <a16:creationId xmlns:a16="http://schemas.microsoft.com/office/drawing/2014/main" id="{93B7C785-54BB-4782-ACFA-72CB5D233BD8}"/>
              </a:ext>
            </a:extLst>
          </p:cNvPr>
          <p:cNvSpPr/>
          <p:nvPr/>
        </p:nvSpPr>
        <p:spPr>
          <a:xfrm>
            <a:off x="664190" y="3988213"/>
            <a:ext cx="510221" cy="510221"/>
          </a:xfrm>
          <a:prstGeom prst="ellipse">
            <a:avLst/>
          </a:prstGeom>
          <a:gradFill>
            <a:gsLst>
              <a:gs pos="0">
                <a:schemeClr val="accent1"/>
              </a:gs>
              <a:gs pos="100000">
                <a:schemeClr val="accent2"/>
              </a:gs>
            </a:gsLst>
            <a:path path="circle">
              <a:fillToRect l="100000" t="100000"/>
            </a:path>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D" sz="1050"/>
          </a:p>
        </p:txBody>
      </p:sp>
      <p:grpSp>
        <p:nvGrpSpPr>
          <p:cNvPr id="51" name="Group 21">
            <a:extLst>
              <a:ext uri="{FF2B5EF4-FFF2-40B4-BE49-F238E27FC236}">
                <a16:creationId xmlns:a16="http://schemas.microsoft.com/office/drawing/2014/main" id="{3BBFC095-43E2-4497-A152-385C9BFCA73D}"/>
              </a:ext>
            </a:extLst>
          </p:cNvPr>
          <p:cNvGrpSpPr/>
          <p:nvPr/>
        </p:nvGrpSpPr>
        <p:grpSpPr>
          <a:xfrm>
            <a:off x="1246024" y="3855979"/>
            <a:ext cx="4274881" cy="890528"/>
            <a:chOff x="1987550" y="4491298"/>
            <a:chExt cx="2024967" cy="1342642"/>
          </a:xfrm>
        </p:grpSpPr>
        <p:sp>
          <p:nvSpPr>
            <p:cNvPr id="52" name="TextBox 22">
              <a:extLst>
                <a:ext uri="{FF2B5EF4-FFF2-40B4-BE49-F238E27FC236}">
                  <a16:creationId xmlns:a16="http://schemas.microsoft.com/office/drawing/2014/main" id="{E63967D2-76B5-4484-9CB8-2562BCD8CA8A}"/>
                </a:ext>
              </a:extLst>
            </p:cNvPr>
            <p:cNvSpPr txBox="1"/>
            <p:nvPr/>
          </p:nvSpPr>
          <p:spPr>
            <a:xfrm>
              <a:off x="1987550" y="4491298"/>
              <a:ext cx="1926584" cy="696049"/>
            </a:xfrm>
            <a:prstGeom prst="rect">
              <a:avLst/>
            </a:prstGeom>
            <a:noFill/>
          </p:spPr>
          <p:txBody>
            <a:bodyPr wrap="square" rtlCol="0">
              <a:spAutoFit/>
            </a:bodyPr>
            <a:lstStyle/>
            <a:p>
              <a:r>
                <a:rPr lang="es-MX" sz="2400" dirty="0">
                  <a:ea typeface="Verdana" panose="020B0604030504040204" pitchFamily="34" charset="0"/>
                  <a:cs typeface="Verdana" panose="020B0604030504040204" pitchFamily="34" charset="0"/>
                </a:rPr>
                <a:t>Ejemplos servidores Git</a:t>
              </a:r>
            </a:p>
          </p:txBody>
        </p:sp>
        <p:sp>
          <p:nvSpPr>
            <p:cNvPr id="53" name="TextBox 23">
              <a:extLst>
                <a:ext uri="{FF2B5EF4-FFF2-40B4-BE49-F238E27FC236}">
                  <a16:creationId xmlns:a16="http://schemas.microsoft.com/office/drawing/2014/main" id="{96DF0199-E4A0-4EA5-9E77-453FE9641CF7}"/>
                </a:ext>
              </a:extLst>
            </p:cNvPr>
            <p:cNvSpPr txBox="1"/>
            <p:nvPr/>
          </p:nvSpPr>
          <p:spPr>
            <a:xfrm>
              <a:off x="1987550" y="5068287"/>
              <a:ext cx="2024967" cy="765653"/>
            </a:xfrm>
            <a:prstGeom prst="rect">
              <a:avLst/>
            </a:prstGeom>
            <a:noFill/>
          </p:spPr>
          <p:txBody>
            <a:bodyPr wrap="square" rtlCol="0">
              <a:spAutoFit/>
            </a:bodyPr>
            <a:lstStyle/>
            <a:p>
              <a:pPr>
                <a:buFont typeface="Arial" panose="020B0604020202020204" pitchFamily="34" charset="0"/>
                <a:buChar char="•"/>
              </a:pPr>
              <a:r>
                <a:rPr lang="es-MX" sz="900" dirty="0"/>
                <a:t>GitHub</a:t>
              </a:r>
            </a:p>
            <a:p>
              <a:pPr>
                <a:buFont typeface="Arial" panose="020B0604020202020204" pitchFamily="34" charset="0"/>
                <a:buChar char="•"/>
              </a:pPr>
              <a:r>
                <a:rPr lang="es-MX" sz="900" dirty="0" err="1"/>
                <a:t>GitLab</a:t>
              </a:r>
              <a:endParaRPr lang="es-MX" sz="900" dirty="0"/>
            </a:p>
            <a:p>
              <a:pPr>
                <a:buFont typeface="Arial" panose="020B0604020202020204" pitchFamily="34" charset="0"/>
                <a:buChar char="•"/>
              </a:pPr>
              <a:r>
                <a:rPr lang="es-MX" sz="900" dirty="0" err="1"/>
                <a:t>Bitbucket</a:t>
              </a:r>
              <a:endParaRPr lang="es-MX" sz="900" dirty="0"/>
            </a:p>
          </p:txBody>
        </p:sp>
      </p:grpSp>
      <p:pic>
        <p:nvPicPr>
          <p:cNvPr id="6" name="Imagen 5">
            <a:extLst>
              <a:ext uri="{FF2B5EF4-FFF2-40B4-BE49-F238E27FC236}">
                <a16:creationId xmlns:a16="http://schemas.microsoft.com/office/drawing/2014/main" id="{5B51E65F-98A3-47FD-8D54-4C8EB9AD72D8}"/>
              </a:ext>
            </a:extLst>
          </p:cNvPr>
          <p:cNvPicPr>
            <a:picLocks noChangeAspect="1"/>
          </p:cNvPicPr>
          <p:nvPr/>
        </p:nvPicPr>
        <p:blipFill>
          <a:blip r:embed="rId2"/>
          <a:stretch>
            <a:fillRect/>
          </a:stretch>
        </p:blipFill>
        <p:spPr>
          <a:xfrm>
            <a:off x="5178393" y="1892419"/>
            <a:ext cx="3449192" cy="1940943"/>
          </a:xfrm>
          <a:prstGeom prst="rect">
            <a:avLst/>
          </a:prstGeom>
        </p:spPr>
      </p:pic>
    </p:spTree>
    <p:extLst>
      <p:ext uri="{BB962C8B-B14F-4D97-AF65-F5344CB8AC3E}">
        <p14:creationId xmlns:p14="http://schemas.microsoft.com/office/powerpoint/2010/main" val="4003840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D6EF7-3B99-B17E-381C-22CD801B3900}"/>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4534F845-9EBA-D061-28D0-33B33A6A844B}"/>
              </a:ext>
            </a:extLst>
          </p:cNvPr>
          <p:cNvSpPr txBox="1"/>
          <p:nvPr/>
        </p:nvSpPr>
        <p:spPr>
          <a:xfrm>
            <a:off x="528320" y="1203817"/>
            <a:ext cx="8280399" cy="3477875"/>
          </a:xfrm>
          <a:prstGeom prst="rect">
            <a:avLst/>
          </a:prstGeom>
          <a:noFill/>
        </p:spPr>
        <p:txBody>
          <a:bodyPr wrap="square" rtlCol="0">
            <a:spAutoFit/>
          </a:bodyPr>
          <a:lstStyle/>
          <a:p>
            <a:pPr marL="285750" indent="-285750">
              <a:buFont typeface="Arial" panose="020B0604020202020204" pitchFamily="34" charset="0"/>
              <a:buChar char="•"/>
            </a:pPr>
            <a:r>
              <a:rPr lang="es-MX" dirty="0"/>
              <a:t>git remote add origin &lt;url&gt;</a:t>
            </a:r>
            <a:r>
              <a:rPr lang="es-MX" b="1" dirty="0"/>
              <a:t>:</a:t>
            </a:r>
            <a:r>
              <a:rPr lang="es-MX" dirty="0"/>
              <a:t> Conecta tu repositorio local con un repositorio remoto. Por convención, la conexión principal se llama origin.</a:t>
            </a:r>
          </a:p>
          <a:p>
            <a:pPr marL="285750" indent="-285750">
              <a:buFont typeface="Arial" panose="020B0604020202020204" pitchFamily="34" charset="0"/>
              <a:buChar char="•"/>
            </a:pPr>
            <a:r>
              <a:rPr lang="es-MX" dirty="0"/>
              <a:t>git remote -v</a:t>
            </a:r>
            <a:r>
              <a:rPr lang="es-MX" b="1" dirty="0"/>
              <a:t>:</a:t>
            </a:r>
            <a:r>
              <a:rPr lang="es-MX" dirty="0"/>
              <a:t> Lista las conexiones remotas configuradas (fetch y push).</a:t>
            </a:r>
          </a:p>
          <a:p>
            <a:pPr marL="285750" indent="-285750">
              <a:buFont typeface="Arial" panose="020B0604020202020204" pitchFamily="34" charset="0"/>
              <a:buChar char="•"/>
            </a:pPr>
            <a:endParaRPr lang="es-MX" dirty="0"/>
          </a:p>
          <a:p>
            <a:r>
              <a:rPr lang="es-MX" sz="1600" b="1" dirty="0"/>
              <a:t>Ejemplo Práctico (requiere cuenta en GitHub):</a:t>
            </a:r>
            <a:endParaRPr lang="es-MX" sz="1600" dirty="0"/>
          </a:p>
          <a:p>
            <a:pPr marL="800100" lvl="1" indent="-342900">
              <a:buFont typeface="+mj-lt"/>
              <a:buAutoNum type="arabicPeriod"/>
            </a:pPr>
            <a:r>
              <a:rPr lang="es-MX" sz="1600" dirty="0"/>
              <a:t>Ir a GitHub y crear un nuevo repositorio vacío (sin README, sin .gitignore).</a:t>
            </a:r>
          </a:p>
          <a:p>
            <a:pPr marL="800100" lvl="1" indent="-342900">
              <a:buFont typeface="+mj-lt"/>
              <a:buAutoNum type="arabicPeriod"/>
            </a:pPr>
            <a:r>
              <a:rPr lang="es-MX" sz="1600" dirty="0"/>
              <a:t>Copiar la URL del repositorio (ej: https://github.com/tu_usuario/ProyectoRecetas.git).</a:t>
            </a:r>
          </a:p>
          <a:p>
            <a:pPr marL="800100" lvl="1" indent="-342900">
              <a:buFont typeface="+mj-lt"/>
              <a:buAutoNum type="arabicPeriod"/>
            </a:pPr>
            <a:r>
              <a:rPr lang="es-MX" sz="1600" dirty="0"/>
              <a:t>En la terminal local, ejecutar: git remote add origin https://github.com/tu_usuario/ProyectoRecetas.git</a:t>
            </a:r>
          </a:p>
          <a:p>
            <a:pPr marL="800100" lvl="1" indent="-342900">
              <a:buFont typeface="+mj-lt"/>
              <a:buAutoNum type="arabicPeriod"/>
            </a:pPr>
            <a:r>
              <a:rPr lang="es-MX" sz="1600" dirty="0"/>
              <a:t>Verificar: git remote -v</a:t>
            </a:r>
          </a:p>
        </p:txBody>
      </p:sp>
      <p:sp>
        <p:nvSpPr>
          <p:cNvPr id="6" name="Título 1">
            <a:extLst>
              <a:ext uri="{FF2B5EF4-FFF2-40B4-BE49-F238E27FC236}">
                <a16:creationId xmlns:a16="http://schemas.microsoft.com/office/drawing/2014/main" id="{A98A8257-896A-565C-D94D-B55FEDDF9934}"/>
              </a:ext>
            </a:extLst>
          </p:cNvPr>
          <p:cNvSpPr txBox="1">
            <a:spLocks/>
          </p:cNvSpPr>
          <p:nvPr/>
        </p:nvSpPr>
        <p:spPr>
          <a:xfrm>
            <a:off x="924560" y="524951"/>
            <a:ext cx="7097125" cy="557520"/>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dirty="0"/>
              <a:t>Conectando con un Remoto</a:t>
            </a:r>
            <a:endParaRPr lang="es-MX" sz="2400" dirty="0">
              <a:cs typeface="Verdana" panose="020B0604030504040204" pitchFamily="34" charset="0"/>
            </a:endParaRPr>
          </a:p>
        </p:txBody>
      </p:sp>
      <p:sp>
        <p:nvSpPr>
          <p:cNvPr id="7" name="Slide Number Placeholder 5">
            <a:extLst>
              <a:ext uri="{FF2B5EF4-FFF2-40B4-BE49-F238E27FC236}">
                <a16:creationId xmlns:a16="http://schemas.microsoft.com/office/drawing/2014/main" id="{391CE36E-C2BC-5976-87D7-1589D90A87D9}"/>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48</a:t>
            </a:fld>
            <a:endParaRPr lang="es-MX" sz="700">
              <a:solidFill>
                <a:schemeClr val="tx1"/>
              </a:solidFill>
              <a:latin typeface="+mn-lt"/>
            </a:endParaRPr>
          </a:p>
        </p:txBody>
      </p:sp>
      <p:sp>
        <p:nvSpPr>
          <p:cNvPr id="8" name="Date Placeholder 3">
            <a:extLst>
              <a:ext uri="{FF2B5EF4-FFF2-40B4-BE49-F238E27FC236}">
                <a16:creationId xmlns:a16="http://schemas.microsoft.com/office/drawing/2014/main" id="{942B2A76-7BE7-0B6F-874E-AEC978B74E46}"/>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2" name="Footer Placeholder 4">
            <a:extLst>
              <a:ext uri="{FF2B5EF4-FFF2-40B4-BE49-F238E27FC236}">
                <a16:creationId xmlns:a16="http://schemas.microsoft.com/office/drawing/2014/main" id="{3695BDD7-0EE0-42EE-4C21-CF34D4F80847}"/>
              </a:ext>
            </a:extLst>
          </p:cNvPr>
          <p:cNvSpPr txBox="1">
            <a:spLocks/>
          </p:cNvSpPr>
          <p:nvPr/>
        </p:nvSpPr>
        <p:spPr>
          <a:xfrm>
            <a:off x="5299514" y="4620137"/>
            <a:ext cx="3047291"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a:solidFill>
                  <a:schemeClr val="tx1"/>
                </a:solidFill>
                <a:latin typeface="+mn-lt"/>
              </a:rPr>
              <a:t>[TÍTULO DE LA PRESENTACIÓN]</a:t>
            </a:r>
          </a:p>
        </p:txBody>
      </p:sp>
      <p:pic>
        <p:nvPicPr>
          <p:cNvPr id="3" name="Imagen 2" descr="Git - Wikipedia, la enciclopedia libre">
            <a:extLst>
              <a:ext uri="{FF2B5EF4-FFF2-40B4-BE49-F238E27FC236}">
                <a16:creationId xmlns:a16="http://schemas.microsoft.com/office/drawing/2014/main" id="{3E2D7130-D334-22FB-BB83-987E901A03CA}"/>
              </a:ext>
            </a:extLst>
          </p:cNvPr>
          <p:cNvPicPr>
            <a:picLocks noChangeAspect="1"/>
          </p:cNvPicPr>
          <p:nvPr/>
        </p:nvPicPr>
        <p:blipFill>
          <a:blip r:embed="rId3"/>
          <a:stretch>
            <a:fillRect/>
          </a:stretch>
        </p:blipFill>
        <p:spPr>
          <a:xfrm>
            <a:off x="8141103" y="482389"/>
            <a:ext cx="647297" cy="267847"/>
          </a:xfrm>
          <a:prstGeom prst="rect">
            <a:avLst/>
          </a:prstGeom>
        </p:spPr>
      </p:pic>
    </p:spTree>
    <p:extLst>
      <p:ext uri="{BB962C8B-B14F-4D97-AF65-F5344CB8AC3E}">
        <p14:creationId xmlns:p14="http://schemas.microsoft.com/office/powerpoint/2010/main" val="23944091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49</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dirty="0">
                <a:ea typeface="Vita Std ExLt" pitchFamily="2" charset="77"/>
                <a:cs typeface="Verdana" panose="020B0604030504040204" pitchFamily="34" charset="0"/>
              </a:rPr>
              <a:t>Repositorio remotos.</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sp>
        <p:nvSpPr>
          <p:cNvPr id="13" name="Rectángulo 12"/>
          <p:cNvSpPr/>
          <p:nvPr/>
        </p:nvSpPr>
        <p:spPr>
          <a:xfrm>
            <a:off x="453965" y="1263111"/>
            <a:ext cx="3124573" cy="615553"/>
          </a:xfrm>
          <a:prstGeom prst="rect">
            <a:avLst/>
          </a:prstGeom>
        </p:spPr>
        <p:txBody>
          <a:bodyPr wrap="none">
            <a:spAutoFit/>
          </a:bodyPr>
          <a:lstStyle/>
          <a:p>
            <a:r>
              <a:rPr lang="es-MX" sz="1200" dirty="0"/>
              <a:t>1. Crear una carpeta para el proyecto.</a:t>
            </a:r>
          </a:p>
          <a:p>
            <a:pPr marL="171450" indent="-171450">
              <a:buFont typeface="Wingdings" panose="05000000000000000000" pitchFamily="2" charset="2"/>
              <a:buChar char="ü"/>
            </a:pPr>
            <a:r>
              <a:rPr lang="es-MX" sz="1100" dirty="0">
                <a:latin typeface="Consolas" panose="020B0609020204030204" pitchFamily="49" charset="0"/>
              </a:rPr>
              <a:t>  </a:t>
            </a:r>
            <a:r>
              <a:rPr lang="es-MX" sz="1100" dirty="0" err="1">
                <a:latin typeface="Consolas" panose="020B0609020204030204" pitchFamily="49" charset="0"/>
              </a:rPr>
              <a:t>mkdir</a:t>
            </a:r>
            <a:r>
              <a:rPr lang="es-MX" sz="1100" dirty="0">
                <a:latin typeface="Consolas" panose="020B0609020204030204" pitchFamily="49" charset="0"/>
              </a:rPr>
              <a:t> mi-proyecto</a:t>
            </a:r>
          </a:p>
          <a:p>
            <a:pPr marL="171450" indent="-171450">
              <a:buFont typeface="Wingdings" panose="05000000000000000000" pitchFamily="2" charset="2"/>
              <a:buChar char="ü"/>
            </a:pPr>
            <a:r>
              <a:rPr lang="es-MX" sz="1100" dirty="0">
                <a:latin typeface="Consolas" panose="020B0609020204030204" pitchFamily="49" charset="0"/>
              </a:rPr>
              <a:t>  cd mi-proyecto</a:t>
            </a:r>
          </a:p>
        </p:txBody>
      </p:sp>
      <p:sp>
        <p:nvSpPr>
          <p:cNvPr id="14" name="Rectángulo 13"/>
          <p:cNvSpPr/>
          <p:nvPr/>
        </p:nvSpPr>
        <p:spPr>
          <a:xfrm>
            <a:off x="453965" y="2003046"/>
            <a:ext cx="2294218" cy="446276"/>
          </a:xfrm>
          <a:prstGeom prst="rect">
            <a:avLst/>
          </a:prstGeom>
        </p:spPr>
        <p:txBody>
          <a:bodyPr wrap="none">
            <a:spAutoFit/>
          </a:bodyPr>
          <a:lstStyle/>
          <a:p>
            <a:r>
              <a:rPr lang="es-MX" sz="1200" dirty="0"/>
              <a:t>2. Inicializar el repositorio </a:t>
            </a:r>
            <a:r>
              <a:rPr lang="es-MX" sz="1200" dirty="0" err="1"/>
              <a:t>git</a:t>
            </a:r>
            <a:r>
              <a:rPr lang="es-MX" sz="1200" dirty="0"/>
              <a:t>.</a:t>
            </a:r>
          </a:p>
          <a:p>
            <a:pPr marL="228600" indent="-228600">
              <a:buFont typeface="Wingdings" panose="05000000000000000000" pitchFamily="2" charset="2"/>
              <a:buChar char="ü"/>
            </a:pPr>
            <a:r>
              <a:rPr lang="es-MX" sz="1100" dirty="0" err="1">
                <a:latin typeface="Consolas" panose="020B0609020204030204" pitchFamily="49" charset="0"/>
              </a:rPr>
              <a:t>git</a:t>
            </a:r>
            <a:r>
              <a:rPr lang="es-MX" sz="1100" dirty="0">
                <a:latin typeface="Consolas" panose="020B0609020204030204" pitchFamily="49" charset="0"/>
              </a:rPr>
              <a:t> </a:t>
            </a:r>
            <a:r>
              <a:rPr lang="es-MX" sz="1100" dirty="0" err="1">
                <a:latin typeface="Consolas" panose="020B0609020204030204" pitchFamily="49" charset="0"/>
              </a:rPr>
              <a:t>init</a:t>
            </a:r>
            <a:endParaRPr lang="es-MX" sz="1100" dirty="0">
              <a:latin typeface="Consolas" panose="020B0609020204030204" pitchFamily="49" charset="0"/>
            </a:endParaRPr>
          </a:p>
        </p:txBody>
      </p:sp>
      <p:sp>
        <p:nvSpPr>
          <p:cNvPr id="15" name="Rectángulo 14"/>
          <p:cNvSpPr/>
          <p:nvPr/>
        </p:nvSpPr>
        <p:spPr>
          <a:xfrm>
            <a:off x="453965" y="2578050"/>
            <a:ext cx="2877711" cy="446276"/>
          </a:xfrm>
          <a:prstGeom prst="rect">
            <a:avLst/>
          </a:prstGeom>
        </p:spPr>
        <p:txBody>
          <a:bodyPr wrap="none">
            <a:spAutoFit/>
          </a:bodyPr>
          <a:lstStyle/>
          <a:p>
            <a:r>
              <a:rPr lang="es-MX" sz="1200" dirty="0"/>
              <a:t>3. Crear un archivo de ejemplo.</a:t>
            </a:r>
          </a:p>
          <a:p>
            <a:pPr marL="228600" indent="-228600">
              <a:buFont typeface="Wingdings" panose="05000000000000000000" pitchFamily="2" charset="2"/>
              <a:buChar char="ü"/>
            </a:pPr>
            <a:r>
              <a:rPr lang="es-MX" sz="1100" dirty="0">
                <a:latin typeface="Consolas" panose="020B0609020204030204" pitchFamily="49" charset="0"/>
              </a:rPr>
              <a:t>echo "# Mi Proyecto" &gt; README.md</a:t>
            </a:r>
          </a:p>
        </p:txBody>
      </p:sp>
      <p:sp>
        <p:nvSpPr>
          <p:cNvPr id="17" name="Rectángulo 16"/>
          <p:cNvSpPr/>
          <p:nvPr/>
        </p:nvSpPr>
        <p:spPr>
          <a:xfrm>
            <a:off x="453965" y="3164097"/>
            <a:ext cx="3028393" cy="646331"/>
          </a:xfrm>
          <a:prstGeom prst="rect">
            <a:avLst/>
          </a:prstGeom>
        </p:spPr>
        <p:txBody>
          <a:bodyPr wrap="none">
            <a:spAutoFit/>
          </a:bodyPr>
          <a:lstStyle/>
          <a:p>
            <a:r>
              <a:rPr lang="es-MX" sz="1200" dirty="0"/>
              <a:t>4. Agregar el archivo y hacer </a:t>
            </a:r>
            <a:r>
              <a:rPr lang="es-MX" sz="1200" dirty="0" err="1"/>
              <a:t>commit</a:t>
            </a:r>
            <a:r>
              <a:rPr lang="es-MX" sz="1200" dirty="0"/>
              <a:t>.</a:t>
            </a:r>
          </a:p>
          <a:p>
            <a:pPr marL="171450" indent="-171450">
              <a:buFont typeface="Wingdings" panose="05000000000000000000" pitchFamily="2" charset="2"/>
              <a:buChar char="ü"/>
            </a:pPr>
            <a:r>
              <a:rPr lang="es-MX" sz="1200" dirty="0" err="1"/>
              <a:t>git</a:t>
            </a:r>
            <a:r>
              <a:rPr lang="es-MX" sz="1200" dirty="0"/>
              <a:t> </a:t>
            </a:r>
            <a:r>
              <a:rPr lang="es-MX" sz="1200" dirty="0" err="1"/>
              <a:t>add</a:t>
            </a:r>
            <a:r>
              <a:rPr lang="es-MX" sz="1200" dirty="0"/>
              <a:t> .</a:t>
            </a:r>
          </a:p>
          <a:p>
            <a:pPr marL="171450" indent="-171450">
              <a:buFont typeface="Wingdings" panose="05000000000000000000" pitchFamily="2" charset="2"/>
              <a:buChar char="ü"/>
            </a:pPr>
            <a:r>
              <a:rPr lang="es-MX" sz="1200" dirty="0" err="1"/>
              <a:t>git</a:t>
            </a:r>
            <a:r>
              <a:rPr lang="es-MX" sz="1200" dirty="0"/>
              <a:t> </a:t>
            </a:r>
            <a:r>
              <a:rPr lang="es-MX" sz="1200" dirty="0" err="1"/>
              <a:t>commit</a:t>
            </a:r>
            <a:r>
              <a:rPr lang="es-MX" sz="1200" dirty="0"/>
              <a:t> -m "Primer </a:t>
            </a:r>
            <a:r>
              <a:rPr lang="es-MX" sz="1200" dirty="0" err="1"/>
              <a:t>commit</a:t>
            </a:r>
            <a:r>
              <a:rPr lang="es-MX" sz="1200" dirty="0"/>
              <a:t>"</a:t>
            </a:r>
          </a:p>
        </p:txBody>
      </p:sp>
      <p:sp>
        <p:nvSpPr>
          <p:cNvPr id="18" name="Rectángulo 17"/>
          <p:cNvSpPr/>
          <p:nvPr/>
        </p:nvSpPr>
        <p:spPr>
          <a:xfrm>
            <a:off x="453965" y="3919421"/>
            <a:ext cx="3435556" cy="446276"/>
          </a:xfrm>
          <a:prstGeom prst="rect">
            <a:avLst/>
          </a:prstGeom>
        </p:spPr>
        <p:txBody>
          <a:bodyPr wrap="none">
            <a:spAutoFit/>
          </a:bodyPr>
          <a:lstStyle/>
          <a:p>
            <a:r>
              <a:rPr lang="es-MX" sz="1200" dirty="0"/>
              <a:t>5. Crear repositorio remoto.</a:t>
            </a:r>
          </a:p>
          <a:p>
            <a:pPr marL="171450" indent="-171450">
              <a:buFont typeface="Wingdings" panose="05000000000000000000" pitchFamily="2" charset="2"/>
              <a:buChar char="ü"/>
            </a:pPr>
            <a:r>
              <a:rPr lang="es-MX" sz="1100" dirty="0">
                <a:latin typeface="Consolas" panose="020B0609020204030204" pitchFamily="49" charset="0"/>
              </a:rPr>
              <a:t>Ir a GitHub y Crear un nuevo repositorio</a:t>
            </a:r>
          </a:p>
        </p:txBody>
      </p:sp>
      <p:sp>
        <p:nvSpPr>
          <p:cNvPr id="19" name="Rectángulo 18"/>
          <p:cNvSpPr/>
          <p:nvPr/>
        </p:nvSpPr>
        <p:spPr>
          <a:xfrm>
            <a:off x="4688497" y="1263111"/>
            <a:ext cx="3671198" cy="830997"/>
          </a:xfrm>
          <a:prstGeom prst="rect">
            <a:avLst/>
          </a:prstGeom>
        </p:spPr>
        <p:txBody>
          <a:bodyPr wrap="none">
            <a:spAutoFit/>
          </a:bodyPr>
          <a:lstStyle/>
          <a:p>
            <a:r>
              <a:rPr lang="es-MX" sz="1200" dirty="0"/>
              <a:t>6. Conectar repositorio local con remoto.</a:t>
            </a:r>
          </a:p>
          <a:p>
            <a:pPr marL="171450" indent="-171450">
              <a:buFont typeface="Wingdings" panose="05000000000000000000" pitchFamily="2" charset="2"/>
              <a:buChar char="ü"/>
            </a:pPr>
            <a:r>
              <a:rPr lang="en-US" sz="1200" dirty="0" err="1">
                <a:latin typeface="Consolas" panose="020B0609020204030204" pitchFamily="49" charset="0"/>
              </a:rPr>
              <a:t>git</a:t>
            </a:r>
            <a:r>
              <a:rPr lang="en-US" sz="1200" dirty="0">
                <a:latin typeface="Consolas" panose="020B0609020204030204" pitchFamily="49" charset="0"/>
              </a:rPr>
              <a:t> remote add origin &lt;</a:t>
            </a:r>
            <a:r>
              <a:rPr lang="en-US" sz="1200" dirty="0" err="1">
                <a:latin typeface="Consolas" panose="020B0609020204030204" pitchFamily="49" charset="0"/>
              </a:rPr>
              <a:t>url</a:t>
            </a:r>
            <a:r>
              <a:rPr lang="en-US" sz="1200" dirty="0">
                <a:latin typeface="Consolas" panose="020B0609020204030204" pitchFamily="49" charset="0"/>
              </a:rPr>
              <a:t> </a:t>
            </a:r>
            <a:r>
              <a:rPr lang="en-US" sz="1200" dirty="0" err="1">
                <a:latin typeface="Consolas" panose="020B0609020204030204" pitchFamily="49" charset="0"/>
              </a:rPr>
              <a:t>repositorio</a:t>
            </a:r>
            <a:r>
              <a:rPr lang="en-US" sz="1200" dirty="0">
                <a:latin typeface="Consolas" panose="020B0609020204030204" pitchFamily="49" charset="0"/>
              </a:rPr>
              <a:t>&gt;</a:t>
            </a:r>
          </a:p>
          <a:p>
            <a:r>
              <a:rPr lang="es-MX" sz="1200" dirty="0"/>
              <a:t>Verificar conexión:</a:t>
            </a:r>
          </a:p>
          <a:p>
            <a:pPr marL="171450" indent="-171450">
              <a:buFont typeface="Wingdings" panose="05000000000000000000" pitchFamily="2" charset="2"/>
              <a:buChar char="ü"/>
            </a:pPr>
            <a:r>
              <a:rPr lang="en-US" sz="1200" dirty="0" err="1">
                <a:latin typeface="Consolas" panose="020B0609020204030204" pitchFamily="49" charset="0"/>
              </a:rPr>
              <a:t>Git</a:t>
            </a:r>
            <a:r>
              <a:rPr lang="en-US" sz="1200" dirty="0">
                <a:latin typeface="Consolas" panose="020B0609020204030204" pitchFamily="49" charset="0"/>
              </a:rPr>
              <a:t> remote -v</a:t>
            </a:r>
            <a:endParaRPr lang="es-MX" sz="1200" dirty="0"/>
          </a:p>
        </p:txBody>
      </p:sp>
      <p:sp>
        <p:nvSpPr>
          <p:cNvPr id="20" name="Rectángulo 19"/>
          <p:cNvSpPr/>
          <p:nvPr/>
        </p:nvSpPr>
        <p:spPr>
          <a:xfrm>
            <a:off x="4707479" y="2131684"/>
            <a:ext cx="3326552" cy="646331"/>
          </a:xfrm>
          <a:prstGeom prst="rect">
            <a:avLst/>
          </a:prstGeom>
        </p:spPr>
        <p:txBody>
          <a:bodyPr wrap="none">
            <a:spAutoFit/>
          </a:bodyPr>
          <a:lstStyle/>
          <a:p>
            <a:r>
              <a:rPr lang="es-MX" sz="1200" dirty="0"/>
              <a:t>7. Enviar los archivos al repositorio remoto.</a:t>
            </a:r>
          </a:p>
          <a:p>
            <a:pPr marL="171450" indent="-171450">
              <a:buFont typeface="Wingdings" panose="05000000000000000000" pitchFamily="2" charset="2"/>
              <a:buChar char="ü"/>
            </a:pPr>
            <a:r>
              <a:rPr lang="en-US" sz="1200" dirty="0" err="1">
                <a:latin typeface="Consolas" panose="020B0609020204030204" pitchFamily="49" charset="0"/>
              </a:rPr>
              <a:t>git</a:t>
            </a:r>
            <a:r>
              <a:rPr lang="en-US" sz="1200" dirty="0">
                <a:latin typeface="Consolas" panose="020B0609020204030204" pitchFamily="49" charset="0"/>
              </a:rPr>
              <a:t> branch -M main</a:t>
            </a:r>
          </a:p>
          <a:p>
            <a:pPr marL="171450" indent="-171450">
              <a:buFont typeface="Wingdings" panose="05000000000000000000" pitchFamily="2" charset="2"/>
              <a:buChar char="ü"/>
            </a:pPr>
            <a:r>
              <a:rPr lang="en-US" sz="1200" dirty="0" err="1">
                <a:latin typeface="Consolas" panose="020B0609020204030204" pitchFamily="49" charset="0"/>
              </a:rPr>
              <a:t>git</a:t>
            </a:r>
            <a:r>
              <a:rPr lang="en-US" sz="1200" dirty="0">
                <a:latin typeface="Consolas" panose="020B0609020204030204" pitchFamily="49" charset="0"/>
              </a:rPr>
              <a:t> push -u origin main</a:t>
            </a:r>
            <a:endParaRPr lang="es-MX" sz="1200" dirty="0">
              <a:latin typeface="Consolas" panose="020B0609020204030204" pitchFamily="49" charset="0"/>
            </a:endParaRPr>
          </a:p>
        </p:txBody>
      </p:sp>
      <p:sp>
        <p:nvSpPr>
          <p:cNvPr id="21" name="Rectángulo 20"/>
          <p:cNvSpPr/>
          <p:nvPr/>
        </p:nvSpPr>
        <p:spPr>
          <a:xfrm>
            <a:off x="4707479" y="2872981"/>
            <a:ext cx="3416320" cy="1800493"/>
          </a:xfrm>
          <a:prstGeom prst="rect">
            <a:avLst/>
          </a:prstGeom>
        </p:spPr>
        <p:txBody>
          <a:bodyPr wrap="none">
            <a:spAutoFit/>
          </a:bodyPr>
          <a:lstStyle/>
          <a:p>
            <a:r>
              <a:rPr lang="es-MX" sz="1200" dirty="0"/>
              <a:t>8. Flujo resumido.</a:t>
            </a:r>
          </a:p>
          <a:p>
            <a:pPr marL="228600" indent="-228600">
              <a:buFont typeface="Wingdings" panose="05000000000000000000" pitchFamily="2" charset="2"/>
              <a:buChar char="ü"/>
            </a:pPr>
            <a:r>
              <a:rPr lang="es-MX" sz="1100" dirty="0" err="1">
                <a:latin typeface="Consolas" panose="020B0609020204030204" pitchFamily="49" charset="0"/>
              </a:rPr>
              <a:t>mkdir</a:t>
            </a:r>
            <a:r>
              <a:rPr lang="es-MX" sz="1100" dirty="0">
                <a:latin typeface="Consolas" panose="020B0609020204030204" pitchFamily="49" charset="0"/>
              </a:rPr>
              <a:t> mi-proyecto</a:t>
            </a:r>
          </a:p>
          <a:p>
            <a:pPr marL="228600" indent="-228600">
              <a:buFont typeface="Wingdings" panose="05000000000000000000" pitchFamily="2" charset="2"/>
              <a:buChar char="ü"/>
            </a:pPr>
            <a:r>
              <a:rPr lang="es-MX" sz="1100" dirty="0">
                <a:latin typeface="Consolas" panose="020B0609020204030204" pitchFamily="49" charset="0"/>
              </a:rPr>
              <a:t>cd mi-proyecto</a:t>
            </a:r>
          </a:p>
          <a:p>
            <a:pPr marL="228600" indent="-228600">
              <a:buFont typeface="Wingdings" panose="05000000000000000000" pitchFamily="2" charset="2"/>
              <a:buChar char="ü"/>
            </a:pPr>
            <a:r>
              <a:rPr lang="es-MX" sz="1100" dirty="0" err="1">
                <a:latin typeface="Consolas" panose="020B0609020204030204" pitchFamily="49" charset="0"/>
              </a:rPr>
              <a:t>git</a:t>
            </a:r>
            <a:r>
              <a:rPr lang="es-MX" sz="1100" dirty="0">
                <a:latin typeface="Consolas" panose="020B0609020204030204" pitchFamily="49" charset="0"/>
              </a:rPr>
              <a:t> </a:t>
            </a:r>
            <a:r>
              <a:rPr lang="es-MX" sz="1100" dirty="0" err="1">
                <a:latin typeface="Consolas" panose="020B0609020204030204" pitchFamily="49" charset="0"/>
              </a:rPr>
              <a:t>init</a:t>
            </a:r>
            <a:endParaRPr lang="es-MX" sz="1100" dirty="0">
              <a:latin typeface="Consolas" panose="020B0609020204030204" pitchFamily="49" charset="0"/>
            </a:endParaRPr>
          </a:p>
          <a:p>
            <a:pPr marL="228600" indent="-228600">
              <a:buFont typeface="Wingdings" panose="05000000000000000000" pitchFamily="2" charset="2"/>
              <a:buChar char="ü"/>
            </a:pPr>
            <a:r>
              <a:rPr lang="es-MX" sz="1100" dirty="0">
                <a:latin typeface="Consolas" panose="020B0609020204030204" pitchFamily="49" charset="0"/>
              </a:rPr>
              <a:t>echo "Hola Mundo" &gt; archivo.txt</a:t>
            </a:r>
          </a:p>
          <a:p>
            <a:pPr marL="228600" indent="-228600">
              <a:buFont typeface="Wingdings" panose="05000000000000000000" pitchFamily="2" charset="2"/>
              <a:buChar char="ü"/>
            </a:pPr>
            <a:r>
              <a:rPr lang="es-MX" sz="1100" dirty="0" err="1">
                <a:latin typeface="Consolas" panose="020B0609020204030204" pitchFamily="49" charset="0"/>
              </a:rPr>
              <a:t>git</a:t>
            </a:r>
            <a:r>
              <a:rPr lang="es-MX" sz="1100" dirty="0">
                <a:latin typeface="Consolas" panose="020B0609020204030204" pitchFamily="49" charset="0"/>
              </a:rPr>
              <a:t> </a:t>
            </a:r>
            <a:r>
              <a:rPr lang="es-MX" sz="1100" dirty="0" err="1">
                <a:latin typeface="Consolas" panose="020B0609020204030204" pitchFamily="49" charset="0"/>
              </a:rPr>
              <a:t>add</a:t>
            </a:r>
            <a:r>
              <a:rPr lang="es-MX" sz="1100" dirty="0">
                <a:latin typeface="Consolas" panose="020B0609020204030204" pitchFamily="49" charset="0"/>
              </a:rPr>
              <a:t> .</a:t>
            </a:r>
          </a:p>
          <a:p>
            <a:pPr marL="228600" indent="-228600">
              <a:buFont typeface="Wingdings" panose="05000000000000000000" pitchFamily="2" charset="2"/>
              <a:buChar char="ü"/>
            </a:pPr>
            <a:r>
              <a:rPr lang="es-MX" sz="1100" dirty="0" err="1">
                <a:latin typeface="Consolas" panose="020B0609020204030204" pitchFamily="49" charset="0"/>
              </a:rPr>
              <a:t>git</a:t>
            </a:r>
            <a:r>
              <a:rPr lang="es-MX" sz="1100" dirty="0">
                <a:latin typeface="Consolas" panose="020B0609020204030204" pitchFamily="49" charset="0"/>
              </a:rPr>
              <a:t> </a:t>
            </a:r>
            <a:r>
              <a:rPr lang="es-MX" sz="1100" dirty="0" err="1">
                <a:latin typeface="Consolas" panose="020B0609020204030204" pitchFamily="49" charset="0"/>
              </a:rPr>
              <a:t>commit</a:t>
            </a:r>
            <a:r>
              <a:rPr lang="es-MX" sz="1100" dirty="0">
                <a:latin typeface="Consolas" panose="020B0609020204030204" pitchFamily="49" charset="0"/>
              </a:rPr>
              <a:t> -m "Primer </a:t>
            </a:r>
            <a:r>
              <a:rPr lang="es-MX" sz="1100" dirty="0" err="1">
                <a:latin typeface="Consolas" panose="020B0609020204030204" pitchFamily="49" charset="0"/>
              </a:rPr>
              <a:t>commit</a:t>
            </a:r>
            <a:r>
              <a:rPr lang="es-MX" sz="1100" dirty="0">
                <a:latin typeface="Consolas" panose="020B0609020204030204" pitchFamily="49" charset="0"/>
              </a:rPr>
              <a:t>"</a:t>
            </a:r>
          </a:p>
          <a:p>
            <a:pPr marL="228600" indent="-228600">
              <a:buFont typeface="Wingdings" panose="05000000000000000000" pitchFamily="2" charset="2"/>
              <a:buChar char="ü"/>
            </a:pPr>
            <a:r>
              <a:rPr lang="es-MX" sz="1100" dirty="0" err="1">
                <a:latin typeface="Consolas" panose="020B0609020204030204" pitchFamily="49" charset="0"/>
              </a:rPr>
              <a:t>git</a:t>
            </a:r>
            <a:r>
              <a:rPr lang="es-MX" sz="1100" dirty="0">
                <a:latin typeface="Consolas" panose="020B0609020204030204" pitchFamily="49" charset="0"/>
              </a:rPr>
              <a:t> </a:t>
            </a:r>
            <a:r>
              <a:rPr lang="es-MX" sz="1100" dirty="0" err="1">
                <a:latin typeface="Consolas" panose="020B0609020204030204" pitchFamily="49" charset="0"/>
              </a:rPr>
              <a:t>remote</a:t>
            </a:r>
            <a:r>
              <a:rPr lang="es-MX" sz="1100" dirty="0">
                <a:latin typeface="Consolas" panose="020B0609020204030204" pitchFamily="49" charset="0"/>
              </a:rPr>
              <a:t> </a:t>
            </a:r>
            <a:r>
              <a:rPr lang="es-MX" sz="1100" dirty="0" err="1">
                <a:latin typeface="Consolas" panose="020B0609020204030204" pitchFamily="49" charset="0"/>
              </a:rPr>
              <a:t>add</a:t>
            </a:r>
            <a:r>
              <a:rPr lang="es-MX" sz="1100" dirty="0">
                <a:latin typeface="Consolas" panose="020B0609020204030204" pitchFamily="49" charset="0"/>
              </a:rPr>
              <a:t> </a:t>
            </a:r>
            <a:r>
              <a:rPr lang="es-MX" sz="1100" dirty="0" err="1">
                <a:latin typeface="Consolas" panose="020B0609020204030204" pitchFamily="49" charset="0"/>
              </a:rPr>
              <a:t>origin</a:t>
            </a:r>
            <a:r>
              <a:rPr lang="es-MX" sz="1100" dirty="0">
                <a:latin typeface="Consolas" panose="020B0609020204030204" pitchFamily="49" charset="0"/>
              </a:rPr>
              <a:t> </a:t>
            </a:r>
            <a:r>
              <a:rPr lang="en-US" sz="1100" dirty="0">
                <a:latin typeface="Consolas" panose="020B0609020204030204" pitchFamily="49" charset="0"/>
              </a:rPr>
              <a:t>&lt;</a:t>
            </a:r>
            <a:r>
              <a:rPr lang="en-US" sz="1100" dirty="0" err="1">
                <a:latin typeface="Consolas" panose="020B0609020204030204" pitchFamily="49" charset="0"/>
              </a:rPr>
              <a:t>url</a:t>
            </a:r>
            <a:r>
              <a:rPr lang="en-US" sz="1100" dirty="0">
                <a:latin typeface="Consolas" panose="020B0609020204030204" pitchFamily="49" charset="0"/>
              </a:rPr>
              <a:t> </a:t>
            </a:r>
            <a:r>
              <a:rPr lang="en-US" sz="1100" dirty="0" err="1">
                <a:latin typeface="Consolas" panose="020B0609020204030204" pitchFamily="49" charset="0"/>
              </a:rPr>
              <a:t>repositorio</a:t>
            </a:r>
            <a:r>
              <a:rPr lang="en-US" sz="1100" dirty="0">
                <a:latin typeface="Consolas" panose="020B0609020204030204" pitchFamily="49" charset="0"/>
              </a:rPr>
              <a:t>&gt;</a:t>
            </a:r>
            <a:endParaRPr lang="es-MX" sz="1100" dirty="0">
              <a:latin typeface="Consolas" panose="020B0609020204030204" pitchFamily="49" charset="0"/>
            </a:endParaRPr>
          </a:p>
          <a:p>
            <a:pPr marL="228600" indent="-228600">
              <a:buFont typeface="Wingdings" panose="05000000000000000000" pitchFamily="2" charset="2"/>
              <a:buChar char="ü"/>
            </a:pPr>
            <a:r>
              <a:rPr lang="es-MX" sz="1100" dirty="0" err="1">
                <a:latin typeface="Consolas" panose="020B0609020204030204" pitchFamily="49" charset="0"/>
              </a:rPr>
              <a:t>git</a:t>
            </a:r>
            <a:r>
              <a:rPr lang="es-MX" sz="1100" dirty="0">
                <a:latin typeface="Consolas" panose="020B0609020204030204" pitchFamily="49" charset="0"/>
              </a:rPr>
              <a:t> </a:t>
            </a:r>
            <a:r>
              <a:rPr lang="es-MX" sz="1100" dirty="0" err="1">
                <a:latin typeface="Consolas" panose="020B0609020204030204" pitchFamily="49" charset="0"/>
              </a:rPr>
              <a:t>branch</a:t>
            </a:r>
            <a:r>
              <a:rPr lang="es-MX" sz="1100" dirty="0">
                <a:latin typeface="Consolas" panose="020B0609020204030204" pitchFamily="49" charset="0"/>
              </a:rPr>
              <a:t> -M </a:t>
            </a:r>
            <a:r>
              <a:rPr lang="es-MX" sz="1100" dirty="0" err="1">
                <a:latin typeface="Consolas" panose="020B0609020204030204" pitchFamily="49" charset="0"/>
              </a:rPr>
              <a:t>main</a:t>
            </a:r>
            <a:endParaRPr lang="es-MX" sz="1100" dirty="0">
              <a:latin typeface="Consolas" panose="020B0609020204030204" pitchFamily="49" charset="0"/>
            </a:endParaRPr>
          </a:p>
          <a:p>
            <a:pPr marL="228600" indent="-228600">
              <a:buFont typeface="Wingdings" panose="05000000000000000000" pitchFamily="2" charset="2"/>
              <a:buChar char="ü"/>
            </a:pPr>
            <a:r>
              <a:rPr lang="es-MX" sz="1100" dirty="0" err="1">
                <a:latin typeface="Consolas" panose="020B0609020204030204" pitchFamily="49" charset="0"/>
              </a:rPr>
              <a:t>git</a:t>
            </a:r>
            <a:r>
              <a:rPr lang="es-MX" sz="1100" dirty="0">
                <a:latin typeface="Consolas" panose="020B0609020204030204" pitchFamily="49" charset="0"/>
              </a:rPr>
              <a:t> </a:t>
            </a:r>
            <a:r>
              <a:rPr lang="es-MX" sz="1100" dirty="0" err="1">
                <a:latin typeface="Consolas" panose="020B0609020204030204" pitchFamily="49" charset="0"/>
              </a:rPr>
              <a:t>push</a:t>
            </a:r>
            <a:r>
              <a:rPr lang="es-MX" sz="1100" dirty="0">
                <a:latin typeface="Consolas" panose="020B0609020204030204" pitchFamily="49" charset="0"/>
              </a:rPr>
              <a:t> -u </a:t>
            </a:r>
            <a:r>
              <a:rPr lang="es-MX" sz="1100" dirty="0" err="1">
                <a:latin typeface="Consolas" panose="020B0609020204030204" pitchFamily="49" charset="0"/>
              </a:rPr>
              <a:t>origin</a:t>
            </a:r>
            <a:r>
              <a:rPr lang="es-MX" sz="1100" dirty="0">
                <a:latin typeface="Consolas" panose="020B0609020204030204" pitchFamily="49" charset="0"/>
              </a:rPr>
              <a:t> </a:t>
            </a:r>
            <a:r>
              <a:rPr lang="es-MX" sz="1100" dirty="0" err="1">
                <a:latin typeface="Consolas" panose="020B0609020204030204" pitchFamily="49" charset="0"/>
              </a:rPr>
              <a:t>main</a:t>
            </a:r>
            <a:endParaRPr lang="es-MX" sz="1100" dirty="0">
              <a:latin typeface="Consolas" panose="020B0609020204030204" pitchFamily="49" charset="0"/>
            </a:endParaRPr>
          </a:p>
        </p:txBody>
      </p:sp>
    </p:spTree>
    <p:extLst>
      <p:ext uri="{BB962C8B-B14F-4D97-AF65-F5344CB8AC3E}">
        <p14:creationId xmlns:p14="http://schemas.microsoft.com/office/powerpoint/2010/main" val="1709382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fade">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20"/>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grpId="0" nodeType="click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randombar(horizontal)">
                                      <p:cBhvr>
                                        <p:cTn id="3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7" grpId="0"/>
      <p:bldP spid="18" grpId="0"/>
      <p:bldP spid="19" grpId="0"/>
      <p:bldP spid="20" grpId="0"/>
      <p:bldP spid="21"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50</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dirty="0">
                <a:ea typeface="Vita Std ExLt" pitchFamily="2" charset="77"/>
                <a:cs typeface="Verdana" panose="020B0604030504040204" pitchFamily="34" charset="0"/>
              </a:rPr>
              <a:t>Repositorio remotos.</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pic>
        <p:nvPicPr>
          <p:cNvPr id="12" name="Imagen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635752" y="1371953"/>
            <a:ext cx="4844821" cy="2531419"/>
          </a:xfrm>
          <a:prstGeom prst="rect">
            <a:avLst/>
          </a:prstGeom>
        </p:spPr>
      </p:pic>
    </p:spTree>
    <p:extLst>
      <p:ext uri="{BB962C8B-B14F-4D97-AF65-F5344CB8AC3E}">
        <p14:creationId xmlns:p14="http://schemas.microsoft.com/office/powerpoint/2010/main" val="22781969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EE201105-72BE-A151-3986-11C39DBCCC84}"/>
              </a:ext>
            </a:extLst>
          </p:cNvPr>
          <p:cNvSpPr txBox="1"/>
          <p:nvPr/>
        </p:nvSpPr>
        <p:spPr>
          <a:xfrm>
            <a:off x="1690122" y="3279459"/>
            <a:ext cx="5716516" cy="338554"/>
          </a:xfrm>
          <a:prstGeom prst="rect">
            <a:avLst/>
          </a:prstGeom>
          <a:noFill/>
        </p:spPr>
        <p:txBody>
          <a:bodyPr wrap="square" rtlCol="0">
            <a:spAutoFit/>
          </a:bodyPr>
          <a:lstStyle/>
          <a:p>
            <a:pPr algn="ctr"/>
            <a:r>
              <a:rPr lang="es-MX" sz="1600" dirty="0">
                <a:latin typeface="+mj-lt"/>
                <a:ea typeface="Verdana" panose="020B0604030504040204" pitchFamily="34" charset="0"/>
              </a:rPr>
              <a:t>Interfaz Gráfica de Usuario</a:t>
            </a:r>
          </a:p>
        </p:txBody>
      </p:sp>
      <p:sp>
        <p:nvSpPr>
          <p:cNvPr id="6" name="Título 1">
            <a:extLst>
              <a:ext uri="{FF2B5EF4-FFF2-40B4-BE49-F238E27FC236}">
                <a16:creationId xmlns:a16="http://schemas.microsoft.com/office/drawing/2014/main" id="{E6941EEA-15FA-C4B3-9D36-FE213543036B}"/>
              </a:ext>
            </a:extLst>
          </p:cNvPr>
          <p:cNvSpPr txBox="1">
            <a:spLocks/>
          </p:cNvSpPr>
          <p:nvPr/>
        </p:nvSpPr>
        <p:spPr>
          <a:xfrm>
            <a:off x="1737359" y="2604517"/>
            <a:ext cx="5669279" cy="623943"/>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r>
              <a:rPr lang="es-MX" sz="3200" dirty="0">
                <a:ea typeface="Vita Std ExLt" pitchFamily="2" charset="77"/>
                <a:cs typeface="Verdana" panose="020B0604030504040204" pitchFamily="34" charset="0"/>
              </a:rPr>
              <a:t>GUI para GIT</a:t>
            </a:r>
          </a:p>
        </p:txBody>
      </p:sp>
      <p:sp>
        <p:nvSpPr>
          <p:cNvPr id="7" name="Slide Number Placeholder 5">
            <a:extLst>
              <a:ext uri="{FF2B5EF4-FFF2-40B4-BE49-F238E27FC236}">
                <a16:creationId xmlns:a16="http://schemas.microsoft.com/office/drawing/2014/main" id="{E7815C07-AAB5-C869-E3C6-13CE45631BCA}"/>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51</a:t>
            </a:fld>
            <a:endParaRPr lang="es-MX" sz="700">
              <a:solidFill>
                <a:schemeClr val="tx1"/>
              </a:solidFill>
              <a:latin typeface="+mn-lt"/>
            </a:endParaRPr>
          </a:p>
        </p:txBody>
      </p:sp>
      <p:sp>
        <p:nvSpPr>
          <p:cNvPr id="8" name="Date Placeholder 3">
            <a:extLst>
              <a:ext uri="{FF2B5EF4-FFF2-40B4-BE49-F238E27FC236}">
                <a16:creationId xmlns:a16="http://schemas.microsoft.com/office/drawing/2014/main" id="{C0B241D6-8F7F-7292-3735-3E384A859C15}"/>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sp>
        <p:nvSpPr>
          <p:cNvPr id="2" name="Footer Placeholder 4">
            <a:extLst>
              <a:ext uri="{FF2B5EF4-FFF2-40B4-BE49-F238E27FC236}">
                <a16:creationId xmlns:a16="http://schemas.microsoft.com/office/drawing/2014/main" id="{28187D42-2A45-2872-FDF8-944D161C9D28}"/>
              </a:ext>
            </a:extLst>
          </p:cNvPr>
          <p:cNvSpPr txBox="1">
            <a:spLocks/>
          </p:cNvSpPr>
          <p:nvPr/>
        </p:nvSpPr>
        <p:spPr>
          <a:xfrm>
            <a:off x="6920366" y="4620137"/>
            <a:ext cx="1426439"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90000"/>
                    <a:lumOff val="10000"/>
                  </a:schemeClr>
                </a:solidFill>
              </a:rPr>
              <a:t>[GIT]</a:t>
            </a:r>
          </a:p>
        </p:txBody>
      </p:sp>
      <p:cxnSp>
        <p:nvCxnSpPr>
          <p:cNvPr id="12" name="Straight Connector 44">
            <a:extLst>
              <a:ext uri="{FF2B5EF4-FFF2-40B4-BE49-F238E27FC236}">
                <a16:creationId xmlns:a16="http://schemas.microsoft.com/office/drawing/2014/main" id="{5C4431AE-11DB-4648-8D81-7A681BFAAAAA}"/>
              </a:ext>
            </a:extLst>
          </p:cNvPr>
          <p:cNvCxnSpPr>
            <a:cxnSpLocks/>
          </p:cNvCxnSpPr>
          <p:nvPr/>
        </p:nvCxnSpPr>
        <p:spPr>
          <a:xfrm flipH="1">
            <a:off x="1785879" y="3163348"/>
            <a:ext cx="5572237" cy="6436"/>
          </a:xfrm>
          <a:prstGeom prst="line">
            <a:avLst/>
          </a:prstGeom>
          <a:ln w="28575"/>
        </p:spPr>
        <p:style>
          <a:lnRef idx="1">
            <a:schemeClr val="accent2"/>
          </a:lnRef>
          <a:fillRef idx="0">
            <a:schemeClr val="accent2"/>
          </a:fillRef>
          <a:effectRef idx="0">
            <a:schemeClr val="accent2"/>
          </a:effectRef>
          <a:fontRef idx="minor">
            <a:schemeClr val="tx1"/>
          </a:fontRef>
        </p:style>
      </p:cxnSp>
      <p:pic>
        <p:nvPicPr>
          <p:cNvPr id="14" name="Imagen 1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45304" y="287781"/>
            <a:ext cx="2653384" cy="2255377"/>
          </a:xfrm>
          <a:prstGeom prst="rect">
            <a:avLst/>
          </a:prstGeom>
        </p:spPr>
      </p:pic>
    </p:spTree>
    <p:extLst>
      <p:ext uri="{BB962C8B-B14F-4D97-AF65-F5344CB8AC3E}">
        <p14:creationId xmlns:p14="http://schemas.microsoft.com/office/powerpoint/2010/main" val="39605070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Slide Number Placeholder 5">
            <a:extLst>
              <a:ext uri="{FF2B5EF4-FFF2-40B4-BE49-F238E27FC236}">
                <a16:creationId xmlns:a16="http://schemas.microsoft.com/office/drawing/2014/main" id="{0AEC4F53-122A-AA72-09FA-19F7EBF7237E}"/>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52</a:t>
            </a:fld>
            <a:endParaRPr lang="es-MX" sz="700">
              <a:solidFill>
                <a:schemeClr val="tx1"/>
              </a:solidFill>
              <a:latin typeface="+mn-lt"/>
            </a:endParaRPr>
          </a:p>
        </p:txBody>
      </p:sp>
      <p:sp>
        <p:nvSpPr>
          <p:cNvPr id="28" name="Date Placeholder 3">
            <a:extLst>
              <a:ext uri="{FF2B5EF4-FFF2-40B4-BE49-F238E27FC236}">
                <a16:creationId xmlns:a16="http://schemas.microsoft.com/office/drawing/2014/main" id="{1555ABFD-7C30-3701-04FB-698A3F9FB07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
        <p:nvSpPr>
          <p:cNvPr id="5" name="Elipse 12">
            <a:extLst>
              <a:ext uri="{FF2B5EF4-FFF2-40B4-BE49-F238E27FC236}">
                <a16:creationId xmlns:a16="http://schemas.microsoft.com/office/drawing/2014/main" id="{6AB57ED9-BB70-4399-99AF-1279B9BDC383}"/>
              </a:ext>
            </a:extLst>
          </p:cNvPr>
          <p:cNvSpPr/>
          <p:nvPr/>
        </p:nvSpPr>
        <p:spPr>
          <a:xfrm>
            <a:off x="396109" y="361509"/>
            <a:ext cx="770400" cy="770400"/>
          </a:xfrm>
          <a:prstGeom prst="ellipse">
            <a:avLst/>
          </a:prstGeom>
          <a:solidFill>
            <a:schemeClr val="bg1"/>
          </a:solidFill>
          <a:ln w="76200">
            <a:gradFill>
              <a:gsLst>
                <a:gs pos="0">
                  <a:srgbClr val="C126B8"/>
                </a:gs>
                <a:gs pos="100000">
                  <a:srgbClr val="FF832A"/>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sz="1400"/>
          </a:p>
        </p:txBody>
      </p:sp>
      <p:sp>
        <p:nvSpPr>
          <p:cNvPr id="7" name="Título 1">
            <a:extLst>
              <a:ext uri="{FF2B5EF4-FFF2-40B4-BE49-F238E27FC236}">
                <a16:creationId xmlns:a16="http://schemas.microsoft.com/office/drawing/2014/main" id="{44B0FE77-C0D5-079D-4AC6-8FCB7B5F386C}"/>
              </a:ext>
            </a:extLst>
          </p:cNvPr>
          <p:cNvSpPr txBox="1">
            <a:spLocks/>
          </p:cNvSpPr>
          <p:nvPr/>
        </p:nvSpPr>
        <p:spPr>
          <a:xfrm>
            <a:off x="1166508" y="498713"/>
            <a:ext cx="6740750" cy="495989"/>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2400" dirty="0">
                <a:ea typeface="Vita Std ExLt" pitchFamily="2" charset="77"/>
                <a:cs typeface="Verdana" panose="020B0604030504040204" pitchFamily="34" charset="0"/>
              </a:rPr>
              <a:t>Clientes con interfaz gráfica</a:t>
            </a:r>
          </a:p>
        </p:txBody>
      </p:sp>
      <p:sp>
        <p:nvSpPr>
          <p:cNvPr id="9" name="Footer Placeholder 4">
            <a:extLst>
              <a:ext uri="{FF2B5EF4-FFF2-40B4-BE49-F238E27FC236}">
                <a16:creationId xmlns:a16="http://schemas.microsoft.com/office/drawing/2014/main" id="{3571BE0D-2D62-9805-D1F3-8986DDA0542A}"/>
              </a:ext>
            </a:extLst>
          </p:cNvPr>
          <p:cNvSpPr txBox="1">
            <a:spLocks/>
          </p:cNvSpPr>
          <p:nvPr/>
        </p:nvSpPr>
        <p:spPr>
          <a:xfrm>
            <a:off x="6894181" y="4620137"/>
            <a:ext cx="1452624" cy="270484"/>
          </a:xfrm>
          <a:prstGeom prst="rect">
            <a:avLst/>
          </a:prstGeom>
        </p:spPr>
        <p:txBody>
          <a:bodyPr vert="horz" lIns="91440" tIns="45720" rIns="91440" bIns="45720" rtlCol="0" anchor="ctr"/>
          <a:lstStyle>
            <a:defPPr>
              <a:defRPr lang="en-US"/>
            </a:defPPr>
            <a:lvl1pPr marL="0" algn="r" defTabSz="457200" rtl="0" eaLnBrk="1" latinLnBrk="0" hangingPunct="1">
              <a:defRPr sz="450" kern="1200" spc="225">
                <a:solidFill>
                  <a:schemeClr val="tx1">
                    <a:tint val="75000"/>
                  </a:schemeClr>
                </a:solidFill>
                <a:latin typeface="Century Gothic" panose="020B050202020202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s-MX" sz="500" dirty="0">
                <a:solidFill>
                  <a:schemeClr val="tx1">
                    <a:lumMod val="10000"/>
                    <a:lumOff val="90000"/>
                  </a:schemeClr>
                </a:solidFill>
              </a:rPr>
              <a:t>[GIT]</a:t>
            </a:r>
            <a:endParaRPr lang="es-MX" sz="500" dirty="0">
              <a:solidFill>
                <a:schemeClr val="bg1"/>
              </a:solidFill>
              <a:latin typeface="+mn-lt"/>
            </a:endParaRPr>
          </a:p>
        </p:txBody>
      </p:sp>
      <p:pic>
        <p:nvPicPr>
          <p:cNvPr id="11" name="Imagen 10"/>
          <p:cNvPicPr>
            <a:picLocks noChangeAspect="1"/>
          </p:cNvPicPr>
          <p:nvPr/>
        </p:nvPicPr>
        <p: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brightnessContrast bright="40000"/>
                    </a14:imgEffect>
                  </a14:imgLayer>
                </a14:imgProps>
              </a:ext>
              <a:ext uri="{28A0092B-C50C-407E-A947-70E740481C1C}">
                <a14:useLocalDpi xmlns:a14="http://schemas.microsoft.com/office/drawing/2010/main" val="0"/>
              </a:ext>
            </a:extLst>
          </a:blip>
          <a:stretch>
            <a:fillRect/>
          </a:stretch>
        </p:blipFill>
        <p:spPr>
          <a:xfrm>
            <a:off x="6202694" y="1533291"/>
            <a:ext cx="2370081" cy="2370081"/>
          </a:xfrm>
          <a:prstGeom prst="rect">
            <a:avLst/>
          </a:prstGeom>
        </p:spPr>
      </p:pic>
      <p:pic>
        <p:nvPicPr>
          <p:cNvPr id="10" name="Imagen 9"/>
          <p:cNvPicPr>
            <a:picLocks noChangeAspect="1"/>
          </p:cNvPicPr>
          <p:nvPr/>
        </p:nvPicPr>
        <p:blipFill>
          <a:blip r:embed="rId4">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542815" y="508213"/>
            <a:ext cx="476987" cy="476987"/>
          </a:xfrm>
          <a:prstGeom prst="rect">
            <a:avLst/>
          </a:prstGeom>
        </p:spPr>
      </p:pic>
      <p:sp>
        <p:nvSpPr>
          <p:cNvPr id="4" name="Rectángulo 3"/>
          <p:cNvSpPr/>
          <p:nvPr/>
        </p:nvSpPr>
        <p:spPr>
          <a:xfrm>
            <a:off x="396109" y="1278613"/>
            <a:ext cx="5636301" cy="2893100"/>
          </a:xfrm>
          <a:prstGeom prst="rect">
            <a:avLst/>
          </a:prstGeom>
        </p:spPr>
        <p:txBody>
          <a:bodyPr wrap="square">
            <a:spAutoFit/>
          </a:bodyPr>
          <a:lstStyle/>
          <a:p>
            <a:pPr algn="just"/>
            <a:r>
              <a:rPr lang="es-MX" sz="1400" dirty="0" err="1"/>
              <a:t>Git</a:t>
            </a:r>
            <a:r>
              <a:rPr lang="es-MX" sz="1400" dirty="0"/>
              <a:t> viene con herramientas de interfaz gráfica integradas para hacer </a:t>
            </a:r>
            <a:r>
              <a:rPr lang="es-MX" sz="1400" dirty="0" err="1"/>
              <a:t>commit</a:t>
            </a:r>
            <a:r>
              <a:rPr lang="es-MX" sz="1400" dirty="0"/>
              <a:t> (</a:t>
            </a:r>
            <a:r>
              <a:rPr lang="es-MX" sz="1400" dirty="0" err="1"/>
              <a:t>git-gui</a:t>
            </a:r>
            <a:r>
              <a:rPr lang="es-MX" sz="1400" dirty="0"/>
              <a:t>) y navegar (</a:t>
            </a:r>
            <a:r>
              <a:rPr lang="es-MX" sz="1400" dirty="0" err="1"/>
              <a:t>gitk</a:t>
            </a:r>
            <a:r>
              <a:rPr lang="es-MX" sz="1400" dirty="0"/>
              <a:t>), pero existen varias herramientas de terceros para usuarios que buscan experiencia específica de cada plataforma.</a:t>
            </a:r>
          </a:p>
          <a:p>
            <a:pPr algn="just"/>
            <a:endParaRPr lang="es-MX" sz="1400" dirty="0"/>
          </a:p>
          <a:p>
            <a:pPr marL="285750" indent="-285750" algn="just">
              <a:buFont typeface="Arial" panose="020B0604020202020204" pitchFamily="34" charset="0"/>
              <a:buChar char="•"/>
            </a:pPr>
            <a:r>
              <a:rPr lang="es-MX" sz="1600" dirty="0"/>
              <a:t>GitHub Desktop</a:t>
            </a:r>
          </a:p>
          <a:p>
            <a:pPr algn="just"/>
            <a:endParaRPr lang="es-MX" sz="1600" dirty="0"/>
          </a:p>
          <a:p>
            <a:pPr marL="285750" indent="-285750" algn="just">
              <a:buFont typeface="Arial" panose="020B0604020202020204" pitchFamily="34" charset="0"/>
              <a:buChar char="•"/>
            </a:pPr>
            <a:r>
              <a:rPr lang="es-MX" sz="1600" dirty="0" err="1"/>
              <a:t>SourceTree</a:t>
            </a:r>
            <a:endParaRPr lang="es-MX" sz="1600" dirty="0"/>
          </a:p>
          <a:p>
            <a:pPr marL="285750" indent="-285750" algn="just">
              <a:buFont typeface="Arial" panose="020B0604020202020204" pitchFamily="34" charset="0"/>
              <a:buChar char="•"/>
            </a:pPr>
            <a:endParaRPr lang="es-MX" sz="1600" dirty="0"/>
          </a:p>
          <a:p>
            <a:pPr marL="285750" indent="-285750" algn="just">
              <a:buFont typeface="Arial" panose="020B0604020202020204" pitchFamily="34" charset="0"/>
              <a:buChar char="•"/>
            </a:pPr>
            <a:r>
              <a:rPr lang="es-MX" sz="1600" dirty="0" err="1"/>
              <a:t>GitKraken</a:t>
            </a:r>
            <a:r>
              <a:rPr lang="es-MX" sz="1600" dirty="0"/>
              <a:t> Desktop</a:t>
            </a:r>
          </a:p>
          <a:p>
            <a:pPr algn="just"/>
            <a:endParaRPr lang="es-MX" sz="1600" dirty="0"/>
          </a:p>
          <a:p>
            <a:pPr marL="285750" indent="-285750" algn="just">
              <a:buFont typeface="Arial" panose="020B0604020202020204" pitchFamily="34" charset="0"/>
              <a:buChar char="•"/>
            </a:pPr>
            <a:r>
              <a:rPr lang="es-MX" sz="1600" dirty="0" err="1"/>
              <a:t>TortoiseGit</a:t>
            </a:r>
            <a:endParaRPr lang="es-MX" sz="1600" dirty="0"/>
          </a:p>
        </p:txBody>
      </p:sp>
      <p:sp>
        <p:nvSpPr>
          <p:cNvPr id="6" name="Rectángulo 5"/>
          <p:cNvSpPr/>
          <p:nvPr/>
        </p:nvSpPr>
        <p:spPr>
          <a:xfrm>
            <a:off x="396109" y="4312360"/>
            <a:ext cx="2233304" cy="261610"/>
          </a:xfrm>
          <a:prstGeom prst="rect">
            <a:avLst/>
          </a:prstGeom>
        </p:spPr>
        <p:txBody>
          <a:bodyPr wrap="none">
            <a:spAutoFit/>
          </a:bodyPr>
          <a:lstStyle/>
          <a:p>
            <a:r>
              <a:rPr lang="es-MX" sz="1100" dirty="0"/>
              <a:t>https://git-scm.com/tools/guis</a:t>
            </a:r>
          </a:p>
        </p:txBody>
      </p:sp>
      <p:pic>
        <p:nvPicPr>
          <p:cNvPr id="8" name="Imagen 7"/>
          <p:cNvPicPr>
            <a:picLocks noChangeAspect="1"/>
          </p:cNvPicPr>
          <p:nvPr/>
        </p:nvPicPr>
        <p:blipFill rotWithShape="1">
          <a:blip r:embed="rId5">
            <a:extLst>
              <a:ext uri="{28A0092B-C50C-407E-A947-70E740481C1C}">
                <a14:useLocalDpi xmlns:a14="http://schemas.microsoft.com/office/drawing/2010/main" val="0"/>
              </a:ext>
            </a:extLst>
          </a:blip>
          <a:srcRect l="5401" t="16877" r="5817"/>
          <a:stretch/>
        </p:blipFill>
        <p:spPr>
          <a:xfrm>
            <a:off x="3496515" y="2291094"/>
            <a:ext cx="415914" cy="423150"/>
          </a:xfrm>
          <a:prstGeom prst="rect">
            <a:avLst/>
          </a:prstGeom>
        </p:spPr>
      </p:pic>
      <p:pic>
        <p:nvPicPr>
          <p:cNvPr id="13" name="Imagen 12"/>
          <p:cNvPicPr>
            <a:picLocks noChangeAspect="1"/>
          </p:cNvPicPr>
          <p:nvPr/>
        </p:nvPicPr>
        <p:blipFill rotWithShape="1">
          <a:blip r:embed="rId6">
            <a:extLst>
              <a:ext uri="{28A0092B-C50C-407E-A947-70E740481C1C}">
                <a14:useLocalDpi xmlns:a14="http://schemas.microsoft.com/office/drawing/2010/main" val="0"/>
              </a:ext>
            </a:extLst>
          </a:blip>
          <a:srcRect l="8830" t="8568" r="8957" b="8581"/>
          <a:stretch/>
        </p:blipFill>
        <p:spPr>
          <a:xfrm>
            <a:off x="3546124" y="2807836"/>
            <a:ext cx="377701" cy="380638"/>
          </a:xfrm>
          <a:prstGeom prst="rect">
            <a:avLst/>
          </a:prstGeom>
        </p:spPr>
      </p:pic>
      <p:pic>
        <p:nvPicPr>
          <p:cNvPr id="14" name="Imagen 13"/>
          <p:cNvPicPr>
            <a:picLocks noChangeAspect="1"/>
          </p:cNvPicPr>
          <p:nvPr/>
        </p:nvPicPr>
        <p:blipFill rotWithShape="1">
          <a:blip r:embed="rId7">
            <a:extLst>
              <a:ext uri="{28A0092B-C50C-407E-A947-70E740481C1C}">
                <a14:useLocalDpi xmlns:a14="http://schemas.microsoft.com/office/drawing/2010/main" val="0"/>
              </a:ext>
            </a:extLst>
          </a:blip>
          <a:srcRect l="9886" r="10750"/>
          <a:stretch/>
        </p:blipFill>
        <p:spPr>
          <a:xfrm>
            <a:off x="3506681" y="3312205"/>
            <a:ext cx="456586" cy="431806"/>
          </a:xfrm>
          <a:prstGeom prst="rect">
            <a:avLst/>
          </a:prstGeom>
        </p:spPr>
      </p:pic>
      <p:pic>
        <p:nvPicPr>
          <p:cNvPr id="15" name="Imagen 1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533790" y="3867742"/>
            <a:ext cx="460969" cy="255694"/>
          </a:xfrm>
          <a:prstGeom prst="rect">
            <a:avLst/>
          </a:prstGeom>
        </p:spPr>
      </p:pic>
    </p:spTree>
    <p:extLst>
      <p:ext uri="{BB962C8B-B14F-4D97-AF65-F5344CB8AC3E}">
        <p14:creationId xmlns:p14="http://schemas.microsoft.com/office/powerpoint/2010/main" val="27819034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93EE5-4BE9-995D-1466-E16238148E97}"/>
            </a:ext>
          </a:extLst>
        </p:cNvPr>
        <p:cNvGrpSpPr/>
        <p:nvPr/>
      </p:nvGrpSpPr>
      <p:grpSpPr>
        <a:xfrm>
          <a:off x="0" y="0"/>
          <a:ext cx="0" cy="0"/>
          <a:chOff x="0" y="0"/>
          <a:chExt cx="0" cy="0"/>
        </a:xfrm>
      </p:grpSpPr>
      <p:sp>
        <p:nvSpPr>
          <p:cNvPr id="5" name="CuadroTexto 4">
            <a:extLst>
              <a:ext uri="{FF2B5EF4-FFF2-40B4-BE49-F238E27FC236}">
                <a16:creationId xmlns:a16="http://schemas.microsoft.com/office/drawing/2014/main" id="{A3649A0C-24F5-DD40-4CE6-1C6A0D152101}"/>
              </a:ext>
            </a:extLst>
          </p:cNvPr>
          <p:cNvSpPr txBox="1"/>
          <p:nvPr/>
        </p:nvSpPr>
        <p:spPr>
          <a:xfrm>
            <a:off x="149950" y="620773"/>
            <a:ext cx="8821330" cy="4154984"/>
          </a:xfrm>
          <a:prstGeom prst="rect">
            <a:avLst/>
          </a:prstGeom>
          <a:noFill/>
        </p:spPr>
        <p:txBody>
          <a:bodyPr wrap="square" rtlCol="0">
            <a:spAutoFit/>
          </a:bodyPr>
          <a:lstStyle/>
          <a:p>
            <a:pPr marL="1143000" lvl="2" indent="-228600">
              <a:buFont typeface="+mj-lt"/>
              <a:buAutoNum type="arabicPeriod"/>
            </a:pPr>
            <a:r>
              <a:rPr lang="es-MX" sz="1200" dirty="0"/>
              <a:t>Crear un nuevo repositorio en GitHub llamado MiPortfolioRecetas.</a:t>
            </a:r>
          </a:p>
          <a:p>
            <a:pPr marL="1143000" lvl="2" indent="-228600">
              <a:buFont typeface="+mj-lt"/>
              <a:buAutoNum type="arabicPeriod"/>
            </a:pPr>
            <a:r>
              <a:rPr lang="es-MX" sz="1200" dirty="0"/>
              <a:t>Clonarlo en tu máquina local (git clone &lt;url&gt;).</a:t>
            </a:r>
          </a:p>
          <a:p>
            <a:pPr marL="1143000" lvl="2" indent="-228600">
              <a:buFont typeface="+mj-lt"/>
              <a:buAutoNum type="arabicPeriod"/>
            </a:pPr>
            <a:r>
              <a:rPr lang="es-MX" sz="1200" dirty="0"/>
              <a:t>Inicializar el proyecto con un README.md que describa el portfolio.</a:t>
            </a:r>
          </a:p>
          <a:p>
            <a:pPr marL="1143000" lvl="2" indent="-228600">
              <a:buFont typeface="+mj-lt"/>
              <a:buAutoNum type="arabicPeriod"/>
            </a:pPr>
            <a:r>
              <a:rPr lang="es-MX" sz="1200" dirty="0"/>
              <a:t>Crear la rama develop a partir de main.</a:t>
            </a:r>
          </a:p>
          <a:p>
            <a:pPr marL="1143000" lvl="2" indent="-228600">
              <a:buFont typeface="+mj-lt"/>
              <a:buAutoNum type="arabicPeriod"/>
            </a:pPr>
            <a:r>
              <a:rPr lang="es-MX" sz="1200" b="1" dirty="0"/>
              <a:t>Siguiendo Git Flow:</a:t>
            </a:r>
            <a:endParaRPr lang="es-MX" sz="1200" dirty="0"/>
          </a:p>
          <a:p>
            <a:pPr marL="1600200" lvl="3" indent="-228600">
              <a:buFont typeface="+mj-lt"/>
              <a:buAutoNum type="arabicPeriod"/>
            </a:pPr>
            <a:r>
              <a:rPr lang="es-MX" sz="1200" dirty="0"/>
              <a:t>Crear una rama feature/recetas-saladas.</a:t>
            </a:r>
          </a:p>
          <a:p>
            <a:pPr marL="1600200" lvl="3" indent="-228600">
              <a:buFont typeface="+mj-lt"/>
              <a:buAutoNum type="arabicPeriod"/>
            </a:pPr>
            <a:r>
              <a:rPr lang="es-MX" sz="1200" dirty="0"/>
              <a:t>Añadir 2 recetas saladas (archivos .txt).</a:t>
            </a:r>
          </a:p>
          <a:p>
            <a:pPr marL="1600200" lvl="3" indent="-228600">
              <a:buFont typeface="+mj-lt"/>
              <a:buAutoNum type="arabicPeriod"/>
            </a:pPr>
            <a:r>
              <a:rPr lang="es-MX" sz="1200" dirty="0"/>
              <a:t>Commitear y fusionar a develop.</a:t>
            </a:r>
          </a:p>
          <a:p>
            <a:pPr marL="1600200" lvl="3" indent="-228600">
              <a:buFont typeface="+mj-lt"/>
              <a:buAutoNum type="arabicPeriod"/>
            </a:pPr>
            <a:r>
              <a:rPr lang="es-MX" sz="1200" dirty="0"/>
              <a:t>Crear una rama feature/recetas-dulces.</a:t>
            </a:r>
          </a:p>
          <a:p>
            <a:pPr marL="1600200" lvl="3" indent="-228600">
              <a:buFont typeface="+mj-lt"/>
              <a:buAutoNum type="arabicPeriod"/>
            </a:pPr>
            <a:r>
              <a:rPr lang="es-MX" sz="1200" dirty="0"/>
              <a:t>Añadir 2 recetas dulces.</a:t>
            </a:r>
          </a:p>
          <a:p>
            <a:pPr marL="1600200" lvl="3" indent="-228600">
              <a:buFont typeface="+mj-lt"/>
              <a:buAutoNum type="arabicPeriod"/>
            </a:pPr>
            <a:r>
              <a:rPr lang="es-MX" sz="1200" dirty="0"/>
              <a:t>Commitear y fusionar a develop.</a:t>
            </a:r>
          </a:p>
          <a:p>
            <a:pPr marL="1143000" lvl="2" indent="-228600">
              <a:buFont typeface="+mj-lt"/>
              <a:buAutoNum type="arabicPeriod"/>
            </a:pPr>
            <a:r>
              <a:rPr lang="es-MX" sz="1200" dirty="0"/>
              <a:t>Simular una release release/v1.0 desde develop.</a:t>
            </a:r>
          </a:p>
          <a:p>
            <a:pPr marL="1143000" lvl="2" indent="-228600">
              <a:buFont typeface="+mj-lt"/>
              <a:buAutoNum type="arabicPeriod"/>
            </a:pPr>
            <a:r>
              <a:rPr lang="es-MX" sz="1200" dirty="0"/>
              <a:t>En la rama release, crear un archivo menu-semanal.txt (planea un menú usando las recetas).</a:t>
            </a:r>
          </a:p>
          <a:p>
            <a:pPr marL="1143000" lvl="2" indent="-228600">
              <a:buFont typeface="+mj-lt"/>
              <a:buAutoNum type="arabicPeriod"/>
            </a:pPr>
            <a:r>
              <a:rPr lang="es-MX" sz="1200" dirty="0"/>
              <a:t>Fusionar release/v1.0 a main y etiquetar como v1.0.</a:t>
            </a:r>
          </a:p>
          <a:p>
            <a:pPr marL="1143000" lvl="2" indent="-228600">
              <a:buFont typeface="+mj-lt"/>
              <a:buAutoNum type="arabicPeriod"/>
            </a:pPr>
            <a:r>
              <a:rPr lang="es-MX" sz="1200" dirty="0"/>
              <a:t>Fusionar release/v1.0 a develop.</a:t>
            </a:r>
          </a:p>
          <a:p>
            <a:pPr marL="1143000" lvl="2" indent="-228600">
              <a:buFont typeface="+mj-lt"/>
              <a:buAutoNum type="arabicPeriod"/>
            </a:pPr>
            <a:r>
              <a:rPr lang="es-MX" sz="1200" dirty="0"/>
              <a:t>Crear un archivo .gitignore que ignore archivos temporales de Windows (*.log, *.tmp, thumbs.db). Commitearlo en develop.</a:t>
            </a:r>
          </a:p>
          <a:p>
            <a:pPr marL="1143000" lvl="2" indent="-228600">
              <a:buFont typeface="+mj-lt"/>
              <a:buAutoNum type="arabicPeriod"/>
            </a:pPr>
            <a:r>
              <a:rPr lang="es-MX" sz="1200" dirty="0"/>
              <a:t>Simular un hotfix: Desde main, crear hotfix/typo-readme. Corregir un typo en README.md. Fusionar a main y develop.</a:t>
            </a:r>
          </a:p>
          <a:p>
            <a:pPr marL="1143000" lvl="2" indent="-228600">
              <a:buFont typeface="+mj-lt"/>
              <a:buAutoNum type="arabicPeriod"/>
            </a:pPr>
            <a:r>
              <a:rPr lang="es-MX" sz="1200" dirty="0"/>
              <a:t>Hacer push de TODAS las ramas y las etiquetas a GitHub (git push --all origin y git push --tags).</a:t>
            </a:r>
          </a:p>
          <a:p>
            <a:br>
              <a:rPr lang="es-MX" sz="1200" dirty="0"/>
            </a:br>
            <a:endParaRPr lang="es-MX" sz="1200" dirty="0"/>
          </a:p>
        </p:txBody>
      </p:sp>
      <p:sp>
        <p:nvSpPr>
          <p:cNvPr id="6" name="Título 1">
            <a:extLst>
              <a:ext uri="{FF2B5EF4-FFF2-40B4-BE49-F238E27FC236}">
                <a16:creationId xmlns:a16="http://schemas.microsoft.com/office/drawing/2014/main" id="{E8BC3E0A-22FB-65C5-609A-E3B7F665145E}"/>
              </a:ext>
            </a:extLst>
          </p:cNvPr>
          <p:cNvSpPr txBox="1">
            <a:spLocks/>
          </p:cNvSpPr>
          <p:nvPr/>
        </p:nvSpPr>
        <p:spPr>
          <a:xfrm>
            <a:off x="812800" y="250108"/>
            <a:ext cx="7097125" cy="557520"/>
          </a:xfrm>
          <a:prstGeom prst="rect">
            <a:avLst/>
          </a:prstGeom>
          <a:noFill/>
        </p:spPr>
        <p:txBody>
          <a:bodyP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s-MX" sz="1400" dirty="0"/>
              <a:t>PROYECTO FINAL - "Mi Portfolio de Recetas"</a:t>
            </a:r>
            <a:endParaRPr lang="es-MX" sz="1400" dirty="0">
              <a:cs typeface="Verdana" panose="020B0604030504040204" pitchFamily="34" charset="0"/>
            </a:endParaRPr>
          </a:p>
        </p:txBody>
      </p:sp>
      <p:sp>
        <p:nvSpPr>
          <p:cNvPr id="7" name="Slide Number Placeholder 5">
            <a:extLst>
              <a:ext uri="{FF2B5EF4-FFF2-40B4-BE49-F238E27FC236}">
                <a16:creationId xmlns:a16="http://schemas.microsoft.com/office/drawing/2014/main" id="{FDB7B339-11BE-2C80-6CCD-3EE3CB3A5560}"/>
              </a:ext>
            </a:extLst>
          </p:cNvPr>
          <p:cNvSpPr txBox="1">
            <a:spLocks/>
          </p:cNvSpPr>
          <p:nvPr/>
        </p:nvSpPr>
        <p:spPr>
          <a:xfrm>
            <a:off x="8572775" y="250108"/>
            <a:ext cx="320004" cy="178769"/>
          </a:xfrm>
          <a:prstGeom prst="rect">
            <a:avLst/>
          </a:prstGeom>
        </p:spPr>
        <p:txBody>
          <a:bodyPr anchor="ctr"/>
          <a:lstStyle>
            <a:defPPr>
              <a:defRPr lang="en-US"/>
            </a:defPPr>
            <a:lvl1pPr marL="0" algn="ctr" defTabSz="457200" rtl="0" eaLnBrk="1" latinLnBrk="0" hangingPunct="1">
              <a:defRPr sz="450" kern="1200">
                <a:solidFill>
                  <a:schemeClr val="bg1"/>
                </a:solidFill>
                <a:latin typeface="Century" panose="02040604050505020304" pitchFamily="18" charset="0"/>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B25F5A20-7E25-C84E-8766-4FA53A4AD820}" type="slidenum">
              <a:rPr lang="es-MX" sz="700" smtClean="0">
                <a:solidFill>
                  <a:schemeClr val="tx1"/>
                </a:solidFill>
                <a:latin typeface="+mn-lt"/>
              </a:rPr>
              <a:pPr/>
              <a:t>53</a:t>
            </a:fld>
            <a:endParaRPr lang="es-MX" sz="700">
              <a:solidFill>
                <a:schemeClr val="tx1"/>
              </a:solidFill>
              <a:latin typeface="+mn-lt"/>
            </a:endParaRPr>
          </a:p>
        </p:txBody>
      </p:sp>
      <p:sp>
        <p:nvSpPr>
          <p:cNvPr id="8" name="Date Placeholder 3">
            <a:extLst>
              <a:ext uri="{FF2B5EF4-FFF2-40B4-BE49-F238E27FC236}">
                <a16:creationId xmlns:a16="http://schemas.microsoft.com/office/drawing/2014/main" id="{41A390C4-B934-958F-E4CF-0CFB9CAA80E5}"/>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a:latin typeface="+mn-lt"/>
            </a:endParaRPr>
          </a:p>
        </p:txBody>
      </p:sp>
      <p:pic>
        <p:nvPicPr>
          <p:cNvPr id="3" name="Imagen 2" descr="Git - Wikipedia, la enciclopedia libre">
            <a:extLst>
              <a:ext uri="{FF2B5EF4-FFF2-40B4-BE49-F238E27FC236}">
                <a16:creationId xmlns:a16="http://schemas.microsoft.com/office/drawing/2014/main" id="{BC058838-3491-1F8F-9C40-E7B577C97D63}"/>
              </a:ext>
            </a:extLst>
          </p:cNvPr>
          <p:cNvPicPr>
            <a:picLocks noChangeAspect="1"/>
          </p:cNvPicPr>
          <p:nvPr/>
        </p:nvPicPr>
        <p:blipFill>
          <a:blip r:embed="rId3"/>
          <a:stretch>
            <a:fillRect/>
          </a:stretch>
        </p:blipFill>
        <p:spPr>
          <a:xfrm>
            <a:off x="8141103" y="482389"/>
            <a:ext cx="647297" cy="267847"/>
          </a:xfrm>
          <a:prstGeom prst="rect">
            <a:avLst/>
          </a:prstGeom>
        </p:spPr>
      </p:pic>
    </p:spTree>
    <p:extLst>
      <p:ext uri="{BB962C8B-B14F-4D97-AF65-F5344CB8AC3E}">
        <p14:creationId xmlns:p14="http://schemas.microsoft.com/office/powerpoint/2010/main" val="17583907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42BC084-421C-05B1-C1EA-AEEFE8A72822}"/>
              </a:ext>
            </a:extLst>
          </p:cNvPr>
          <p:cNvSpPr txBox="1"/>
          <p:nvPr/>
        </p:nvSpPr>
        <p:spPr>
          <a:xfrm>
            <a:off x="771400" y="2592681"/>
            <a:ext cx="3199013" cy="1354217"/>
          </a:xfrm>
          <a:prstGeom prst="rect">
            <a:avLst/>
          </a:prstGeom>
          <a:noFill/>
        </p:spPr>
        <p:txBody>
          <a:bodyPr wrap="square" lIns="91440" tIns="45720" rIns="91440" bIns="45720" rtlCol="0" anchor="t">
            <a:spAutoFit/>
          </a:bodyPr>
          <a:lstStyle/>
          <a:p>
            <a:pPr>
              <a:lnSpc>
                <a:spcPct val="80000"/>
              </a:lnSpc>
            </a:pPr>
            <a:r>
              <a:rPr lang="es-MX" sz="1000" dirty="0">
                <a:solidFill>
                  <a:schemeClr val="bg1"/>
                </a:solidFill>
                <a:latin typeface="Century Gothic"/>
                <a:ea typeface="Verdana"/>
              </a:rPr>
              <a:t>USA: </a:t>
            </a:r>
            <a:r>
              <a:rPr lang="es-MX" sz="800" dirty="0">
                <a:solidFill>
                  <a:schemeClr val="bg1"/>
                </a:solidFill>
                <a:latin typeface="Century Gothic"/>
                <a:ea typeface="Verdana"/>
              </a:rPr>
              <a:t>Dallas</a:t>
            </a:r>
          </a:p>
          <a:p>
            <a:pPr>
              <a:lnSpc>
                <a:spcPct val="80000"/>
              </a:lnSpc>
            </a:pPr>
            <a:endParaRPr lang="es-MX" sz="1000" dirty="0">
              <a:solidFill>
                <a:schemeClr val="bg1"/>
              </a:solidFill>
              <a:latin typeface="Century Gothic"/>
              <a:ea typeface="Verdana" panose="020B0604030504040204" pitchFamily="34" charset="0"/>
            </a:endParaRPr>
          </a:p>
          <a:p>
            <a:pPr>
              <a:lnSpc>
                <a:spcPct val="80000"/>
              </a:lnSpc>
            </a:pPr>
            <a:r>
              <a:rPr lang="es-MX" sz="1000" dirty="0">
                <a:solidFill>
                  <a:schemeClr val="bg1"/>
                </a:solidFill>
                <a:latin typeface="Century Gothic"/>
                <a:ea typeface="Verdana"/>
              </a:rPr>
              <a:t>MÉXICO:  </a:t>
            </a:r>
            <a:r>
              <a:rPr lang="es-MX" sz="800" dirty="0">
                <a:solidFill>
                  <a:schemeClr val="bg1"/>
                </a:solidFill>
                <a:latin typeface="Century Gothic"/>
                <a:ea typeface="Verdana"/>
              </a:rPr>
              <a:t>Ciudad de México, Monterrey y Guadalajara</a:t>
            </a:r>
          </a:p>
          <a:p>
            <a:pPr>
              <a:lnSpc>
                <a:spcPct val="80000"/>
              </a:lnSpc>
            </a:pPr>
            <a:endParaRPr lang="es-MX" sz="1000" dirty="0">
              <a:solidFill>
                <a:schemeClr val="bg1"/>
              </a:solidFill>
              <a:latin typeface="Century Gothic"/>
              <a:ea typeface="Verdana" panose="020B0604030504040204" pitchFamily="34" charset="0"/>
            </a:endParaRPr>
          </a:p>
          <a:p>
            <a:pPr>
              <a:lnSpc>
                <a:spcPct val="80000"/>
              </a:lnSpc>
            </a:pPr>
            <a:r>
              <a:rPr lang="es-MX" sz="1000" dirty="0">
                <a:solidFill>
                  <a:schemeClr val="bg1"/>
                </a:solidFill>
                <a:latin typeface="Century Gothic"/>
                <a:ea typeface="Verdana"/>
              </a:rPr>
              <a:t>COLOMBIA: </a:t>
            </a:r>
            <a:r>
              <a:rPr lang="es-MX" sz="800" dirty="0">
                <a:solidFill>
                  <a:schemeClr val="bg1"/>
                </a:solidFill>
                <a:latin typeface="Century Gothic"/>
                <a:ea typeface="Verdana"/>
              </a:rPr>
              <a:t>Bogotá y Medellín</a:t>
            </a:r>
          </a:p>
          <a:p>
            <a:pPr>
              <a:lnSpc>
                <a:spcPct val="80000"/>
              </a:lnSpc>
            </a:pPr>
            <a:endParaRPr lang="es-MX" sz="1000" dirty="0">
              <a:solidFill>
                <a:schemeClr val="bg1"/>
              </a:solidFill>
              <a:latin typeface="Century Gothic"/>
              <a:ea typeface="Verdana" panose="020B0604030504040204" pitchFamily="34" charset="0"/>
            </a:endParaRPr>
          </a:p>
          <a:p>
            <a:pPr>
              <a:lnSpc>
                <a:spcPct val="80000"/>
              </a:lnSpc>
            </a:pPr>
            <a:r>
              <a:rPr lang="es-MX" sz="1000" dirty="0">
                <a:solidFill>
                  <a:schemeClr val="bg1"/>
                </a:solidFill>
                <a:latin typeface="Century Gothic"/>
                <a:ea typeface="Verdana"/>
              </a:rPr>
              <a:t>PERÚ: </a:t>
            </a:r>
            <a:r>
              <a:rPr lang="es-MX" sz="800" dirty="0">
                <a:solidFill>
                  <a:schemeClr val="bg1"/>
                </a:solidFill>
                <a:latin typeface="Century Gothic"/>
                <a:ea typeface="Verdana"/>
              </a:rPr>
              <a:t>Lima</a:t>
            </a:r>
          </a:p>
          <a:p>
            <a:pPr>
              <a:lnSpc>
                <a:spcPct val="80000"/>
              </a:lnSpc>
            </a:pPr>
            <a:endParaRPr lang="es-MX" sz="1000" dirty="0">
              <a:solidFill>
                <a:schemeClr val="bg1"/>
              </a:solidFill>
              <a:latin typeface="Century Gothic"/>
              <a:ea typeface="Verdana" panose="020B0604030504040204" pitchFamily="34" charset="0"/>
            </a:endParaRPr>
          </a:p>
          <a:p>
            <a:pPr>
              <a:lnSpc>
                <a:spcPct val="80000"/>
              </a:lnSpc>
            </a:pPr>
            <a:r>
              <a:rPr lang="es-MX" sz="1000" dirty="0">
                <a:solidFill>
                  <a:schemeClr val="bg1"/>
                </a:solidFill>
                <a:latin typeface="Century Gothic"/>
                <a:ea typeface="Verdana"/>
              </a:rPr>
              <a:t>CHILE: </a:t>
            </a:r>
            <a:r>
              <a:rPr lang="es-MX" sz="800" dirty="0">
                <a:solidFill>
                  <a:schemeClr val="bg1"/>
                </a:solidFill>
                <a:latin typeface="Century Gothic"/>
                <a:ea typeface="Verdana"/>
              </a:rPr>
              <a:t>Santiago de Chile</a:t>
            </a:r>
          </a:p>
          <a:p>
            <a:r>
              <a:rPr lang="en-CO" sz="1000" dirty="0">
                <a:solidFill>
                  <a:schemeClr val="bg1"/>
                </a:solidFill>
                <a:latin typeface="Century Gothic"/>
              </a:rPr>
              <a:t> </a:t>
            </a:r>
          </a:p>
        </p:txBody>
      </p:sp>
      <p:sp>
        <p:nvSpPr>
          <p:cNvPr id="3" name="TextBox 29">
            <a:extLst>
              <a:ext uri="{FF2B5EF4-FFF2-40B4-BE49-F238E27FC236}">
                <a16:creationId xmlns:a16="http://schemas.microsoft.com/office/drawing/2014/main" id="{9486C2F0-327B-DFD7-B142-5F46DB1D67E5}"/>
              </a:ext>
            </a:extLst>
          </p:cNvPr>
          <p:cNvSpPr txBox="1"/>
          <p:nvPr/>
        </p:nvSpPr>
        <p:spPr>
          <a:xfrm>
            <a:off x="770213" y="2209212"/>
            <a:ext cx="2882082" cy="264688"/>
          </a:xfrm>
          <a:prstGeom prst="rect">
            <a:avLst/>
          </a:prstGeom>
          <a:noFill/>
        </p:spPr>
        <p:txBody>
          <a:bodyPr wrap="square" lIns="91440" tIns="45720" rIns="91440" bIns="45720" anchor="t">
            <a:spAutoFit/>
          </a:bodyPr>
          <a:lstStyle/>
          <a:p>
            <a:pPr>
              <a:lnSpc>
                <a:spcPct val="80000"/>
              </a:lnSpc>
            </a:pPr>
            <a:r>
              <a:rPr lang="es-MX" sz="1400" dirty="0" err="1">
                <a:solidFill>
                  <a:schemeClr val="bg1"/>
                </a:solidFill>
                <a:latin typeface="Century Gothic"/>
                <a:ea typeface="Verdana"/>
              </a:rPr>
              <a:t>Axity</a:t>
            </a:r>
            <a:r>
              <a:rPr lang="es-MX" sz="1400" dirty="0">
                <a:solidFill>
                  <a:schemeClr val="bg1"/>
                </a:solidFill>
                <a:latin typeface="Century Gothic"/>
                <a:ea typeface="Verdana"/>
              </a:rPr>
              <a:t> en América</a:t>
            </a:r>
          </a:p>
        </p:txBody>
      </p:sp>
      <p:sp>
        <p:nvSpPr>
          <p:cNvPr id="4" name="Título 1">
            <a:extLst>
              <a:ext uri="{FF2B5EF4-FFF2-40B4-BE49-F238E27FC236}">
                <a16:creationId xmlns:a16="http://schemas.microsoft.com/office/drawing/2014/main" id="{44999DF4-3269-2DB8-A179-04715FC3320D}"/>
              </a:ext>
            </a:extLst>
          </p:cNvPr>
          <p:cNvSpPr txBox="1">
            <a:spLocks/>
          </p:cNvSpPr>
          <p:nvPr/>
        </p:nvSpPr>
        <p:spPr>
          <a:xfrm>
            <a:off x="770213" y="1347384"/>
            <a:ext cx="4211707" cy="994172"/>
          </a:xfrm>
          <a:prstGeom prst="rect">
            <a:avLst/>
          </a:prstGeom>
        </p:spPr>
        <p:txBody>
          <a:bodyPr vert="horz" lIns="91440" tIns="45720" rIns="91440" bIns="45720" rtlCol="0" anchor="t">
            <a:noAutofit/>
          </a:bodyPr>
          <a:lstStyle>
            <a:lvl1pPr algn="l" defTabSz="685800" rtl="0" eaLnBrk="1" latinLnBrk="0" hangingPunct="1">
              <a:lnSpc>
                <a:spcPct val="90000"/>
              </a:lnSpc>
              <a:spcBef>
                <a:spcPct val="0"/>
              </a:spcBef>
              <a:buNone/>
              <a:defRPr sz="2000" b="0" kern="1200">
                <a:solidFill>
                  <a:schemeClr val="tx1"/>
                </a:solidFill>
                <a:latin typeface="Century Gothic" panose="020B0502020202020204" pitchFamily="34" charset="0"/>
                <a:ea typeface="Verdana" panose="020B0604030504040204" pitchFamily="34" charset="0"/>
                <a:cs typeface="Verdana" panose="020B0604030504040204" pitchFamily="34" charset="0"/>
              </a:defRPr>
            </a:lvl1pPr>
          </a:lstStyle>
          <a:p>
            <a:r>
              <a:rPr lang="es-MX" sz="3600">
                <a:solidFill>
                  <a:schemeClr val="bg1"/>
                </a:solidFill>
                <a:latin typeface="+mj-lt"/>
                <a:ea typeface="Verdana"/>
              </a:rPr>
              <a:t>Muchas gracias</a:t>
            </a:r>
          </a:p>
        </p:txBody>
      </p:sp>
      <p:sp>
        <p:nvSpPr>
          <p:cNvPr id="6" name="Date Placeholder 3">
            <a:extLst>
              <a:ext uri="{FF2B5EF4-FFF2-40B4-BE49-F238E27FC236}">
                <a16:creationId xmlns:a16="http://schemas.microsoft.com/office/drawing/2014/main" id="{F8C93893-9808-7422-AA45-2150CB5E5059}"/>
              </a:ext>
            </a:extLst>
          </p:cNvPr>
          <p:cNvSpPr txBox="1">
            <a:spLocks/>
          </p:cNvSpPr>
          <p:nvPr/>
        </p:nvSpPr>
        <p:spPr>
          <a:xfrm>
            <a:off x="251222" y="46244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solidFill>
                  <a:schemeClr val="bg1"/>
                </a:solidFill>
                <a:latin typeface="+mn-lt"/>
              </a:rPr>
              <a:pPr/>
              <a:t>30/09/2026</a:t>
            </a:fld>
            <a:endParaRPr lang="es-MX" sz="600">
              <a:solidFill>
                <a:schemeClr val="bg1"/>
              </a:solidFill>
              <a:latin typeface="+mn-lt"/>
            </a:endParaRPr>
          </a:p>
        </p:txBody>
      </p:sp>
      <p:pic>
        <p:nvPicPr>
          <p:cNvPr id="8" name="Picture 9" descr="A logo with a snowflake&#10;&#10;Description automatically generated">
            <a:extLst>
              <a:ext uri="{FF2B5EF4-FFF2-40B4-BE49-F238E27FC236}">
                <a16:creationId xmlns:a16="http://schemas.microsoft.com/office/drawing/2014/main" id="{26FB6045-A7FC-5EDE-82B1-53ECA0AE6875}"/>
              </a:ext>
            </a:extLst>
          </p:cNvPr>
          <p:cNvPicPr>
            <a:picLocks noChangeAspect="1"/>
          </p:cNvPicPr>
          <p:nvPr/>
        </p:nvPicPr>
        <p:blipFill>
          <a:blip r:embed="rId2"/>
          <a:stretch>
            <a:fillRect/>
          </a:stretch>
        </p:blipFill>
        <p:spPr>
          <a:xfrm>
            <a:off x="8346805" y="4620138"/>
            <a:ext cx="545974" cy="264069"/>
          </a:xfrm>
          <a:prstGeom prst="rect">
            <a:avLst/>
          </a:prstGeom>
        </p:spPr>
      </p:pic>
      <p:pic>
        <p:nvPicPr>
          <p:cNvPr id="7" name="Imagen 6">
            <a:extLst>
              <a:ext uri="{FF2B5EF4-FFF2-40B4-BE49-F238E27FC236}">
                <a16:creationId xmlns:a16="http://schemas.microsoft.com/office/drawing/2014/main" id="{067E5C97-3975-E82E-1E9B-0F421406F77F}"/>
              </a:ext>
            </a:extLst>
          </p:cNvPr>
          <p:cNvPicPr>
            <a:picLocks noChangeAspect="1"/>
          </p:cNvPicPr>
          <p:nvPr/>
        </p:nvPicPr>
        <p:blipFill>
          <a:blip r:embed="rId3"/>
          <a:stretch>
            <a:fillRect/>
          </a:stretch>
        </p:blipFill>
        <p:spPr>
          <a:xfrm>
            <a:off x="4572000" y="-183633"/>
            <a:ext cx="4022693" cy="4746778"/>
          </a:xfrm>
          <a:prstGeom prst="rect">
            <a:avLst/>
          </a:prstGeom>
        </p:spPr>
      </p:pic>
      <p:sp>
        <p:nvSpPr>
          <p:cNvPr id="9" name="Date Placeholder 3">
            <a:extLst>
              <a:ext uri="{FF2B5EF4-FFF2-40B4-BE49-F238E27FC236}">
                <a16:creationId xmlns:a16="http://schemas.microsoft.com/office/drawing/2014/main" id="{6F16AEAB-D30B-87DF-4895-1E9DE634EB7F}"/>
              </a:ext>
            </a:extLst>
          </p:cNvPr>
          <p:cNvSpPr txBox="1">
            <a:spLocks/>
          </p:cNvSpPr>
          <p:nvPr/>
        </p:nvSpPr>
        <p:spPr>
          <a:xfrm>
            <a:off x="403622" y="4776896"/>
            <a:ext cx="2031527" cy="270484"/>
          </a:xfrm>
          <a:prstGeom prst="rect">
            <a:avLst/>
          </a:prstGeom>
        </p:spPr>
        <p:txBody>
          <a:bodyPr anchor="ctr"/>
          <a:lstStyle>
            <a:defPPr>
              <a:defRPr lang="en-US"/>
            </a:defPPr>
            <a:lvl1pPr marL="0" algn="l" defTabSz="457200" rtl="0" eaLnBrk="1" latinLnBrk="0" hangingPunct="1">
              <a:defRPr sz="450" kern="1200">
                <a:solidFill>
                  <a:schemeClr val="tx1"/>
                </a:solidFill>
                <a:latin typeface="Verdana" panose="020B0604030504040204" pitchFamily="34" charset="0"/>
                <a:ea typeface="Verdana" panose="020B0604030504040204" pitchFamily="34" charset="0"/>
                <a:cs typeface="Verdana" panose="020B0604030504040204" pitchFamily="34" charset="0"/>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8B636DD7-9EC0-2343-87F4-811CC24B63A7}" type="datetimeFigureOut">
              <a:rPr lang="es-MX" sz="600" smtClean="0">
                <a:latin typeface="+mn-lt"/>
              </a:rPr>
              <a:pPr/>
              <a:t>30/09/2026</a:t>
            </a:fld>
            <a:endParaRPr lang="es-MX" sz="600" dirty="0">
              <a:latin typeface="+mn-lt"/>
            </a:endParaRPr>
          </a:p>
        </p:txBody>
      </p:sp>
    </p:spTree>
    <p:extLst>
      <p:ext uri="{BB962C8B-B14F-4D97-AF65-F5344CB8AC3E}">
        <p14:creationId xmlns:p14="http://schemas.microsoft.com/office/powerpoint/2010/main" val="3986375385"/>
      </p:ext>
    </p:extLst>
  </p:cSld>
  <p:clrMapOvr>
    <a:masterClrMapping/>
  </p:clrMapOvr>
</p:sld>
</file>

<file path=ppt/theme/theme1.xml><?xml version="1.0" encoding="utf-8"?>
<a:theme xmlns:a="http://schemas.openxmlformats.org/drawingml/2006/main" name="Tema de Office">
  <a:themeElements>
    <a:clrScheme name="Axity 50">
      <a:dk1>
        <a:srgbClr val="3C1053"/>
      </a:dk1>
      <a:lt1>
        <a:srgbClr val="FFFFFF"/>
      </a:lt1>
      <a:dk2>
        <a:srgbClr val="A032C3"/>
      </a:dk2>
      <a:lt2>
        <a:srgbClr val="E7E6E6"/>
      </a:lt2>
      <a:accent1>
        <a:srgbClr val="5B0D8B"/>
      </a:accent1>
      <a:accent2>
        <a:srgbClr val="DE2CE5"/>
      </a:accent2>
      <a:accent3>
        <a:srgbClr val="FF0062"/>
      </a:accent3>
      <a:accent4>
        <a:srgbClr val="FF7900"/>
      </a:accent4>
      <a:accent5>
        <a:srgbClr val="00D8A9"/>
      </a:accent5>
      <a:accent6>
        <a:srgbClr val="05D3FC"/>
      </a:accent6>
      <a:hlink>
        <a:srgbClr val="DE2CE5"/>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5F4842EB2D0B7A4EAE1880E8B4F2DE81" ma:contentTypeVersion="11" ma:contentTypeDescription="Crear nuevo documento." ma:contentTypeScope="" ma:versionID="a504a0ffeec6a886d7e83518072b4d03">
  <xsd:schema xmlns:xsd="http://www.w3.org/2001/XMLSchema" xmlns:xs="http://www.w3.org/2001/XMLSchema" xmlns:p="http://schemas.microsoft.com/office/2006/metadata/properties" xmlns:ns2="23fa590d-1751-4a57-80dc-1e58e5f53d3e" targetNamespace="http://schemas.microsoft.com/office/2006/metadata/properties" ma:root="true" ma:fieldsID="9c799ac27f810d9d9e82b355c85309d7" ns2:_="">
    <xsd:import namespace="23fa590d-1751-4a57-80dc-1e58e5f53d3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ServiceBillingMetadata"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fa590d-1751-4a57-80dc-1e58e5f53d3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5b10f6c9-083b-4a47-ab1f-ba71b9d1fed4"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3fa590d-1751-4a57-80dc-1e58e5f53d3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A7BB548A-9820-42DB-9939-593722C4817A}">
  <ds:schemaRefs>
    <ds:schemaRef ds:uri="http://schemas.microsoft.com/sharepoint/v3/contenttype/forms"/>
  </ds:schemaRefs>
</ds:datastoreItem>
</file>

<file path=customXml/itemProps2.xml><?xml version="1.0" encoding="utf-8"?>
<ds:datastoreItem xmlns:ds="http://schemas.openxmlformats.org/officeDocument/2006/customXml" ds:itemID="{4FCE33A5-74A5-43BA-ABDF-411F0873560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3fa590d-1751-4a57-80dc-1e58e5f53d3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6267872-D02C-4363-B651-C567E5AF642A}">
  <ds:schemaRefs>
    <ds:schemaRef ds:uri="http://schemas.microsoft.com/office/infopath/2007/PartnerControls"/>
    <ds:schemaRef ds:uri="http://purl.org/dc/elements/1.1/"/>
    <ds:schemaRef ds:uri="http://www.w3.org/XML/1998/namespace"/>
    <ds:schemaRef ds:uri="http://schemas.microsoft.com/office/2006/documentManagement/types"/>
    <ds:schemaRef ds:uri="http://purl.org/dc/terms/"/>
    <ds:schemaRef ds:uri="http://schemas.openxmlformats.org/package/2006/metadata/core-properties"/>
    <ds:schemaRef ds:uri="http://purl.org/dc/dcmitype/"/>
    <ds:schemaRef ds:uri="http://schemas.microsoft.com/office/2006/metadata/properties"/>
    <ds:schemaRef ds:uri="23fa590d-1751-4a57-80dc-1e58e5f53d3e"/>
  </ds:schemaRefs>
</ds:datastoreItem>
</file>

<file path=docProps/app.xml><?xml version="1.0" encoding="utf-8"?>
<Properties xmlns="http://schemas.openxmlformats.org/officeDocument/2006/extended-properties" xmlns:vt="http://schemas.openxmlformats.org/officeDocument/2006/docPropsVTypes">
  <Template>TM03457485[[fn=Malla]]</Template>
  <TotalTime>7111</TotalTime>
  <Words>4560</Words>
  <Application>Microsoft Office PowerPoint</Application>
  <PresentationFormat>Personalizado</PresentationFormat>
  <Paragraphs>660</Paragraphs>
  <Slides>54</Slides>
  <Notes>9</Notes>
  <HiddenSlides>0</HiddenSlides>
  <MMClips>0</MMClips>
  <ScaleCrop>false</ScaleCrop>
  <HeadingPairs>
    <vt:vector size="6" baseType="variant">
      <vt:variant>
        <vt:lpstr>Fuentes usadas</vt:lpstr>
      </vt:variant>
      <vt:variant>
        <vt:i4>8</vt:i4>
      </vt:variant>
      <vt:variant>
        <vt:lpstr>Tema</vt:lpstr>
      </vt:variant>
      <vt:variant>
        <vt:i4>1</vt:i4>
      </vt:variant>
      <vt:variant>
        <vt:lpstr>Títulos de diapositiva</vt:lpstr>
      </vt:variant>
      <vt:variant>
        <vt:i4>54</vt:i4>
      </vt:variant>
    </vt:vector>
  </HeadingPairs>
  <TitlesOfParts>
    <vt:vector size="63" baseType="lpstr">
      <vt:lpstr>Arial</vt:lpstr>
      <vt:lpstr>Calibri</vt:lpstr>
      <vt:lpstr>Century</vt:lpstr>
      <vt:lpstr>Century Gothic</vt:lpstr>
      <vt:lpstr>Consolas</vt:lpstr>
      <vt:lpstr>Montserrat</vt:lpstr>
      <vt:lpstr>Verdana</vt:lpstr>
      <vt:lpstr>Wingdings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Mauricio Alberto Gutierrez Zuñiga</dc:creator>
  <cp:lastModifiedBy>Francisco Hernandez Garcia</cp:lastModifiedBy>
  <cp:revision>299</cp:revision>
  <dcterms:created xsi:type="dcterms:W3CDTF">2024-12-13T14:47:53Z</dcterms:created>
  <dcterms:modified xsi:type="dcterms:W3CDTF">2026-10-01T23:43:43Z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0x0101005F4842EB2D0B7A4EAE1880E8B4F2DE81</vt:lpwstr>
  </property>
  <property fmtid="{D5CDD505-2E9C-101B-9397-08002B2CF9AE}" pid="3" name="ContextoDeCreacion">
    <vt:lpwstr/>
  </property>
  <property fmtid="{D5CDD505-2E9C-101B-9397-08002B2CF9AE}" pid="4" name="MediaServiceImageTags">
    <vt:lpwstr/>
  </property>
  <property fmtid="{D5CDD505-2E9C-101B-9397-08002B2CF9AE}" pid="5" name="_dlc_policyId">
    <vt:lpwstr/>
  </property>
  <property fmtid="{D5CDD505-2E9C-101B-9397-08002B2CF9AE}" pid="6" name="ItemRetentionFormula">
    <vt:lpwstr/>
  </property>
  <property fmtid="{D5CDD505-2E9C-101B-9397-08002B2CF9AE}" pid="7" name="EtiquetadoInformacion">
    <vt:lpwstr>54;#Uso interno y/o público|394084ff-5794-49bc-be44-73be0f39b062</vt:lpwstr>
  </property>
  <property fmtid="{D5CDD505-2E9C-101B-9397-08002B2CF9AE}" pid="8" name="Etiquetas">
    <vt:lpwstr/>
  </property>
  <property fmtid="{D5CDD505-2E9C-101B-9397-08002B2CF9AE}" pid="9" name="Ambito">
    <vt:lpwstr/>
  </property>
  <property fmtid="{D5CDD505-2E9C-101B-9397-08002B2CF9AE}" pid="10" name="Categoria">
    <vt:lpwstr/>
  </property>
  <property fmtid="{D5CDD505-2E9C-101B-9397-08002B2CF9AE}" pid="11" name="Responsable">
    <vt:lpwstr/>
  </property>
  <property fmtid="{D5CDD505-2E9C-101B-9397-08002B2CF9AE}" pid="12" name="Subcategoria">
    <vt:lpwstr/>
  </property>
  <property fmtid="{D5CDD505-2E9C-101B-9397-08002B2CF9AE}" pid="13" name="Order">
    <vt:r8>400</vt:r8>
  </property>
</Properties>
</file>